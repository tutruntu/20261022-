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972800" cy="1024128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图1（第二版）：电磁场建模在太赫兹领域中的应用。正文配图，采用用户参考图的中心圆与四向辐射结构。</a:t>
            </a:r>
          </a:p>
          <a:p>
            <a:r>
              <a:t>四周应用：高速通信、安检成像、生物传感、物质识别，均来自2026年10月22日最新申请书“需求分析”首段。</a:t>
            </a:r>
          </a:p>
          <a:p>
            <a:r>
              <a:t>本图不使用演讲幻灯片的标题、分栏编号、结论条或PPT制作skill。</a:t>
            </a:r>
          </a:p>
          <a:p>
            <a:r>
              <a:t>四张独立子图均由OpenAI图像工具生成，为概念示意，不是实验照片、测量结果或仿真结果。波纹、热点、分子/滴液尺度、物质识别谱线和穿透成像效果仅定性表达应用场景，不构成定量性能证据。</a:t>
            </a:r>
          </a:p>
          <a:p>
            <a:r>
              <a:t>中心圆、箭头和五处中文标签均为原生可编辑元素。未改动第一版或原始申请书。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高速通信（概念示意子图）" descr="高速通信科研概念示意，非测量或仿真结果。"/>
          <p:cNvPicPr>
            <a:picLocks noChangeAspect="1"/>
          </p:cNvPicPr>
          <p:nvPr/>
        </p:nvPicPr>
        <p:blipFill>
          <a:blip r:embed="rId2"/>
          <a:srcRect l="1172" r="1628" t="6543" b="7129"/>
          <a:stretch>
            <a:fillRect/>
          </a:stretch>
        </p:blipFill>
        <p:spPr>
          <a:xfrm>
            <a:off x="3566160" y="326072"/>
            <a:ext cx="3840480" cy="2273934"/>
          </a:xfrm>
          <a:prstGeom prst="rect">
            <a:avLst/>
          </a:prstGeom>
        </p:spPr>
      </p:pic>
      <p:sp>
        <p:nvSpPr>
          <p:cNvPr id="3" name="高速通信"/>
          <p:cNvSpPr txBox="1"/>
          <p:nvPr/>
        </p:nvSpPr>
        <p:spPr>
          <a:xfrm>
            <a:off x="3566160" y="2779776"/>
            <a:ext cx="3840480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7344C"/>
                </a:solidFill>
                <a:latin typeface="Noto Serif CJK SC"/>
                <a:ea typeface="Noto Serif CJK SC"/>
              </a:rPr>
              <a:t>高速通信</a:t>
            </a:r>
          </a:p>
        </p:txBody>
      </p:sp>
      <p:pic>
        <p:nvPicPr>
          <p:cNvPr id="4" name="安检成像（概念示意子图）" descr="安检成像科研概念示意，非测量或仿真结果。"/>
          <p:cNvPicPr>
            <a:picLocks noChangeAspect="1"/>
          </p:cNvPicPr>
          <p:nvPr/>
        </p:nvPicPr>
        <p:blipFill>
          <a:blip r:embed="rId3"/>
          <a:srcRect l="1693" r="2865" t="7422" b="4395"/>
          <a:stretch>
            <a:fillRect/>
          </a:stretch>
        </p:blipFill>
        <p:spPr>
          <a:xfrm>
            <a:off x="109728" y="3793400"/>
            <a:ext cx="3493007" cy="2151559"/>
          </a:xfrm>
          <a:prstGeom prst="rect">
            <a:avLst/>
          </a:prstGeom>
        </p:spPr>
      </p:pic>
      <p:sp>
        <p:nvSpPr>
          <p:cNvPr id="5" name="安检成像"/>
          <p:cNvSpPr txBox="1"/>
          <p:nvPr/>
        </p:nvSpPr>
        <p:spPr>
          <a:xfrm>
            <a:off x="109728" y="6071616"/>
            <a:ext cx="3493008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7344C"/>
                </a:solidFill>
                <a:latin typeface="Noto Serif CJK SC"/>
                <a:ea typeface="Noto Serif CJK SC"/>
              </a:rPr>
              <a:t>安检成像</a:t>
            </a:r>
          </a:p>
        </p:txBody>
      </p:sp>
      <p:pic>
        <p:nvPicPr>
          <p:cNvPr id="6" name="生物传感（概念示意子图）" descr="生物传感科研概念示意，非测量或仿真结果。"/>
          <p:cNvPicPr>
            <a:picLocks noChangeAspect="1"/>
          </p:cNvPicPr>
          <p:nvPr/>
        </p:nvPicPr>
        <p:blipFill>
          <a:blip r:embed="rId4"/>
          <a:srcRect l="7878" r="8724" t="6641" b="5273"/>
          <a:stretch>
            <a:fillRect/>
          </a:stretch>
        </p:blipFill>
        <p:spPr>
          <a:xfrm>
            <a:off x="7460839" y="3703320"/>
            <a:ext cx="3311456" cy="2331720"/>
          </a:xfrm>
          <a:prstGeom prst="rect">
            <a:avLst/>
          </a:prstGeom>
        </p:spPr>
      </p:pic>
      <p:sp>
        <p:nvSpPr>
          <p:cNvPr id="7" name="生物传感"/>
          <p:cNvSpPr txBox="1"/>
          <p:nvPr/>
        </p:nvSpPr>
        <p:spPr>
          <a:xfrm>
            <a:off x="7370064" y="6071616"/>
            <a:ext cx="3493008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7344C"/>
                </a:solidFill>
                <a:latin typeface="Noto Serif CJK SC"/>
                <a:ea typeface="Noto Serif CJK SC"/>
              </a:rPr>
              <a:t>生物传感</a:t>
            </a:r>
          </a:p>
        </p:txBody>
      </p:sp>
      <p:pic>
        <p:nvPicPr>
          <p:cNvPr id="8" name="物质识别（概念示意子图）" descr="物质识别科研概念示意，非测量或仿真结果。"/>
          <p:cNvPicPr>
            <a:picLocks noChangeAspect="1"/>
          </p:cNvPicPr>
          <p:nvPr/>
        </p:nvPicPr>
        <p:blipFill>
          <a:blip r:embed="rId5"/>
          <a:srcRect l="2214" r="1562" t="15234" b="5176"/>
          <a:stretch>
            <a:fillRect/>
          </a:stretch>
        </p:blipFill>
        <p:spPr>
          <a:xfrm>
            <a:off x="3566160" y="7463347"/>
            <a:ext cx="3840480" cy="2117720"/>
          </a:xfrm>
          <a:prstGeom prst="rect">
            <a:avLst/>
          </a:prstGeom>
        </p:spPr>
      </p:pic>
      <p:sp>
        <p:nvSpPr>
          <p:cNvPr id="9" name="物质识别"/>
          <p:cNvSpPr txBox="1"/>
          <p:nvPr/>
        </p:nvSpPr>
        <p:spPr>
          <a:xfrm>
            <a:off x="3566160" y="9774936"/>
            <a:ext cx="3840480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17344C"/>
                </a:solidFill>
                <a:latin typeface="Noto Serif CJK SC"/>
                <a:ea typeface="Noto Serif CJK SC"/>
              </a:rPr>
              <a:t>物质识别</a:t>
            </a:r>
          </a:p>
        </p:txBody>
      </p:sp>
      <p:sp>
        <p:nvSpPr>
          <p:cNvPr id="10" name="中心向外箭头1"/>
          <p:cNvSpPr/>
          <p:nvPr/>
        </p:nvSpPr>
        <p:spPr>
          <a:xfrm>
            <a:off x="5202936" y="3264408"/>
            <a:ext cx="566928" cy="722376"/>
          </a:xfrm>
          <a:prstGeom prst="upArrow">
            <a:avLst>
              <a:gd name="adj1" fmla="val 52000"/>
              <a:gd name="adj2" fmla="val 42000"/>
            </a:avLst>
          </a:prstGeom>
          <a:solidFill>
            <a:srgbClr val="B8D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中心向外箭头2"/>
          <p:cNvSpPr/>
          <p:nvPr/>
        </p:nvSpPr>
        <p:spPr>
          <a:xfrm>
            <a:off x="3657600" y="4837176"/>
            <a:ext cx="649224" cy="566928"/>
          </a:xfrm>
          <a:prstGeom prst="leftArrow">
            <a:avLst>
              <a:gd name="adj1" fmla="val 52000"/>
              <a:gd name="adj2" fmla="val 42000"/>
            </a:avLst>
          </a:prstGeom>
          <a:solidFill>
            <a:srgbClr val="B8D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中心向外箭头3"/>
          <p:cNvSpPr/>
          <p:nvPr/>
        </p:nvSpPr>
        <p:spPr>
          <a:xfrm>
            <a:off x="6665976" y="4837176"/>
            <a:ext cx="649224" cy="566928"/>
          </a:xfrm>
          <a:prstGeom prst="rightArrow">
            <a:avLst>
              <a:gd name="adj1" fmla="val 52000"/>
              <a:gd name="adj2" fmla="val 42000"/>
            </a:avLst>
          </a:prstGeom>
          <a:solidFill>
            <a:srgbClr val="B8D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中心向外箭头4"/>
          <p:cNvSpPr/>
          <p:nvPr/>
        </p:nvSpPr>
        <p:spPr>
          <a:xfrm>
            <a:off x="5202936" y="6254496"/>
            <a:ext cx="566928" cy="768096"/>
          </a:xfrm>
          <a:prstGeom prst="downArrow">
            <a:avLst>
              <a:gd name="adj1" fmla="val 52000"/>
              <a:gd name="adj2" fmla="val 42000"/>
            </a:avLst>
          </a:prstGeom>
          <a:solidFill>
            <a:srgbClr val="B8D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中心：电磁场建模"/>
          <p:cNvSpPr/>
          <p:nvPr/>
        </p:nvSpPr>
        <p:spPr>
          <a:xfrm>
            <a:off x="4251960" y="3886200"/>
            <a:ext cx="2468880" cy="2468880"/>
          </a:xfrm>
          <a:prstGeom prst="ellipse">
            <a:avLst/>
          </a:prstGeom>
          <a:solidFill>
            <a:srgbClr val="D8EDF9"/>
          </a:solidFill>
          <a:ln w="15875">
            <a:solidFill>
              <a:srgbClr val="84B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电磁场建模"/>
          <p:cNvSpPr txBox="1"/>
          <p:nvPr/>
        </p:nvSpPr>
        <p:spPr>
          <a:xfrm>
            <a:off x="4306824" y="4782312"/>
            <a:ext cx="2359152" cy="6035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7344C"/>
                </a:solidFill>
                <a:latin typeface="Noto Serif CJK SC"/>
                <a:ea typeface="Noto Serif CJK SC"/>
              </a:rPr>
              <a:t>电磁场建模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图一（第二版）—电磁场建模在太赫兹领域的应用</dc:title>
  <dc:subject>申请书正文配图：中心辐射结构，非演讲幻灯片</dc:subject>
  <dc:creator>Research Figure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