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图1建议替换“概述—需求分析”中的原图1。
依据原稿：太赫兹国重申请书-汇总-10-22-修改了45678.docx，2026-10-22。
叙事：高速通信/安检成像/生物传感等应用需求 → 亚波长器件中的薄膜、狭缝与复杂边界 → 精细边界难表征、三维全波计算代价高 → 高保真几何表征与快速三维场预测的研究需求。
本页不是项目技术路线；具体分维几何测度、空间变系数FNO、物理约束与迁移学习保留在后文图示中。
所有器件、波纹、热点、网格和应用图形均为概念示意，不是实测结果或数值求解结果。中央器件渲染中金属厚度为了可视性而夸张。未使用任何定量性能结论，未把考核目标描述为已经实现。
中央渲染图由OpenAI图像工具生成；应用场景、瓶颈示意、文字、箭头为原生可编辑PowerPoint元素。
设计工作流参考：K-Dense scientific-slides（MIT），本仓库skills/pptx/UPSTREAM.md记录原始来源与固定版本。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精细几何，牵动太赫兹全场响应"/>
          <p:cNvSpPr/>
          <p:nvPr/>
        </p:nvSpPr>
        <p:spPr>
          <a:xfrm>
            <a:off x="566928" y="429768"/>
            <a:ext cx="1353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精细几何，牵动太赫兹全场响应</a:t>
            </a:r>
            <a:endParaRPr lang="en-US" sz="3300" dirty="0"/>
          </a:p>
        </p:txBody>
      </p:sp>
      <p:sp>
        <p:nvSpPr>
          <p:cNvPr id="3" name="可编辑连接线"/>
          <p:cNvSpPr/>
          <p:nvPr/>
        </p:nvSpPr>
        <p:spPr>
          <a:xfrm>
            <a:off x="566928" y="1225296"/>
            <a:ext cx="13496544" cy="0"/>
          </a:xfrm>
          <a:prstGeom prst="line">
            <a:avLst/>
          </a:prstGeom>
          <a:noFill/>
          <a:ln w="12700">
            <a:solidFill>
              <a:srgbClr val="DCE7EF"/>
            </a:solidFill>
            <a:prstDash val="solid"/>
          </a:ln>
        </p:spPr>
      </p:sp>
      <p:sp>
        <p:nvSpPr>
          <p:cNvPr id="4" name="01"/>
          <p:cNvSpPr/>
          <p:nvPr/>
        </p:nvSpPr>
        <p:spPr>
          <a:xfrm>
            <a:off x="566928" y="1463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8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应用牵引"/>
          <p:cNvSpPr/>
          <p:nvPr/>
        </p:nvSpPr>
        <p:spPr>
          <a:xfrm>
            <a:off x="1014984" y="1444752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应用牵引</a:t>
            </a:r>
            <a:endParaRPr lang="en-US" sz="2300" dirty="0"/>
          </a:p>
        </p:txBody>
      </p:sp>
      <p:sp>
        <p:nvSpPr>
          <p:cNvPr id="6" name="02"/>
          <p:cNvSpPr/>
          <p:nvPr/>
        </p:nvSpPr>
        <p:spPr>
          <a:xfrm>
            <a:off x="4050792" y="1463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8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900" dirty="0"/>
          </a:p>
        </p:txBody>
      </p:sp>
      <p:sp>
        <p:nvSpPr>
          <p:cNvPr id="7" name="亚波长器件与场响应"/>
          <p:cNvSpPr/>
          <p:nvPr/>
        </p:nvSpPr>
        <p:spPr>
          <a:xfrm>
            <a:off x="4498848" y="1444752"/>
            <a:ext cx="5861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亚波长器件与场响应</a:t>
            </a:r>
            <a:endParaRPr lang="en-US" sz="2300" dirty="0"/>
          </a:p>
        </p:txBody>
      </p:sp>
      <p:sp>
        <p:nvSpPr>
          <p:cNvPr id="8" name="03"/>
          <p:cNvSpPr/>
          <p:nvPr/>
        </p:nvSpPr>
        <p:spPr>
          <a:xfrm>
            <a:off x="11064240" y="1463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89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建模瓶颈"/>
          <p:cNvSpPr/>
          <p:nvPr/>
        </p:nvSpPr>
        <p:spPr>
          <a:xfrm>
            <a:off x="11512296" y="1444752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建模瓶颈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66928" y="2093976"/>
            <a:ext cx="2880360" cy="1260639"/>
          </a:xfrm>
          <a:prstGeom prst="roundRect">
            <a:avLst>
              <a:gd name="adj" fmla="val 10155"/>
            </a:avLst>
          </a:prstGeom>
          <a:solidFill>
            <a:srgbClr val="F5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204937"/>
            <a:ext cx="1115568" cy="1038717"/>
          </a:xfrm>
          <a:prstGeom prst="roundRect">
            <a:avLst>
              <a:gd name="adj" fmla="val 96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2528573"/>
            <a:ext cx="1371600" cy="39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高速通信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914400" y="2325145"/>
            <a:ext cx="694944" cy="406857"/>
          </a:xfrm>
          <a:prstGeom prst="triangle">
            <a:avLst/>
          </a:prstGeom>
          <a:solidFill>
            <a:srgbClr val="65BCD8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32688" y="2454599"/>
            <a:ext cx="585216" cy="83221"/>
          </a:xfrm>
          <a:prstGeom prst="line">
            <a:avLst/>
          </a:prstGeom>
          <a:noFill/>
          <a:ln w="12700">
            <a:solidFill>
              <a:srgbClr val="1689B8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2688" y="2537820"/>
            <a:ext cx="585216" cy="914"/>
          </a:xfrm>
          <a:prstGeom prst="line">
            <a:avLst/>
          </a:prstGeom>
          <a:noFill/>
          <a:ln w="21590">
            <a:solidFill>
              <a:srgbClr val="1689B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2688" y="2537820"/>
            <a:ext cx="585216" cy="83221"/>
          </a:xfrm>
          <a:prstGeom prst="line">
            <a:avLst/>
          </a:prstGeom>
          <a:noFill/>
          <a:ln w="12700">
            <a:solidFill>
              <a:srgbClr val="1689B8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124712" y="2426859"/>
            <a:ext cx="64008" cy="231169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1689B8">
                <a:alpha val="6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9304" y="2403742"/>
            <a:ext cx="64008" cy="277402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1689B8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768096" y="2547066"/>
            <a:ext cx="128016" cy="554804"/>
          </a:xfrm>
          <a:prstGeom prst="line">
            <a:avLst/>
          </a:prstGeom>
          <a:noFill/>
          <a:ln w="1905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96112" y="2547066"/>
            <a:ext cx="128016" cy="554804"/>
          </a:xfrm>
          <a:prstGeom prst="line">
            <a:avLst/>
          </a:prstGeom>
          <a:noFill/>
          <a:ln w="1905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00100" y="2898443"/>
            <a:ext cx="192024" cy="914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32104" y="2713508"/>
            <a:ext cx="128016" cy="914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V="1">
            <a:off x="813816" y="2648780"/>
            <a:ext cx="123444" cy="249662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54964" y="2648780"/>
            <a:ext cx="123444" cy="249662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31520" y="3101871"/>
            <a:ext cx="329184" cy="914"/>
          </a:xfrm>
          <a:prstGeom prst="line">
            <a:avLst/>
          </a:prstGeom>
          <a:noFill/>
          <a:ln w="2286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rot="-1500000">
            <a:off x="832104" y="2454599"/>
            <a:ext cx="128016" cy="212675"/>
          </a:xfrm>
          <a:prstGeom prst="ellipse">
            <a:avLst/>
          </a:prstGeom>
          <a:solidFill>
            <a:srgbClr val="E6F3F9"/>
          </a:solidFill>
          <a:ln w="13970">
            <a:solidFill>
              <a:srgbClr val="12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9945" y="2539669"/>
            <a:ext cx="42062" cy="42535"/>
          </a:xfrm>
          <a:prstGeom prst="ellipse">
            <a:avLst/>
          </a:prstGeom>
          <a:solidFill>
            <a:srgbClr val="DB9A35"/>
          </a:solidFill>
          <a:ln w="10160">
            <a:solidFill>
              <a:srgbClr val="DB9A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426464" y="2547066"/>
            <a:ext cx="128016" cy="554804"/>
          </a:xfrm>
          <a:prstGeom prst="line">
            <a:avLst/>
          </a:prstGeom>
          <a:noFill/>
          <a:ln w="1905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554480" y="2547066"/>
            <a:ext cx="128016" cy="554804"/>
          </a:xfrm>
          <a:prstGeom prst="line">
            <a:avLst/>
          </a:prstGeom>
          <a:noFill/>
          <a:ln w="1905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458468" y="2898443"/>
            <a:ext cx="192024" cy="914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490472" y="2713508"/>
            <a:ext cx="128016" cy="914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flipV="1">
            <a:off x="1472184" y="2648780"/>
            <a:ext cx="123444" cy="249662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513332" y="2648780"/>
            <a:ext cx="123444" cy="249662"/>
          </a:xfrm>
          <a:prstGeom prst="line">
            <a:avLst/>
          </a:prstGeom>
          <a:noFill/>
          <a:ln w="1016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389888" y="3101871"/>
            <a:ext cx="329184" cy="914"/>
          </a:xfrm>
          <a:prstGeom prst="line">
            <a:avLst/>
          </a:prstGeom>
          <a:noFill/>
          <a:ln w="2286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rot="1500000">
            <a:off x="1490472" y="2454599"/>
            <a:ext cx="128016" cy="212675"/>
          </a:xfrm>
          <a:prstGeom prst="ellipse">
            <a:avLst/>
          </a:prstGeom>
          <a:solidFill>
            <a:srgbClr val="E6F3F9"/>
          </a:solidFill>
          <a:ln w="13970">
            <a:solidFill>
              <a:srgbClr val="1230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78585" y="2539669"/>
            <a:ext cx="42062" cy="42535"/>
          </a:xfrm>
          <a:prstGeom prst="ellipse">
            <a:avLst/>
          </a:prstGeom>
          <a:solidFill>
            <a:srgbClr val="DB9A35"/>
          </a:solidFill>
          <a:ln w="10160">
            <a:solidFill>
              <a:srgbClr val="DB9A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3521056"/>
            <a:ext cx="2880360" cy="1260639"/>
          </a:xfrm>
          <a:prstGeom prst="roundRect">
            <a:avLst>
              <a:gd name="adj" fmla="val 10155"/>
            </a:avLst>
          </a:prstGeom>
          <a:solidFill>
            <a:srgbClr val="F5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3632017"/>
            <a:ext cx="1115568" cy="1038717"/>
          </a:xfrm>
          <a:prstGeom prst="roundRect">
            <a:avLst>
              <a:gd name="adj" fmla="val 96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9384" y="3955653"/>
            <a:ext cx="1371600" cy="39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安检成像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1380744" y="3752225"/>
            <a:ext cx="256032" cy="758233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20320">
            <a:solidFill>
              <a:srgbClr val="1230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" y="4445731"/>
            <a:ext cx="932688" cy="73974"/>
          </a:xfrm>
          <a:prstGeom prst="roundRect">
            <a:avLst>
              <a:gd name="adj" fmla="val 30903"/>
            </a:avLst>
          </a:prstGeom>
          <a:solidFill>
            <a:srgbClr val="D2E4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4847" y="4522479"/>
            <a:ext cx="49378" cy="49932"/>
          </a:xfrm>
          <a:prstGeom prst="ellipse">
            <a:avLst/>
          </a:prstGeom>
          <a:solidFill>
            <a:srgbClr val="88A2B3"/>
          </a:solidFill>
          <a:ln w="10160">
            <a:solidFill>
              <a:srgbClr val="88A2B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8583" y="4522479"/>
            <a:ext cx="49378" cy="49932"/>
          </a:xfrm>
          <a:prstGeom prst="ellipse">
            <a:avLst/>
          </a:prstGeom>
          <a:solidFill>
            <a:srgbClr val="88A2B3"/>
          </a:solidFill>
          <a:ln w="10160">
            <a:solidFill>
              <a:srgbClr val="88A2B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2319" y="4522479"/>
            <a:ext cx="49378" cy="49932"/>
          </a:xfrm>
          <a:prstGeom prst="ellipse">
            <a:avLst/>
          </a:prstGeom>
          <a:solidFill>
            <a:srgbClr val="88A2B3"/>
          </a:solidFill>
          <a:ln w="10160">
            <a:solidFill>
              <a:srgbClr val="88A2B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6055" y="4522479"/>
            <a:ext cx="49378" cy="49932"/>
          </a:xfrm>
          <a:prstGeom prst="ellipse">
            <a:avLst/>
          </a:prstGeom>
          <a:solidFill>
            <a:srgbClr val="88A2B3"/>
          </a:solidFill>
          <a:ln w="10160">
            <a:solidFill>
              <a:srgbClr val="88A2B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29791" y="4522479"/>
            <a:ext cx="49378" cy="49932"/>
          </a:xfrm>
          <a:prstGeom prst="ellipse">
            <a:avLst/>
          </a:prstGeom>
          <a:solidFill>
            <a:srgbClr val="88A2B3"/>
          </a:solidFill>
          <a:ln w="10160">
            <a:solidFill>
              <a:srgbClr val="88A2B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832" y="3918666"/>
            <a:ext cx="256032" cy="175688"/>
          </a:xfrm>
          <a:prstGeom prst="roundRect">
            <a:avLst>
              <a:gd name="adj" fmla="val 20819"/>
            </a:avLst>
          </a:prstGeom>
          <a:solidFill>
            <a:srgbClr val="FFFFFF">
              <a:alpha val="0"/>
            </a:srgbClr>
          </a:solidFill>
          <a:ln w="17780">
            <a:solidFill>
              <a:srgbClr val="1230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" y="4048121"/>
            <a:ext cx="576072" cy="388363"/>
          </a:xfrm>
          <a:prstGeom prst="roundRect">
            <a:avLst>
              <a:gd name="adj" fmla="val 11772"/>
            </a:avLst>
          </a:prstGeom>
          <a:solidFill>
            <a:srgbClr val="EAF0F5"/>
          </a:solidFill>
          <a:ln w="16510">
            <a:solidFill>
              <a:srgbClr val="1230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2688" y="4075861"/>
            <a:ext cx="914" cy="323636"/>
          </a:xfrm>
          <a:prstGeom prst="line">
            <a:avLst/>
          </a:prstGeom>
          <a:noFill/>
          <a:ln w="1143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252728" y="4075861"/>
            <a:ext cx="914" cy="323636"/>
          </a:xfrm>
          <a:prstGeom prst="line">
            <a:avLst/>
          </a:prstGeom>
          <a:noFill/>
          <a:ln w="11430">
            <a:solidFill>
              <a:srgbClr val="88A2B3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216152" y="3779965"/>
            <a:ext cx="118872" cy="739739"/>
          </a:xfrm>
          <a:prstGeom prst="rect">
            <a:avLst/>
          </a:prstGeom>
          <a:solidFill>
            <a:srgbClr val="65BCD8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75588" y="3789212"/>
            <a:ext cx="914" cy="693506"/>
          </a:xfrm>
          <a:prstGeom prst="line">
            <a:avLst/>
          </a:prstGeom>
          <a:noFill/>
          <a:ln w="13970">
            <a:solidFill>
              <a:srgbClr val="1689B8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005840" y="4131341"/>
            <a:ext cx="566928" cy="914"/>
          </a:xfrm>
          <a:prstGeom prst="line">
            <a:avLst/>
          </a:prstGeom>
          <a:noFill/>
          <a:ln w="8890">
            <a:solidFill>
              <a:srgbClr val="1689B8">
                <a:alpha val="64000"/>
              </a:srgbClr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005840" y="4223809"/>
            <a:ext cx="566928" cy="914"/>
          </a:xfrm>
          <a:prstGeom prst="line">
            <a:avLst/>
          </a:prstGeom>
          <a:noFill/>
          <a:ln w="8890">
            <a:solidFill>
              <a:srgbClr val="1689B8">
                <a:alpha val="64000"/>
              </a:srgbClr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1005840" y="4316276"/>
            <a:ext cx="566928" cy="914"/>
          </a:xfrm>
          <a:prstGeom prst="line">
            <a:avLst/>
          </a:prstGeom>
          <a:noFill/>
          <a:ln w="8890">
            <a:solidFill>
              <a:srgbClr val="1689B8">
                <a:alpha val="64000"/>
              </a:srgbClr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453896" y="3789212"/>
            <a:ext cx="274320" cy="249662"/>
          </a:xfrm>
          <a:prstGeom prst="roundRect">
            <a:avLst>
              <a:gd name="adj" fmla="val 9156"/>
            </a:avLst>
          </a:prstGeom>
          <a:solidFill>
            <a:srgbClr val="12304A"/>
          </a:solidFill>
          <a:ln w="10160">
            <a:solidFill>
              <a:srgbClr val="1230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13332" y="3844692"/>
            <a:ext cx="146304" cy="92467"/>
          </a:xfrm>
          <a:prstGeom prst="ellipse">
            <a:avLst/>
          </a:prstGeom>
          <a:solidFill>
            <a:srgbClr val="65BCD8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67282" y="3866885"/>
            <a:ext cx="47549" cy="48083"/>
          </a:xfrm>
          <a:prstGeom prst="ellipse">
            <a:avLst/>
          </a:prstGeom>
          <a:solidFill>
            <a:srgbClr val="DB9A35"/>
          </a:solidFill>
          <a:ln w="10160">
            <a:solidFill>
              <a:srgbClr val="DB9A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" y="4948137"/>
            <a:ext cx="2880360" cy="1260639"/>
          </a:xfrm>
          <a:prstGeom prst="roundRect">
            <a:avLst>
              <a:gd name="adj" fmla="val 10155"/>
            </a:avLst>
          </a:prstGeom>
          <a:solidFill>
            <a:srgbClr val="F5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059098"/>
            <a:ext cx="1115568" cy="1038717"/>
          </a:xfrm>
          <a:prstGeom prst="roundRect">
            <a:avLst>
              <a:gd name="adj" fmla="val 96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9384" y="5382734"/>
            <a:ext cx="1371600" cy="39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生物传感</a:t>
            </a:r>
            <a:endParaRPr lang="en-US" sz="1900" dirty="0"/>
          </a:p>
        </p:txBody>
      </p:sp>
      <p:sp>
        <p:nvSpPr>
          <p:cNvPr id="62" name="Shape 60"/>
          <p:cNvSpPr/>
          <p:nvPr/>
        </p:nvSpPr>
        <p:spPr>
          <a:xfrm>
            <a:off x="777240" y="5771097"/>
            <a:ext cx="905256" cy="166441"/>
          </a:xfrm>
          <a:prstGeom prst="roundRect">
            <a:avLst>
              <a:gd name="adj" fmla="val 21975"/>
            </a:avLst>
          </a:prstGeom>
          <a:solidFill>
            <a:srgbClr val="E7EDF3"/>
          </a:solidFill>
          <a:ln w="8890">
            <a:solidFill>
              <a:srgbClr val="88A2B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24863"/>
            <a:ext cx="905256" cy="110961"/>
          </a:xfrm>
          <a:prstGeom prst="roundRect">
            <a:avLst>
              <a:gd name="adj" fmla="val 24722"/>
            </a:avLst>
          </a:prstGeom>
          <a:solidFill>
            <a:srgbClr val="F4E2BF"/>
          </a:solidFill>
          <a:ln w="10160">
            <a:solidFill>
              <a:srgbClr val="DB9A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43357"/>
            <a:ext cx="137160" cy="50857"/>
          </a:xfrm>
          <a:prstGeom prst="roundRect">
            <a:avLst>
              <a:gd name="adj" fmla="val 26970"/>
            </a:avLst>
          </a:prstGeom>
          <a:solidFill>
            <a:srgbClr val="DB9A35">
              <a:alpha val="0"/>
            </a:srgbClr>
          </a:solidFill>
          <a:ln w="13970">
            <a:solidFill>
              <a:srgbClr val="DB9A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9848" y="5743357"/>
            <a:ext cx="137160" cy="50857"/>
          </a:xfrm>
          <a:prstGeom prst="roundRect">
            <a:avLst>
              <a:gd name="adj" fmla="val 26970"/>
            </a:avLst>
          </a:prstGeom>
          <a:solidFill>
            <a:srgbClr val="DB9A35">
              <a:alpha val="0"/>
            </a:srgbClr>
          </a:solidFill>
          <a:ln w="13970">
            <a:solidFill>
              <a:srgbClr val="DB9A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61872" y="5743357"/>
            <a:ext cx="137160" cy="50857"/>
          </a:xfrm>
          <a:prstGeom prst="roundRect">
            <a:avLst>
              <a:gd name="adj" fmla="val 26970"/>
            </a:avLst>
          </a:prstGeom>
          <a:solidFill>
            <a:srgbClr val="DB9A35">
              <a:alpha val="0"/>
            </a:srgbClr>
          </a:solidFill>
          <a:ln w="13970">
            <a:solidFill>
              <a:srgbClr val="DB9A3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453896" y="5743357"/>
            <a:ext cx="137160" cy="50857"/>
          </a:xfrm>
          <a:prstGeom prst="roundRect">
            <a:avLst>
              <a:gd name="adj" fmla="val 26970"/>
            </a:avLst>
          </a:prstGeom>
          <a:solidFill>
            <a:srgbClr val="DB9A35">
              <a:alpha val="0"/>
            </a:srgbClr>
          </a:solidFill>
          <a:ln w="13970">
            <a:solidFill>
              <a:srgbClr val="DB9A3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088136" y="5549175"/>
            <a:ext cx="54864" cy="101714"/>
          </a:xfrm>
          <a:prstGeom prst="line">
            <a:avLst/>
          </a:prstGeom>
          <a:noFill/>
          <a:ln w="11430">
            <a:solidFill>
              <a:srgbClr val="1689B8">
                <a:alpha val="65000"/>
              </a:srgbClr>
            </a:solidFill>
            <a:prstDash val="dash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252728" y="5549175"/>
            <a:ext cx="54864" cy="101714"/>
          </a:xfrm>
          <a:prstGeom prst="line">
            <a:avLst/>
          </a:prstGeom>
          <a:noFill/>
          <a:ln w="11430">
            <a:solidFill>
              <a:srgbClr val="1689B8">
                <a:alpha val="65000"/>
              </a:srgbClr>
            </a:solidFill>
            <a:prstDash val="dash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969264" y="5623149"/>
            <a:ext cx="448056" cy="64727"/>
          </a:xfrm>
          <a:prstGeom prst="ellipse">
            <a:avLst/>
          </a:prstGeom>
          <a:solidFill>
            <a:srgbClr val="E6F3F9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8408" y="5290266"/>
            <a:ext cx="192024" cy="110961"/>
          </a:xfrm>
          <a:prstGeom prst="line">
            <a:avLst/>
          </a:prstGeom>
          <a:noFill/>
          <a:ln w="1651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 flipV="1">
            <a:off x="1170432" y="5262526"/>
            <a:ext cx="192024" cy="138701"/>
          </a:xfrm>
          <a:prstGeom prst="line">
            <a:avLst/>
          </a:prstGeom>
          <a:noFill/>
          <a:ln w="1651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1170432" y="5401227"/>
            <a:ext cx="237744" cy="92467"/>
          </a:xfrm>
          <a:prstGeom prst="line">
            <a:avLst/>
          </a:prstGeom>
          <a:noFill/>
          <a:ln w="1651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 flipV="1">
            <a:off x="1005840" y="5401227"/>
            <a:ext cx="164592" cy="138701"/>
          </a:xfrm>
          <a:prstGeom prst="line">
            <a:avLst/>
          </a:prstGeom>
          <a:noFill/>
          <a:ln w="1651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1216152" y="5170059"/>
            <a:ext cx="146304" cy="92467"/>
          </a:xfrm>
          <a:prstGeom prst="line">
            <a:avLst/>
          </a:prstGeom>
          <a:noFill/>
          <a:ln w="16510">
            <a:solidFill>
              <a:srgbClr val="12304A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1099109" y="5329103"/>
            <a:ext cx="142646" cy="144249"/>
          </a:xfrm>
          <a:prstGeom prst="ellipse">
            <a:avLst/>
          </a:prstGeom>
          <a:solidFill>
            <a:srgbClr val="1689B8"/>
          </a:solidFill>
          <a:ln w="10160">
            <a:solidFill>
              <a:srgbClr val="1689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9030" y="5240334"/>
            <a:ext cx="98755" cy="99865"/>
          </a:xfrm>
          <a:prstGeom prst="ellipse">
            <a:avLst/>
          </a:prstGeom>
          <a:solidFill>
            <a:srgbClr val="65BCD8"/>
          </a:solidFill>
          <a:ln w="10160">
            <a:solidFill>
              <a:srgbClr val="65BC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07592" y="5207046"/>
            <a:ext cx="109728" cy="110961"/>
          </a:xfrm>
          <a:prstGeom prst="ellipse">
            <a:avLst/>
          </a:prstGeom>
          <a:solidFill>
            <a:srgbClr val="1689B8"/>
          </a:solidFill>
          <a:ln w="10160">
            <a:solidFill>
              <a:srgbClr val="1689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57884" y="5442838"/>
            <a:ext cx="100584" cy="101714"/>
          </a:xfrm>
          <a:prstGeom prst="ellipse">
            <a:avLst/>
          </a:prstGeom>
          <a:solidFill>
            <a:srgbClr val="65BCD8"/>
          </a:solidFill>
          <a:ln w="10160">
            <a:solidFill>
              <a:srgbClr val="65BC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0120" y="5493695"/>
            <a:ext cx="91440" cy="92467"/>
          </a:xfrm>
          <a:prstGeom prst="ellipse">
            <a:avLst/>
          </a:prstGeom>
          <a:solidFill>
            <a:srgbClr val="DB9A35"/>
          </a:solidFill>
          <a:ln w="10160">
            <a:solidFill>
              <a:srgbClr val="DB9A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80490" y="5133996"/>
            <a:ext cx="71323" cy="72125"/>
          </a:xfrm>
          <a:prstGeom prst="ellipse">
            <a:avLst/>
          </a:prstGeom>
          <a:solidFill>
            <a:srgbClr val="DB9A35"/>
          </a:solidFill>
          <a:ln w="10160">
            <a:solidFill>
              <a:srgbClr val="DB9A35"/>
            </a:solidFill>
            <a:prstDash val="solid"/>
          </a:ln>
        </p:spPr>
      </p:sp>
      <p:pic>
        <p:nvPicPr>
          <p:cNvPr id="82" name="太赫兹亚波长器件概念渲染（图片）" descr="概念示意：金色开口环超表面、亚波长狭缝及蓝色太赫兹波，橙色热点非实测或仿真数据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904" y="1938528"/>
            <a:ext cx="6812280" cy="5111496"/>
          </a:xfrm>
          <a:prstGeom prst="rect">
            <a:avLst/>
          </a:prstGeom>
        </p:spPr>
      </p:pic>
      <p:sp>
        <p:nvSpPr>
          <p:cNvPr id="83" name="Shape 80"/>
          <p:cNvSpPr/>
          <p:nvPr/>
        </p:nvSpPr>
        <p:spPr>
          <a:xfrm>
            <a:off x="3703320" y="6400800"/>
            <a:ext cx="7040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薄膜 · 狭缝 · 复杂边界"/>
          <p:cNvSpPr/>
          <p:nvPr/>
        </p:nvSpPr>
        <p:spPr>
          <a:xfrm>
            <a:off x="4114800" y="63093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薄膜 · 狭缝 · 复杂边界</a:t>
            </a:r>
            <a:endParaRPr lang="en-US" sz="2100" dirty="0"/>
          </a:p>
        </p:txBody>
      </p:sp>
      <p:sp>
        <p:nvSpPr>
          <p:cNvPr id="85" name="精细几何放大框"/>
          <p:cNvSpPr/>
          <p:nvPr/>
        </p:nvSpPr>
        <p:spPr>
          <a:xfrm>
            <a:off x="3959352" y="5394960"/>
            <a:ext cx="235915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CE7E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142232" y="5532120"/>
            <a:ext cx="402336" cy="356616"/>
          </a:xfrm>
          <a:prstGeom prst="rect">
            <a:avLst/>
          </a:prstGeom>
          <a:solidFill>
            <a:srgbClr val="DB9A35"/>
          </a:solidFill>
          <a:ln w="12700">
            <a:solidFill>
              <a:srgbClr val="DB9A35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215384" y="5596128"/>
            <a:ext cx="25603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315968" y="5760720"/>
            <a:ext cx="6400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可编辑连接线"/>
          <p:cNvSpPr/>
          <p:nvPr/>
        </p:nvSpPr>
        <p:spPr>
          <a:xfrm>
            <a:off x="4334256" y="5861304"/>
            <a:ext cx="0" cy="64008"/>
          </a:xfrm>
          <a:prstGeom prst="line">
            <a:avLst/>
          </a:prstGeom>
          <a:noFill/>
          <a:ln w="13970">
            <a:solidFill>
              <a:srgbClr val="BD6C22"/>
            </a:solidFill>
            <a:prstDash val="solid"/>
          </a:ln>
        </p:spPr>
      </p:sp>
      <p:sp>
        <p:nvSpPr>
          <p:cNvPr id="90" name="精细边界"/>
          <p:cNvSpPr/>
          <p:nvPr/>
        </p:nvSpPr>
        <p:spPr>
          <a:xfrm>
            <a:off x="4681728" y="5513832"/>
            <a:ext cx="1435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D6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精细边界</a:t>
            </a:r>
            <a:endParaRPr lang="en-US" sz="2000" dirty="0"/>
          </a:p>
        </p:txBody>
      </p:sp>
      <p:sp>
        <p:nvSpPr>
          <p:cNvPr id="91" name="Shape 88"/>
          <p:cNvSpPr/>
          <p:nvPr/>
        </p:nvSpPr>
        <p:spPr>
          <a:xfrm>
            <a:off x="11064240" y="2093976"/>
            <a:ext cx="2999232" cy="1901952"/>
          </a:xfrm>
          <a:prstGeom prst="roundRect">
            <a:avLst>
              <a:gd name="adj" fmla="val 4808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1338560" y="2567635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1610848" y="2567635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1610848" y="2730398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1883136" y="2730398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2155424" y="2730398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2427712" y="2730398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2427712" y="2893162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2700000" y="2893162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2972288" y="2893162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3244576" y="2893162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3516864" y="3055925"/>
            <a:ext cx="272288" cy="162763"/>
          </a:xfrm>
          <a:prstGeom prst="rect">
            <a:avLst/>
          </a:prstGeom>
          <a:solidFill>
            <a:srgbClr val="CCE8F3"/>
          </a:solidFill>
          <a:ln w="12700">
            <a:solidFill>
              <a:srgbClr val="CCE8F3"/>
            </a:solidFill>
            <a:prstDash val="solid"/>
          </a:ln>
        </p:spPr>
      </p:sp>
      <p:sp>
        <p:nvSpPr>
          <p:cNvPr id="103" name="可编辑连接线"/>
          <p:cNvSpPr/>
          <p:nvPr/>
        </p:nvSpPr>
        <p:spPr>
          <a:xfrm>
            <a:off x="11338560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04" name="可编辑连接线"/>
          <p:cNvSpPr/>
          <p:nvPr/>
        </p:nvSpPr>
        <p:spPr>
          <a:xfrm>
            <a:off x="11610848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05" name="可编辑连接线"/>
          <p:cNvSpPr/>
          <p:nvPr/>
        </p:nvSpPr>
        <p:spPr>
          <a:xfrm>
            <a:off x="11883136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06" name="可编辑连接线"/>
          <p:cNvSpPr/>
          <p:nvPr/>
        </p:nvSpPr>
        <p:spPr>
          <a:xfrm>
            <a:off x="12155424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07" name="可编辑连接线"/>
          <p:cNvSpPr/>
          <p:nvPr/>
        </p:nvSpPr>
        <p:spPr>
          <a:xfrm>
            <a:off x="12427712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08" name="可编辑连接线"/>
          <p:cNvSpPr/>
          <p:nvPr/>
        </p:nvSpPr>
        <p:spPr>
          <a:xfrm>
            <a:off x="12700000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09" name="可编辑连接线"/>
          <p:cNvSpPr/>
          <p:nvPr/>
        </p:nvSpPr>
        <p:spPr>
          <a:xfrm>
            <a:off x="12972288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0" name="可编辑连接线"/>
          <p:cNvSpPr/>
          <p:nvPr/>
        </p:nvSpPr>
        <p:spPr>
          <a:xfrm>
            <a:off x="13244576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1" name="可编辑连接线"/>
          <p:cNvSpPr/>
          <p:nvPr/>
        </p:nvSpPr>
        <p:spPr>
          <a:xfrm>
            <a:off x="13516864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2" name="可编辑连接线"/>
          <p:cNvSpPr/>
          <p:nvPr/>
        </p:nvSpPr>
        <p:spPr>
          <a:xfrm>
            <a:off x="13789152" y="2404872"/>
            <a:ext cx="0" cy="813816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3" name="可编辑连接线"/>
          <p:cNvSpPr/>
          <p:nvPr/>
        </p:nvSpPr>
        <p:spPr>
          <a:xfrm>
            <a:off x="11338560" y="2404872"/>
            <a:ext cx="2450592" cy="0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4" name="可编辑连接线"/>
          <p:cNvSpPr/>
          <p:nvPr/>
        </p:nvSpPr>
        <p:spPr>
          <a:xfrm>
            <a:off x="11338560" y="2567635"/>
            <a:ext cx="2450592" cy="0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5" name="可编辑连接线"/>
          <p:cNvSpPr/>
          <p:nvPr/>
        </p:nvSpPr>
        <p:spPr>
          <a:xfrm>
            <a:off x="11338560" y="2730398"/>
            <a:ext cx="2450592" cy="0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6" name="可编辑连接线"/>
          <p:cNvSpPr/>
          <p:nvPr/>
        </p:nvSpPr>
        <p:spPr>
          <a:xfrm>
            <a:off x="11338560" y="2893162"/>
            <a:ext cx="2450592" cy="0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7" name="可编辑连接线"/>
          <p:cNvSpPr/>
          <p:nvPr/>
        </p:nvSpPr>
        <p:spPr>
          <a:xfrm>
            <a:off x="11338560" y="3055925"/>
            <a:ext cx="2450592" cy="0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8" name="可编辑连接线"/>
          <p:cNvSpPr/>
          <p:nvPr/>
        </p:nvSpPr>
        <p:spPr>
          <a:xfrm>
            <a:off x="11338560" y="3218688"/>
            <a:ext cx="2450592" cy="0"/>
          </a:xfrm>
          <a:prstGeom prst="line">
            <a:avLst/>
          </a:prstGeom>
          <a:noFill/>
          <a:ln w="8890">
            <a:solidFill>
              <a:srgbClr val="B7CBD8"/>
            </a:solidFill>
            <a:prstDash val="solid"/>
          </a:ln>
        </p:spPr>
      </p:sp>
      <p:sp>
        <p:nvSpPr>
          <p:cNvPr id="119" name="可编辑连接线"/>
          <p:cNvSpPr/>
          <p:nvPr/>
        </p:nvSpPr>
        <p:spPr>
          <a:xfrm>
            <a:off x="11393424" y="2526944"/>
            <a:ext cx="974385" cy="219730"/>
          </a:xfrm>
          <a:prstGeom prst="line">
            <a:avLst/>
          </a:prstGeom>
          <a:noFill/>
          <a:ln w="50800">
            <a:solidFill>
              <a:srgbClr val="DB9A35"/>
            </a:solidFill>
            <a:prstDash val="solid"/>
          </a:ln>
        </p:spPr>
      </p:sp>
      <p:sp>
        <p:nvSpPr>
          <p:cNvPr id="120" name="可编辑连接线"/>
          <p:cNvSpPr/>
          <p:nvPr/>
        </p:nvSpPr>
        <p:spPr>
          <a:xfrm flipV="1">
            <a:off x="12367809" y="2722260"/>
            <a:ext cx="416601" cy="24414"/>
          </a:xfrm>
          <a:prstGeom prst="line">
            <a:avLst/>
          </a:prstGeom>
          <a:noFill/>
          <a:ln w="50800">
            <a:solidFill>
              <a:srgbClr val="DB9A35"/>
            </a:solidFill>
            <a:prstDash val="solid"/>
          </a:ln>
        </p:spPr>
      </p:sp>
      <p:sp>
        <p:nvSpPr>
          <p:cNvPr id="121" name="可编辑连接线"/>
          <p:cNvSpPr/>
          <p:nvPr/>
        </p:nvSpPr>
        <p:spPr>
          <a:xfrm>
            <a:off x="12784409" y="2722260"/>
            <a:ext cx="24506" cy="154625"/>
          </a:xfrm>
          <a:prstGeom prst="line">
            <a:avLst/>
          </a:prstGeom>
          <a:noFill/>
          <a:ln w="50800">
            <a:solidFill>
              <a:srgbClr val="DB9A35"/>
            </a:solidFill>
            <a:prstDash val="solid"/>
          </a:ln>
        </p:spPr>
      </p:sp>
      <p:sp>
        <p:nvSpPr>
          <p:cNvPr id="122" name="可编辑连接线"/>
          <p:cNvSpPr/>
          <p:nvPr/>
        </p:nvSpPr>
        <p:spPr>
          <a:xfrm>
            <a:off x="12808915" y="2876885"/>
            <a:ext cx="833201" cy="219730"/>
          </a:xfrm>
          <a:prstGeom prst="line">
            <a:avLst/>
          </a:prstGeom>
          <a:noFill/>
          <a:ln w="50800">
            <a:solidFill>
              <a:srgbClr val="DB9A35"/>
            </a:solidFill>
            <a:prstDash val="solid"/>
          </a:ln>
        </p:spPr>
      </p:sp>
      <p:sp>
        <p:nvSpPr>
          <p:cNvPr id="123" name="亚网格边界细节"/>
          <p:cNvSpPr/>
          <p:nvPr/>
        </p:nvSpPr>
        <p:spPr>
          <a:xfrm>
            <a:off x="12514844" y="2608326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 w="16510">
            <a:solidFill>
              <a:srgbClr val="DB9A35"/>
            </a:solidFill>
            <a:prstDash val="solid"/>
          </a:ln>
        </p:spPr>
      </p:sp>
      <p:sp>
        <p:nvSpPr>
          <p:cNvPr id="124" name="边界难表征"/>
          <p:cNvSpPr/>
          <p:nvPr/>
        </p:nvSpPr>
        <p:spPr>
          <a:xfrm>
            <a:off x="11219688" y="3410712"/>
            <a:ext cx="2688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边界难表征</a:t>
            </a:r>
            <a:endParaRPr lang="en-US" sz="2200" dirty="0"/>
          </a:p>
        </p:txBody>
      </p:sp>
      <p:sp>
        <p:nvSpPr>
          <p:cNvPr id="125" name="Shape 122"/>
          <p:cNvSpPr/>
          <p:nvPr/>
        </p:nvSpPr>
        <p:spPr>
          <a:xfrm>
            <a:off x="11064240" y="4206240"/>
            <a:ext cx="2999232" cy="2002536"/>
          </a:xfrm>
          <a:prstGeom prst="roundRect">
            <a:avLst>
              <a:gd name="adj" fmla="val 4566"/>
            </a:avLst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126" name="可编辑科研示意"/>
          <p:cNvSpPr/>
          <p:nvPr/>
        </p:nvSpPr>
        <p:spPr>
          <a:xfrm>
            <a:off x="11384280" y="4736592"/>
            <a:ext cx="1536192" cy="859536"/>
          </a:xfrm>
          <a:custGeom>
            <a:avLst/>
            <a:gdLst/>
            <a:ahLst/>
            <a:cxnLst/>
            <a:rect l="l" t="t" r="r" b="b"/>
            <a:pathLst>
              <a:path w="1536192" h="859536">
                <a:moveTo>
                  <a:pt x="0" y="0"/>
                </a:moveTo>
                <a:lnTo>
                  <a:pt x="1536192" y="0"/>
                </a:lnTo>
                <a:lnTo>
                  <a:pt x="1536192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EEF6FC"/>
          </a:solidFill>
          <a:ln w="12700">
            <a:solidFill>
              <a:srgbClr val="EEF6FC"/>
            </a:solidFill>
            <a:prstDash val="solid"/>
          </a:ln>
        </p:spPr>
      </p:sp>
      <p:sp>
        <p:nvSpPr>
          <p:cNvPr id="127" name="可编辑科研示意"/>
          <p:cNvSpPr/>
          <p:nvPr/>
        </p:nvSpPr>
        <p:spPr>
          <a:xfrm>
            <a:off x="11384280" y="4471416"/>
            <a:ext cx="2020824" cy="265176"/>
          </a:xfrm>
          <a:custGeom>
            <a:avLst/>
            <a:gdLst/>
            <a:ahLst/>
            <a:cxnLst/>
            <a:rect l="l" t="t" r="r" b="b"/>
            <a:pathLst>
              <a:path w="2020824" h="265176">
                <a:moveTo>
                  <a:pt x="0" y="265176"/>
                </a:moveTo>
                <a:lnTo>
                  <a:pt x="484632" y="0"/>
                </a:lnTo>
                <a:lnTo>
                  <a:pt x="2020824" y="0"/>
                </a:lnTo>
                <a:lnTo>
                  <a:pt x="1536192" y="265176"/>
                </a:lnTo>
                <a:close/>
              </a:path>
            </a:pathLst>
          </a:custGeom>
          <a:solidFill>
            <a:srgbClr val="E3F0F8"/>
          </a:solidFill>
          <a:ln w="12700">
            <a:solidFill>
              <a:srgbClr val="E3F0F8"/>
            </a:solidFill>
            <a:prstDash val="solid"/>
          </a:ln>
        </p:spPr>
      </p:sp>
      <p:sp>
        <p:nvSpPr>
          <p:cNvPr id="128" name="可编辑科研示意"/>
          <p:cNvSpPr/>
          <p:nvPr/>
        </p:nvSpPr>
        <p:spPr>
          <a:xfrm>
            <a:off x="12920472" y="4471416"/>
            <a:ext cx="484632" cy="1124712"/>
          </a:xfrm>
          <a:custGeom>
            <a:avLst/>
            <a:gdLst/>
            <a:ahLst/>
            <a:cxnLst/>
            <a:rect l="l" t="t" r="r" b="b"/>
            <a:pathLst>
              <a:path w="484632" h="1124712">
                <a:moveTo>
                  <a:pt x="0" y="265176"/>
                </a:moveTo>
                <a:lnTo>
                  <a:pt x="484632" y="0"/>
                </a:lnTo>
                <a:lnTo>
                  <a:pt x="484632" y="859536"/>
                </a:lnTo>
                <a:lnTo>
                  <a:pt x="0" y="1124712"/>
                </a:lnTo>
                <a:close/>
              </a:path>
            </a:pathLst>
          </a:custGeom>
          <a:solidFill>
            <a:srgbClr val="D3E7F4"/>
          </a:solidFill>
          <a:ln w="12700">
            <a:solidFill>
              <a:srgbClr val="D3E7F4"/>
            </a:solidFill>
            <a:prstDash val="solid"/>
          </a:ln>
        </p:spPr>
      </p:sp>
      <p:sp>
        <p:nvSpPr>
          <p:cNvPr id="129" name="可编辑连接线"/>
          <p:cNvSpPr/>
          <p:nvPr/>
        </p:nvSpPr>
        <p:spPr>
          <a:xfrm>
            <a:off x="11384280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0" name="可编辑连接线"/>
          <p:cNvSpPr/>
          <p:nvPr/>
        </p:nvSpPr>
        <p:spPr>
          <a:xfrm>
            <a:off x="11384280" y="4736592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1" name="可编辑连接线"/>
          <p:cNvSpPr/>
          <p:nvPr/>
        </p:nvSpPr>
        <p:spPr>
          <a:xfrm flipV="1">
            <a:off x="11384280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2" name="可编辑连接线"/>
          <p:cNvSpPr/>
          <p:nvPr/>
        </p:nvSpPr>
        <p:spPr>
          <a:xfrm>
            <a:off x="11384280" y="4736592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3" name="可编辑连接线"/>
          <p:cNvSpPr/>
          <p:nvPr/>
        </p:nvSpPr>
        <p:spPr>
          <a:xfrm flipV="1">
            <a:off x="12920472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4" name="可编辑连接线"/>
          <p:cNvSpPr/>
          <p:nvPr/>
        </p:nvSpPr>
        <p:spPr>
          <a:xfrm>
            <a:off x="12920472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5" name="可编辑连接线"/>
          <p:cNvSpPr/>
          <p:nvPr/>
        </p:nvSpPr>
        <p:spPr>
          <a:xfrm>
            <a:off x="11576304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6" name="可编辑连接线"/>
          <p:cNvSpPr/>
          <p:nvPr/>
        </p:nvSpPr>
        <p:spPr>
          <a:xfrm>
            <a:off x="11384280" y="4844034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7" name="可编辑连接线"/>
          <p:cNvSpPr/>
          <p:nvPr/>
        </p:nvSpPr>
        <p:spPr>
          <a:xfrm flipV="1">
            <a:off x="11576304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8" name="可编辑连接线"/>
          <p:cNvSpPr/>
          <p:nvPr/>
        </p:nvSpPr>
        <p:spPr>
          <a:xfrm>
            <a:off x="11444859" y="4703445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39" name="可编辑连接线"/>
          <p:cNvSpPr/>
          <p:nvPr/>
        </p:nvSpPr>
        <p:spPr>
          <a:xfrm flipV="1">
            <a:off x="12920472" y="4578858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0" name="可编辑连接线"/>
          <p:cNvSpPr/>
          <p:nvPr/>
        </p:nvSpPr>
        <p:spPr>
          <a:xfrm>
            <a:off x="12981051" y="4703445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1" name="可编辑连接线"/>
          <p:cNvSpPr/>
          <p:nvPr/>
        </p:nvSpPr>
        <p:spPr>
          <a:xfrm>
            <a:off x="11768328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2" name="可编辑连接线"/>
          <p:cNvSpPr/>
          <p:nvPr/>
        </p:nvSpPr>
        <p:spPr>
          <a:xfrm>
            <a:off x="11384280" y="4951476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3" name="可编辑连接线"/>
          <p:cNvSpPr/>
          <p:nvPr/>
        </p:nvSpPr>
        <p:spPr>
          <a:xfrm flipV="1">
            <a:off x="11768328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4" name="可编辑连接线"/>
          <p:cNvSpPr/>
          <p:nvPr/>
        </p:nvSpPr>
        <p:spPr>
          <a:xfrm>
            <a:off x="11505438" y="4670298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5" name="可编辑连接线"/>
          <p:cNvSpPr/>
          <p:nvPr/>
        </p:nvSpPr>
        <p:spPr>
          <a:xfrm flipV="1">
            <a:off x="12920472" y="4686300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6" name="可编辑连接线"/>
          <p:cNvSpPr/>
          <p:nvPr/>
        </p:nvSpPr>
        <p:spPr>
          <a:xfrm>
            <a:off x="13041630" y="4670298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7" name="可编辑连接线"/>
          <p:cNvSpPr/>
          <p:nvPr/>
        </p:nvSpPr>
        <p:spPr>
          <a:xfrm>
            <a:off x="11960352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8" name="可编辑连接线"/>
          <p:cNvSpPr/>
          <p:nvPr/>
        </p:nvSpPr>
        <p:spPr>
          <a:xfrm>
            <a:off x="11384280" y="5058918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49" name="可编辑连接线"/>
          <p:cNvSpPr/>
          <p:nvPr/>
        </p:nvSpPr>
        <p:spPr>
          <a:xfrm flipV="1">
            <a:off x="11960352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0" name="可编辑连接线"/>
          <p:cNvSpPr/>
          <p:nvPr/>
        </p:nvSpPr>
        <p:spPr>
          <a:xfrm>
            <a:off x="11566017" y="4637151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1" name="可编辑连接线"/>
          <p:cNvSpPr/>
          <p:nvPr/>
        </p:nvSpPr>
        <p:spPr>
          <a:xfrm flipV="1">
            <a:off x="12920472" y="4793742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2" name="可编辑连接线"/>
          <p:cNvSpPr/>
          <p:nvPr/>
        </p:nvSpPr>
        <p:spPr>
          <a:xfrm>
            <a:off x="13102209" y="4637151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3" name="可编辑连接线"/>
          <p:cNvSpPr/>
          <p:nvPr/>
        </p:nvSpPr>
        <p:spPr>
          <a:xfrm>
            <a:off x="12152376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4" name="可编辑连接线"/>
          <p:cNvSpPr/>
          <p:nvPr/>
        </p:nvSpPr>
        <p:spPr>
          <a:xfrm>
            <a:off x="11384280" y="5166360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5" name="可编辑连接线"/>
          <p:cNvSpPr/>
          <p:nvPr/>
        </p:nvSpPr>
        <p:spPr>
          <a:xfrm flipV="1">
            <a:off x="12152376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6" name="可编辑连接线"/>
          <p:cNvSpPr/>
          <p:nvPr/>
        </p:nvSpPr>
        <p:spPr>
          <a:xfrm>
            <a:off x="11626596" y="4604004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7" name="可编辑连接线"/>
          <p:cNvSpPr/>
          <p:nvPr/>
        </p:nvSpPr>
        <p:spPr>
          <a:xfrm flipV="1">
            <a:off x="12920472" y="4901184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8" name="可编辑连接线"/>
          <p:cNvSpPr/>
          <p:nvPr/>
        </p:nvSpPr>
        <p:spPr>
          <a:xfrm>
            <a:off x="13162788" y="4604004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59" name="可编辑连接线"/>
          <p:cNvSpPr/>
          <p:nvPr/>
        </p:nvSpPr>
        <p:spPr>
          <a:xfrm>
            <a:off x="12344400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0" name="可编辑连接线"/>
          <p:cNvSpPr/>
          <p:nvPr/>
        </p:nvSpPr>
        <p:spPr>
          <a:xfrm>
            <a:off x="11384280" y="5273802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1" name="可编辑连接线"/>
          <p:cNvSpPr/>
          <p:nvPr/>
        </p:nvSpPr>
        <p:spPr>
          <a:xfrm flipV="1">
            <a:off x="12344400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2" name="可编辑连接线"/>
          <p:cNvSpPr/>
          <p:nvPr/>
        </p:nvSpPr>
        <p:spPr>
          <a:xfrm>
            <a:off x="11687175" y="4570857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3" name="可编辑连接线"/>
          <p:cNvSpPr/>
          <p:nvPr/>
        </p:nvSpPr>
        <p:spPr>
          <a:xfrm flipV="1">
            <a:off x="12920472" y="500862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4" name="可编辑连接线"/>
          <p:cNvSpPr/>
          <p:nvPr/>
        </p:nvSpPr>
        <p:spPr>
          <a:xfrm>
            <a:off x="13223367" y="4570857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5" name="可编辑连接线"/>
          <p:cNvSpPr/>
          <p:nvPr/>
        </p:nvSpPr>
        <p:spPr>
          <a:xfrm>
            <a:off x="12536424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6" name="可编辑连接线"/>
          <p:cNvSpPr/>
          <p:nvPr/>
        </p:nvSpPr>
        <p:spPr>
          <a:xfrm>
            <a:off x="11384280" y="5381244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7" name="可编辑连接线"/>
          <p:cNvSpPr/>
          <p:nvPr/>
        </p:nvSpPr>
        <p:spPr>
          <a:xfrm flipV="1">
            <a:off x="12536424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8" name="可编辑连接线"/>
          <p:cNvSpPr/>
          <p:nvPr/>
        </p:nvSpPr>
        <p:spPr>
          <a:xfrm>
            <a:off x="11747754" y="4537710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69" name="可编辑连接线"/>
          <p:cNvSpPr/>
          <p:nvPr/>
        </p:nvSpPr>
        <p:spPr>
          <a:xfrm flipV="1">
            <a:off x="12920472" y="5116068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0" name="可编辑连接线"/>
          <p:cNvSpPr/>
          <p:nvPr/>
        </p:nvSpPr>
        <p:spPr>
          <a:xfrm>
            <a:off x="13283946" y="4537710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1" name="可编辑连接线"/>
          <p:cNvSpPr/>
          <p:nvPr/>
        </p:nvSpPr>
        <p:spPr>
          <a:xfrm>
            <a:off x="12728448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2" name="可编辑连接线"/>
          <p:cNvSpPr/>
          <p:nvPr/>
        </p:nvSpPr>
        <p:spPr>
          <a:xfrm>
            <a:off x="11384280" y="5488686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3" name="可编辑连接线"/>
          <p:cNvSpPr/>
          <p:nvPr/>
        </p:nvSpPr>
        <p:spPr>
          <a:xfrm flipV="1">
            <a:off x="12728448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4" name="可编辑连接线"/>
          <p:cNvSpPr/>
          <p:nvPr/>
        </p:nvSpPr>
        <p:spPr>
          <a:xfrm>
            <a:off x="11808333" y="4504563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5" name="可编辑连接线"/>
          <p:cNvSpPr/>
          <p:nvPr/>
        </p:nvSpPr>
        <p:spPr>
          <a:xfrm flipV="1">
            <a:off x="12920472" y="5223510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6" name="可编辑连接线"/>
          <p:cNvSpPr/>
          <p:nvPr/>
        </p:nvSpPr>
        <p:spPr>
          <a:xfrm>
            <a:off x="13344525" y="4504563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7" name="可编辑连接线"/>
          <p:cNvSpPr/>
          <p:nvPr/>
        </p:nvSpPr>
        <p:spPr>
          <a:xfrm>
            <a:off x="12920472" y="4736592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8" name="可编辑连接线"/>
          <p:cNvSpPr/>
          <p:nvPr/>
        </p:nvSpPr>
        <p:spPr>
          <a:xfrm>
            <a:off x="11384280" y="5596128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79" name="可编辑连接线"/>
          <p:cNvSpPr/>
          <p:nvPr/>
        </p:nvSpPr>
        <p:spPr>
          <a:xfrm flipV="1">
            <a:off x="12920472" y="4471416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80" name="可编辑连接线"/>
          <p:cNvSpPr/>
          <p:nvPr/>
        </p:nvSpPr>
        <p:spPr>
          <a:xfrm>
            <a:off x="11868912" y="4471416"/>
            <a:ext cx="1536192" cy="0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81" name="可编辑连接线"/>
          <p:cNvSpPr/>
          <p:nvPr/>
        </p:nvSpPr>
        <p:spPr>
          <a:xfrm flipV="1">
            <a:off x="12920472" y="5330952"/>
            <a:ext cx="484632" cy="26517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82" name="可编辑连接线"/>
          <p:cNvSpPr/>
          <p:nvPr/>
        </p:nvSpPr>
        <p:spPr>
          <a:xfrm>
            <a:off x="13405104" y="4471416"/>
            <a:ext cx="0" cy="859536"/>
          </a:xfrm>
          <a:prstGeom prst="line">
            <a:avLst/>
          </a:prstGeom>
          <a:noFill/>
          <a:ln w="7874">
            <a:solidFill>
              <a:srgbClr val="1689B8"/>
            </a:solidFill>
            <a:prstDash val="solid"/>
          </a:ln>
        </p:spPr>
      </p:sp>
      <p:sp>
        <p:nvSpPr>
          <p:cNvPr id="183" name="计算时间概念图标"/>
          <p:cNvSpPr/>
          <p:nvPr/>
        </p:nvSpPr>
        <p:spPr>
          <a:xfrm>
            <a:off x="13176504" y="4379976"/>
            <a:ext cx="713232" cy="713232"/>
          </a:xfrm>
          <a:prstGeom prst="ellipse">
            <a:avLst/>
          </a:prstGeom>
          <a:solidFill>
            <a:srgbClr val="FFFFFF"/>
          </a:solidFill>
          <a:ln w="26670">
            <a:solidFill>
              <a:srgbClr val="DB9A35"/>
            </a:solidFill>
            <a:prstDash val="solid"/>
          </a:ln>
        </p:spPr>
      </p:sp>
      <p:sp>
        <p:nvSpPr>
          <p:cNvPr id="184" name="可编辑连接线"/>
          <p:cNvSpPr/>
          <p:nvPr/>
        </p:nvSpPr>
        <p:spPr>
          <a:xfrm flipV="1">
            <a:off x="13533120" y="4535424"/>
            <a:ext cx="0" cy="201168"/>
          </a:xfrm>
          <a:prstGeom prst="line">
            <a:avLst/>
          </a:prstGeom>
          <a:noFill/>
          <a:ln w="27940">
            <a:solidFill>
              <a:srgbClr val="BD6C22"/>
            </a:solidFill>
            <a:prstDash val="solid"/>
          </a:ln>
        </p:spPr>
      </p:sp>
      <p:sp>
        <p:nvSpPr>
          <p:cNvPr id="185" name="可编辑连接线"/>
          <p:cNvSpPr/>
          <p:nvPr/>
        </p:nvSpPr>
        <p:spPr>
          <a:xfrm>
            <a:off x="13533120" y="4736592"/>
            <a:ext cx="164592" cy="100584"/>
          </a:xfrm>
          <a:prstGeom prst="line">
            <a:avLst/>
          </a:prstGeom>
          <a:noFill/>
          <a:ln w="27940">
            <a:solidFill>
              <a:srgbClr val="BD6C22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13501116" y="4704588"/>
            <a:ext cx="64008" cy="64008"/>
          </a:xfrm>
          <a:prstGeom prst="ellipse">
            <a:avLst/>
          </a:prstGeom>
          <a:solidFill>
            <a:srgbClr val="BD6C22"/>
          </a:solidFill>
          <a:ln w="12700">
            <a:solidFill>
              <a:srgbClr val="BD6C22"/>
            </a:solidFill>
            <a:prstDash val="solid"/>
          </a:ln>
        </p:spPr>
      </p:sp>
      <p:sp>
        <p:nvSpPr>
          <p:cNvPr id="187" name="全波代价高"/>
          <p:cNvSpPr/>
          <p:nvPr/>
        </p:nvSpPr>
        <p:spPr>
          <a:xfrm>
            <a:off x="11219688" y="5614416"/>
            <a:ext cx="2688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全波代价高</a:t>
            </a:r>
            <a:endParaRPr lang="en-US" sz="2200" dirty="0"/>
          </a:p>
        </p:txBody>
      </p:sp>
      <p:sp>
        <p:nvSpPr>
          <p:cNvPr id="188" name="Shape 185"/>
          <p:cNvSpPr/>
          <p:nvPr/>
        </p:nvSpPr>
        <p:spPr>
          <a:xfrm>
            <a:off x="3547872" y="3822192"/>
            <a:ext cx="347472" cy="420624"/>
          </a:xfrm>
          <a:prstGeom prst="chevron">
            <a:avLst/>
          </a:prstGeom>
          <a:solidFill>
            <a:srgbClr val="A9D5E8"/>
          </a:solidFill>
          <a:ln w="12700">
            <a:solidFill>
              <a:srgbClr val="A9D5E8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10588752" y="3822192"/>
            <a:ext cx="347472" cy="420624"/>
          </a:xfrm>
          <a:prstGeom prst="chevron">
            <a:avLst/>
          </a:prstGeom>
          <a:solidFill>
            <a:srgbClr val="A9D5E8"/>
          </a:solidFill>
          <a:ln w="12700">
            <a:solidFill>
              <a:srgbClr val="A9D5E8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6928" y="6931152"/>
            <a:ext cx="13496544" cy="914400"/>
          </a:xfrm>
          <a:prstGeom prst="roundRect">
            <a:avLst>
              <a:gd name="adj" fmla="val 10000"/>
            </a:avLst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191" name="可编辑连接线"/>
          <p:cNvSpPr/>
          <p:nvPr/>
        </p:nvSpPr>
        <p:spPr>
          <a:xfrm flipV="1">
            <a:off x="987552" y="7171182"/>
            <a:ext cx="480060" cy="2209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2" name="可编辑连接线"/>
          <p:cNvSpPr/>
          <p:nvPr/>
        </p:nvSpPr>
        <p:spPr>
          <a:xfrm>
            <a:off x="987552" y="7193280"/>
            <a:ext cx="480060" cy="110490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3" name="可编辑连接线"/>
          <p:cNvSpPr/>
          <p:nvPr/>
        </p:nvSpPr>
        <p:spPr>
          <a:xfrm>
            <a:off x="987552" y="7193280"/>
            <a:ext cx="480060" cy="24307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4" name="可编辑连接线"/>
          <p:cNvSpPr/>
          <p:nvPr/>
        </p:nvSpPr>
        <p:spPr>
          <a:xfrm>
            <a:off x="987552" y="7193280"/>
            <a:ext cx="480060" cy="375666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5" name="可编辑连接线"/>
          <p:cNvSpPr/>
          <p:nvPr/>
        </p:nvSpPr>
        <p:spPr>
          <a:xfrm flipV="1">
            <a:off x="987552" y="7171182"/>
            <a:ext cx="480060" cy="198882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6" name="可编辑连接线"/>
          <p:cNvSpPr/>
          <p:nvPr/>
        </p:nvSpPr>
        <p:spPr>
          <a:xfrm flipV="1">
            <a:off x="987552" y="7303770"/>
            <a:ext cx="480060" cy="66294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7" name="可编辑连接线"/>
          <p:cNvSpPr/>
          <p:nvPr/>
        </p:nvSpPr>
        <p:spPr>
          <a:xfrm>
            <a:off x="987552" y="7370064"/>
            <a:ext cx="480060" cy="66294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8" name="可编辑连接线"/>
          <p:cNvSpPr/>
          <p:nvPr/>
        </p:nvSpPr>
        <p:spPr>
          <a:xfrm>
            <a:off x="987552" y="7370064"/>
            <a:ext cx="480060" cy="198882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199" name="可编辑连接线"/>
          <p:cNvSpPr/>
          <p:nvPr/>
        </p:nvSpPr>
        <p:spPr>
          <a:xfrm flipV="1">
            <a:off x="987552" y="7171182"/>
            <a:ext cx="480060" cy="375666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0" name="可编辑连接线"/>
          <p:cNvSpPr/>
          <p:nvPr/>
        </p:nvSpPr>
        <p:spPr>
          <a:xfrm flipV="1">
            <a:off x="987552" y="7303770"/>
            <a:ext cx="480060" cy="24307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1" name="可编辑连接线"/>
          <p:cNvSpPr/>
          <p:nvPr/>
        </p:nvSpPr>
        <p:spPr>
          <a:xfrm flipV="1">
            <a:off x="987552" y="7436358"/>
            <a:ext cx="480060" cy="110490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2" name="可编辑连接线"/>
          <p:cNvSpPr/>
          <p:nvPr/>
        </p:nvSpPr>
        <p:spPr>
          <a:xfrm>
            <a:off x="987552" y="7546848"/>
            <a:ext cx="480060" cy="2209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3" name="可编辑连接线"/>
          <p:cNvSpPr/>
          <p:nvPr/>
        </p:nvSpPr>
        <p:spPr>
          <a:xfrm>
            <a:off x="1467612" y="7171182"/>
            <a:ext cx="480060" cy="2209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4" name="可编辑连接线"/>
          <p:cNvSpPr/>
          <p:nvPr/>
        </p:nvSpPr>
        <p:spPr>
          <a:xfrm>
            <a:off x="1467612" y="7171182"/>
            <a:ext cx="480060" cy="198882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5" name="可编辑连接线"/>
          <p:cNvSpPr/>
          <p:nvPr/>
        </p:nvSpPr>
        <p:spPr>
          <a:xfrm>
            <a:off x="1467612" y="7171182"/>
            <a:ext cx="480060" cy="375666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6" name="可编辑连接线"/>
          <p:cNvSpPr/>
          <p:nvPr/>
        </p:nvSpPr>
        <p:spPr>
          <a:xfrm flipV="1">
            <a:off x="1467612" y="7193280"/>
            <a:ext cx="480060" cy="110490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7" name="可编辑连接线"/>
          <p:cNvSpPr/>
          <p:nvPr/>
        </p:nvSpPr>
        <p:spPr>
          <a:xfrm>
            <a:off x="1467612" y="7303770"/>
            <a:ext cx="480060" cy="66294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8" name="可编辑连接线"/>
          <p:cNvSpPr/>
          <p:nvPr/>
        </p:nvSpPr>
        <p:spPr>
          <a:xfrm>
            <a:off x="1467612" y="7303770"/>
            <a:ext cx="480060" cy="24307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09" name="可编辑连接线"/>
          <p:cNvSpPr/>
          <p:nvPr/>
        </p:nvSpPr>
        <p:spPr>
          <a:xfrm flipV="1">
            <a:off x="1467612" y="7193280"/>
            <a:ext cx="480060" cy="24307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10" name="可编辑连接线"/>
          <p:cNvSpPr/>
          <p:nvPr/>
        </p:nvSpPr>
        <p:spPr>
          <a:xfrm flipV="1">
            <a:off x="1467612" y="7370064"/>
            <a:ext cx="480060" cy="66294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11" name="可编辑连接线"/>
          <p:cNvSpPr/>
          <p:nvPr/>
        </p:nvSpPr>
        <p:spPr>
          <a:xfrm>
            <a:off x="1467612" y="7436358"/>
            <a:ext cx="480060" cy="110490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12" name="可编辑连接线"/>
          <p:cNvSpPr/>
          <p:nvPr/>
        </p:nvSpPr>
        <p:spPr>
          <a:xfrm flipV="1">
            <a:off x="1467612" y="7193280"/>
            <a:ext cx="480060" cy="375666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13" name="可编辑连接线"/>
          <p:cNvSpPr/>
          <p:nvPr/>
        </p:nvSpPr>
        <p:spPr>
          <a:xfrm flipV="1">
            <a:off x="1467612" y="7370064"/>
            <a:ext cx="480060" cy="198882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14" name="可编辑连接线"/>
          <p:cNvSpPr/>
          <p:nvPr/>
        </p:nvSpPr>
        <p:spPr>
          <a:xfrm flipV="1">
            <a:off x="1467612" y="7546848"/>
            <a:ext cx="480060" cy="22098"/>
          </a:xfrm>
          <a:prstGeom prst="line">
            <a:avLst/>
          </a:prstGeom>
          <a:noFill/>
          <a:ln w="8255">
            <a:solidFill>
              <a:srgbClr val="5993AF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937260" y="714298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937260" y="731977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937260" y="749655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417320" y="7120890"/>
            <a:ext cx="100584" cy="100584"/>
          </a:xfrm>
          <a:prstGeom prst="ellipse">
            <a:avLst/>
          </a:prstGeom>
          <a:solidFill>
            <a:srgbClr val="5EC9E6"/>
          </a:solidFill>
          <a:ln w="12700">
            <a:solidFill>
              <a:srgbClr val="5EC9E6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417320" y="7253478"/>
            <a:ext cx="100584" cy="100584"/>
          </a:xfrm>
          <a:prstGeom prst="ellipse">
            <a:avLst/>
          </a:prstGeom>
          <a:solidFill>
            <a:srgbClr val="5EC9E6"/>
          </a:solidFill>
          <a:ln w="12700">
            <a:solidFill>
              <a:srgbClr val="5EC9E6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417320" y="7386066"/>
            <a:ext cx="100584" cy="100584"/>
          </a:xfrm>
          <a:prstGeom prst="ellipse">
            <a:avLst/>
          </a:prstGeom>
          <a:solidFill>
            <a:srgbClr val="5EC9E6"/>
          </a:solidFill>
          <a:ln w="12700">
            <a:solidFill>
              <a:srgbClr val="5EC9E6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1417320" y="7518654"/>
            <a:ext cx="100584" cy="100584"/>
          </a:xfrm>
          <a:prstGeom prst="ellipse">
            <a:avLst/>
          </a:prstGeom>
          <a:solidFill>
            <a:srgbClr val="5EC9E6"/>
          </a:solidFill>
          <a:ln w="12700">
            <a:solidFill>
              <a:srgbClr val="5EC9E6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897380" y="714298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897380" y="731977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897380" y="749655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5" name="高保真几何表征  ×  快速三维场预测"/>
          <p:cNvSpPr/>
          <p:nvPr/>
        </p:nvSpPr>
        <p:spPr>
          <a:xfrm>
            <a:off x="2331720" y="702259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高保真几何表征  ×  快速三维场预测</a:t>
            </a:r>
            <a:endParaRPr lang="en-US" sz="2700" dirty="0"/>
          </a:p>
        </p:txBody>
      </p:sp>
      <p:sp>
        <p:nvSpPr>
          <p:cNvPr id="226" name="自主智能建模，支撑太赫兹器件高效设计"/>
          <p:cNvSpPr/>
          <p:nvPr/>
        </p:nvSpPr>
        <p:spPr>
          <a:xfrm>
            <a:off x="2340864" y="74615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6DF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自主智能建模，支撑太赫兹器件高效设计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图一：精细几何，牵动太赫兹全场响应</dc:title>
  <dc:subject>太赫兹器件电磁建模需求；依据2026年10月22日申请书最新稿</dc:subject>
  <dc:creator>Research Figure</dc:creator>
  <cp:lastModifiedBy>Research Figure</cp:lastModifiedBy>
  <cp:revision>1</cp:revision>
  <dcterms:created xsi:type="dcterms:W3CDTF">2026-10-22T13:17:22Z</dcterms:created>
  <dcterms:modified xsi:type="dcterms:W3CDTF">2026-10-22T13:17:22Z</dcterms:modified>
</cp:coreProperties>
</file>