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本页范围：[0048]、[0052]、[0055]
内容依据本轮上传《太赫兹国重申请书-汇总-10-22.docx》，SHA256: 15d8ce5a779f0d1df8fd64349a37fbcf44769be8e36d077b24ab54c103c6b70c。
本页仅讲应用背景、领域研究积累与研发任务，不出现方法分类、优劣或挑战。[0048]支撑应用、精细器件、三维场与性能/结构设计关系；[0055]首段说明国内外已有大量建模研究；[0052]支撑快速设计与自主工具的需求导向，不表述为已经实现的领域能力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本页范围：[0059]–[0070]
内容依据本轮上传《太赫兹国重申请书-汇总-10-22.docx》，SHA256: 15d8ce5a779f0d1df8fd64349a37fbcf44769be8e36d077b24ab54c103c6b70c。
本页只介绍2.1、2.2、2.3的方法原理、代表形式、输入与输出，不列优势、弊端或未来挑战。原文参考文献分组：[3]–[5]对应全波仿真，[6]–[17]对应电磁响应建模，[18]–[30]对应神经算子及其变体。没有使用文献性能数字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本页范围：[0069]–[0076]
内容依据本轮上传《太赫兹国重申请书-汇总-10-22.docx》，SHA256: 15d8ce5a779f0d1df8fd64349a37fbcf44769be8e36d077b24ab54c103c6b70c。
本页仅集中呈现2.4及其前文的三个科学挑战，不重复2.1—2.3的方法分类和优劣对照。第一项对应[0069]、[0074]的尺度/方向/位置与边界交汇信息；第二项对应[0070]、[0075]的几何测度与算子匹配、麦克斯韦物理约束及三维场；第三项对应[0071]、[0076]的跨频率/跨构型、小样本适配和多器件应用。第5页仍保留本项目实现接口的技术难点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本页范围：[0112]–[0117]；总体支撑语依据[0052]、[0296]
内容依据本轮上传《太赫兹国重申请书-汇总-10-22.docx》，SHA256: 15d8ce5a779f0d1df8fd64349a37fbcf44769be8e36d077b24ab54c103c6b70c。
三项目标完全依“二、研究目标”进行能力化概括，不加入第四章定量考核指标，不表述为已经实现的成果。整体自主工具与高效设计支撑参见需求分析[0052]及工具集成[0296]。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本页范围：[0126]、[0144]、[0174]、[0178]、[0199]–[0220]、[0256]、[0262]–[0269]、[0274]–[0307]
内容依据本轮上传《太赫兹国重申请书-汇总-10-22.docx》，SHA256: 15d8ce5a779f0d1df8fd64349a37fbcf44769be8e36d077b24ab54c103c6b70c。
本页是承上启下的目标实现难点，不重复第3页的研究现状，也不代做用户已有的研究内容部分。第一行来源于真实物理边界提取及统一几何编码；第二行来源于几何方向、变系数算子计算开销、FFT效率及物理约束协同；第三行来源于色散/电导率/耦合导致频率伸缩偏差、不同拓扑/端口构型对齐与物理一致的增强样本。未展开23通道、六方向分解、MAML内外循环等技术细节。
版式参考用户提供的“1.1立项依据与研究现状”截图。上传《广州大学-张珍TZ4.pptx》超过当前文件传输工具32MiB限制，未读取或套用其母版。页眉“广州大学”为文字标识，并非新建或冒用官方校徽。
图形为原生可编辑概念示意，应用场景资产复用此前生成的独立科研概念图，不是实测或仿真结果。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1 研究背景及现状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1.1 研究背景及现状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需求分析；研究现状首段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资料依据：需求分析；研究现状首段</a:t>
            </a:r>
            <a:endParaRPr lang="en-US" sz="850" dirty="0"/>
          </a:p>
        </p:txBody>
      </p:sp>
      <p:sp>
        <p:nvSpPr>
          <p:cNvPr id="7" name="1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1115568"/>
            <a:ext cx="11301984" cy="621792"/>
          </a:xfrm>
          <a:prstGeom prst="rect">
            <a:avLst/>
          </a:prstGeom>
          <a:solidFill>
            <a:srgbClr val="FAFCFE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32688"/>
            <a:ext cx="1527048" cy="365760"/>
          </a:xfrm>
          <a:custGeom>
            <a:avLst/>
            <a:gdLst/>
            <a:ahLst/>
            <a:cxnLst/>
            <a:rect l="l" t="t" r="r" b="b"/>
            <a:pathLst>
              <a:path w="1527048" h="365760">
                <a:moveTo>
                  <a:pt x="0" y="0"/>
                </a:moveTo>
                <a:lnTo>
                  <a:pt x="1527048" y="0"/>
                </a:lnTo>
                <a:lnTo>
                  <a:pt x="141732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11" name="研究背景"/>
          <p:cNvSpPr/>
          <p:nvPr/>
        </p:nvSpPr>
        <p:spPr>
          <a:xfrm>
            <a:off x="475488" y="946404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</a:t>
            </a:r>
            <a:endParaRPr lang="en-US" sz="2000" dirty="0"/>
          </a:p>
        </p:txBody>
      </p:sp>
      <p:sp>
        <p:nvSpPr>
          <p:cNvPr id="12" name="原生富文本"/>
          <p:cNvSpPr/>
          <p:nvPr/>
        </p:nvSpPr>
        <p:spPr>
          <a:xfrm>
            <a:off x="694944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太赫兹应用牵引 </a:t>
            </a:r>
            <a:pPr algn="ctr" indent="0" marL="0">
              <a:buNone/>
            </a:pPr>
            <a:r>
              <a:rPr lang="en-US" sz="20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高性能、多功能器件</a:t>
            </a:r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研发，电磁场建模支撑 </a:t>
            </a:r>
            <a:pPr algn="ctr" indent="0" marL="0">
              <a:buNone/>
            </a:pPr>
            <a:r>
              <a:rPr lang="en-US" sz="20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机理分析与结构设计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393192" y="1920240"/>
            <a:ext cx="11402568" cy="2130552"/>
          </a:xfrm>
          <a:prstGeom prst="rect">
            <a:avLst/>
          </a:prstGeom>
          <a:solidFill>
            <a:srgbClr val="F7FAFD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" y="2039112"/>
            <a:ext cx="2834640" cy="393192"/>
          </a:xfrm>
          <a:prstGeom prst="rect">
            <a:avLst/>
          </a:prstGeom>
          <a:solidFill>
            <a:srgbClr val="EAF2F9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15" name="应用牵引"/>
          <p:cNvSpPr/>
          <p:nvPr/>
        </p:nvSpPr>
        <p:spPr>
          <a:xfrm>
            <a:off x="630936" y="20711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应用牵引</a:t>
            </a:r>
            <a:endParaRPr lang="en-US" sz="1900" dirty="0"/>
          </a:p>
        </p:txBody>
      </p:sp>
      <p:pic>
        <p:nvPicPr>
          <p:cNvPr id="16" name="高速通信应用概念图" descr="高速通信应用概念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" y="2551176"/>
            <a:ext cx="617220" cy="411480"/>
          </a:xfrm>
          <a:prstGeom prst="rect">
            <a:avLst/>
          </a:prstGeom>
        </p:spPr>
      </p:pic>
      <p:sp>
        <p:nvSpPr>
          <p:cNvPr id="17" name="高速通信"/>
          <p:cNvSpPr/>
          <p:nvPr/>
        </p:nvSpPr>
        <p:spPr>
          <a:xfrm>
            <a:off x="548640" y="294436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高速通信</a:t>
            </a:r>
            <a:endParaRPr lang="en-US" sz="1550" dirty="0"/>
          </a:p>
        </p:txBody>
      </p:sp>
      <p:pic>
        <p:nvPicPr>
          <p:cNvPr id="18" name="安检成像应用概念图" descr="安检成像应用概念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558" y="2551176"/>
            <a:ext cx="617220" cy="411480"/>
          </a:xfrm>
          <a:prstGeom prst="rect">
            <a:avLst/>
          </a:prstGeom>
        </p:spPr>
      </p:pic>
      <p:sp>
        <p:nvSpPr>
          <p:cNvPr id="19" name="安检成像"/>
          <p:cNvSpPr/>
          <p:nvPr/>
        </p:nvSpPr>
        <p:spPr>
          <a:xfrm>
            <a:off x="1883664" y="294436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安检成像</a:t>
            </a:r>
            <a:endParaRPr lang="en-US" sz="1550" dirty="0"/>
          </a:p>
        </p:txBody>
      </p:sp>
      <p:pic>
        <p:nvPicPr>
          <p:cNvPr id="20" name="生物传感应用概念图" descr="生物传感应用概念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" y="3191256"/>
            <a:ext cx="617220" cy="411480"/>
          </a:xfrm>
          <a:prstGeom prst="rect">
            <a:avLst/>
          </a:prstGeom>
        </p:spPr>
      </p:pic>
      <p:sp>
        <p:nvSpPr>
          <p:cNvPr id="21" name="生物传感"/>
          <p:cNvSpPr/>
          <p:nvPr/>
        </p:nvSpPr>
        <p:spPr>
          <a:xfrm>
            <a:off x="548640" y="358444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生物传感</a:t>
            </a:r>
            <a:endParaRPr lang="en-US" sz="1550" dirty="0"/>
          </a:p>
        </p:txBody>
      </p:sp>
      <p:pic>
        <p:nvPicPr>
          <p:cNvPr id="22" name="物质识别应用概念图" descr="物质识别应用概念图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558" y="3191256"/>
            <a:ext cx="617220" cy="411480"/>
          </a:xfrm>
          <a:prstGeom prst="rect">
            <a:avLst/>
          </a:prstGeom>
        </p:spPr>
      </p:pic>
      <p:sp>
        <p:nvSpPr>
          <p:cNvPr id="23" name="物质识别"/>
          <p:cNvSpPr/>
          <p:nvPr/>
        </p:nvSpPr>
        <p:spPr>
          <a:xfrm>
            <a:off x="1883664" y="3584448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物质识别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3447288" y="3054096"/>
            <a:ext cx="347472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5" name="亚波长太赫兹器件"/>
          <p:cNvSpPr/>
          <p:nvPr/>
        </p:nvSpPr>
        <p:spPr>
          <a:xfrm>
            <a:off x="3813048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亚波长太赫兹器件</a:t>
            </a:r>
            <a:endParaRPr lang="en-US" sz="2050" dirty="0"/>
          </a:p>
        </p:txBody>
      </p:sp>
      <p:pic>
        <p:nvPicPr>
          <p:cNvPr id="26" name="薄膜与狭缝构成的亚波长器件概念图" descr="薄膜与狭缝构成的亚波长器件概念图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072" y="2423160"/>
            <a:ext cx="1621536" cy="1216152"/>
          </a:xfrm>
          <a:prstGeom prst="rect">
            <a:avLst/>
          </a:prstGeom>
        </p:spPr>
      </p:pic>
      <p:sp>
        <p:nvSpPr>
          <p:cNvPr id="27" name="薄膜 · 狭缝 · 复杂边界"/>
          <p:cNvSpPr/>
          <p:nvPr/>
        </p:nvSpPr>
        <p:spPr>
          <a:xfrm>
            <a:off x="3840480" y="3675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薄膜 · 狭缝 · 复杂边界</a:t>
            </a:r>
            <a:endParaRPr lang="en-US" sz="1700" dirty="0"/>
          </a:p>
        </p:txBody>
      </p:sp>
      <p:sp>
        <p:nvSpPr>
          <p:cNvPr id="28" name="Shape 21"/>
          <p:cNvSpPr/>
          <p:nvPr/>
        </p:nvSpPr>
        <p:spPr>
          <a:xfrm>
            <a:off x="7324344" y="3054096"/>
            <a:ext cx="38404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9" name="三维场决定器件响应"/>
          <p:cNvSpPr/>
          <p:nvPr/>
        </p:nvSpPr>
        <p:spPr>
          <a:xfrm>
            <a:off x="7763256" y="207568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三维场决定器件响应</a:t>
            </a:r>
            <a:endParaRPr lang="en-US" sz="2050" dirty="0"/>
          </a:p>
        </p:txBody>
      </p:sp>
      <p:sp>
        <p:nvSpPr>
          <p:cNvPr id="30" name="Shape 23"/>
          <p:cNvSpPr/>
          <p:nvPr/>
        </p:nvSpPr>
        <p:spPr>
          <a:xfrm>
            <a:off x="8270291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15554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60816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406079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451342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496605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410194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55457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500720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545982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8591245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8636508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8550097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8595360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8640623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685886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731148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8776411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8690000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8735263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8780526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8825789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8871052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916314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8829904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8875166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920429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8965692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9010955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9056218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8969807" y="3397569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9015070" y="3367455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9060332" y="3337341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9105595" y="3307226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9150858" y="3277112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9196121" y="3246998"/>
            <a:ext cx="185166" cy="30114"/>
          </a:xfrm>
          <a:custGeom>
            <a:avLst/>
            <a:gdLst/>
            <a:ahLst/>
            <a:cxnLst/>
            <a:rect l="l" t="t" r="r" b="b"/>
            <a:pathLst>
              <a:path w="185166" h="30114">
                <a:moveTo>
                  <a:pt x="0" y="30114"/>
                </a:moveTo>
                <a:lnTo>
                  <a:pt x="139903" y="30114"/>
                </a:lnTo>
                <a:lnTo>
                  <a:pt x="185166" y="0"/>
                </a:lnTo>
                <a:lnTo>
                  <a:pt x="45263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66" name="Shape 59"/>
          <p:cNvSpPr/>
          <p:nvPr/>
        </p:nvSpPr>
        <p:spPr>
          <a:xfrm>
            <a:off x="8419658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67" name="Shape 60"/>
          <p:cNvSpPr/>
          <p:nvPr/>
        </p:nvSpPr>
        <p:spPr>
          <a:xfrm>
            <a:off x="8419658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8419658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8419658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70" name="Shape 63"/>
          <p:cNvSpPr/>
          <p:nvPr/>
        </p:nvSpPr>
        <p:spPr>
          <a:xfrm>
            <a:off x="8419658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71" name="Shape 64"/>
          <p:cNvSpPr/>
          <p:nvPr/>
        </p:nvSpPr>
        <p:spPr>
          <a:xfrm>
            <a:off x="8419658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72" name="Shape 65"/>
          <p:cNvSpPr/>
          <p:nvPr/>
        </p:nvSpPr>
        <p:spPr>
          <a:xfrm>
            <a:off x="8559561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8559561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8559561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75" name="Shape 68"/>
          <p:cNvSpPr/>
          <p:nvPr/>
        </p:nvSpPr>
        <p:spPr>
          <a:xfrm>
            <a:off x="8559561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76" name="Shape 69"/>
          <p:cNvSpPr/>
          <p:nvPr/>
        </p:nvSpPr>
        <p:spPr>
          <a:xfrm>
            <a:off x="8559561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8559561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78" name="Shape 71"/>
          <p:cNvSpPr/>
          <p:nvPr/>
        </p:nvSpPr>
        <p:spPr>
          <a:xfrm>
            <a:off x="8699464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79" name="Shape 72"/>
          <p:cNvSpPr/>
          <p:nvPr/>
        </p:nvSpPr>
        <p:spPr>
          <a:xfrm>
            <a:off x="8699464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80" name="Shape 73"/>
          <p:cNvSpPr/>
          <p:nvPr/>
        </p:nvSpPr>
        <p:spPr>
          <a:xfrm>
            <a:off x="8699464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81" name="Shape 74"/>
          <p:cNvSpPr/>
          <p:nvPr/>
        </p:nvSpPr>
        <p:spPr>
          <a:xfrm>
            <a:off x="8699464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82" name="Shape 75"/>
          <p:cNvSpPr/>
          <p:nvPr/>
        </p:nvSpPr>
        <p:spPr>
          <a:xfrm>
            <a:off x="8699464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83" name="Shape 76"/>
          <p:cNvSpPr/>
          <p:nvPr/>
        </p:nvSpPr>
        <p:spPr>
          <a:xfrm>
            <a:off x="8699464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8839368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85" name="Shape 78"/>
          <p:cNvSpPr/>
          <p:nvPr/>
        </p:nvSpPr>
        <p:spPr>
          <a:xfrm>
            <a:off x="8839368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8839368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8839368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8839368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89" name="Shape 82"/>
          <p:cNvSpPr/>
          <p:nvPr/>
        </p:nvSpPr>
        <p:spPr>
          <a:xfrm>
            <a:off x="8839368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8979271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91" name="Shape 84"/>
          <p:cNvSpPr/>
          <p:nvPr/>
        </p:nvSpPr>
        <p:spPr>
          <a:xfrm>
            <a:off x="8979271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8979271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93" name="Shape 86"/>
          <p:cNvSpPr/>
          <p:nvPr/>
        </p:nvSpPr>
        <p:spPr>
          <a:xfrm>
            <a:off x="8979271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8979271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95" name="Shape 88"/>
          <p:cNvSpPr/>
          <p:nvPr/>
        </p:nvSpPr>
        <p:spPr>
          <a:xfrm>
            <a:off x="8979271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96" name="Shape 89"/>
          <p:cNvSpPr/>
          <p:nvPr/>
        </p:nvSpPr>
        <p:spPr>
          <a:xfrm>
            <a:off x="9119174" y="3286463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97" name="Shape 90"/>
          <p:cNvSpPr/>
          <p:nvPr/>
        </p:nvSpPr>
        <p:spPr>
          <a:xfrm>
            <a:off x="9119174" y="3181856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9119174" y="3077249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99" name="Shape 92"/>
          <p:cNvSpPr/>
          <p:nvPr/>
        </p:nvSpPr>
        <p:spPr>
          <a:xfrm>
            <a:off x="9119174" y="2972641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00" name="Shape 93"/>
          <p:cNvSpPr/>
          <p:nvPr/>
        </p:nvSpPr>
        <p:spPr>
          <a:xfrm>
            <a:off x="9119174" y="2868034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9119174" y="2763427"/>
            <a:ext cx="139903" cy="104607"/>
          </a:xfrm>
          <a:custGeom>
            <a:avLst/>
            <a:gdLst/>
            <a:ahLst/>
            <a:cxnLst/>
            <a:rect l="l" t="t" r="r" b="b"/>
            <a:pathLst>
              <a:path w="139903" h="104607">
                <a:moveTo>
                  <a:pt x="0" y="104607"/>
                </a:moveTo>
                <a:lnTo>
                  <a:pt x="139903" y="104607"/>
                </a:lnTo>
                <a:lnTo>
                  <a:pt x="13990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8740366" y="3355726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8740366" y="325111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04" name="Shape 97"/>
          <p:cNvSpPr/>
          <p:nvPr/>
        </p:nvSpPr>
        <p:spPr>
          <a:xfrm>
            <a:off x="8740366" y="3146511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05" name="Shape 98"/>
          <p:cNvSpPr/>
          <p:nvPr/>
        </p:nvSpPr>
        <p:spPr>
          <a:xfrm>
            <a:off x="8740366" y="304190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8740366" y="293729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07" name="Shape 100"/>
          <p:cNvSpPr/>
          <p:nvPr/>
        </p:nvSpPr>
        <p:spPr>
          <a:xfrm>
            <a:off x="8740366" y="283268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08" name="Shape 101"/>
          <p:cNvSpPr/>
          <p:nvPr/>
        </p:nvSpPr>
        <p:spPr>
          <a:xfrm>
            <a:off x="8785628" y="332561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8785628" y="322100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10" name="Shape 103"/>
          <p:cNvSpPr/>
          <p:nvPr/>
        </p:nvSpPr>
        <p:spPr>
          <a:xfrm>
            <a:off x="8785628" y="311639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11" name="Shape 104"/>
          <p:cNvSpPr/>
          <p:nvPr/>
        </p:nvSpPr>
        <p:spPr>
          <a:xfrm>
            <a:off x="8785628" y="301179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8785628" y="290718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13" name="Shape 106"/>
          <p:cNvSpPr/>
          <p:nvPr/>
        </p:nvSpPr>
        <p:spPr>
          <a:xfrm>
            <a:off x="8785628" y="2802575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14" name="Shape 107"/>
          <p:cNvSpPr/>
          <p:nvPr/>
        </p:nvSpPr>
        <p:spPr>
          <a:xfrm>
            <a:off x="8830891" y="329549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8830891" y="319089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16" name="Shape 109"/>
          <p:cNvSpPr/>
          <p:nvPr/>
        </p:nvSpPr>
        <p:spPr>
          <a:xfrm>
            <a:off x="8830891" y="3086283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17" name="Shape 110"/>
          <p:cNvSpPr/>
          <p:nvPr/>
        </p:nvSpPr>
        <p:spPr>
          <a:xfrm>
            <a:off x="8830891" y="2981676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8830891" y="287706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19" name="Shape 112"/>
          <p:cNvSpPr/>
          <p:nvPr/>
        </p:nvSpPr>
        <p:spPr>
          <a:xfrm>
            <a:off x="8830891" y="2772461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20" name="Shape 113"/>
          <p:cNvSpPr/>
          <p:nvPr/>
        </p:nvSpPr>
        <p:spPr>
          <a:xfrm>
            <a:off x="8876154" y="3265383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8876154" y="3160776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22" name="Shape 115"/>
          <p:cNvSpPr/>
          <p:nvPr/>
        </p:nvSpPr>
        <p:spPr>
          <a:xfrm>
            <a:off x="8876154" y="305616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23" name="Shape 116"/>
          <p:cNvSpPr/>
          <p:nvPr/>
        </p:nvSpPr>
        <p:spPr>
          <a:xfrm>
            <a:off x="8876154" y="2951561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8876154" y="284695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25" name="Shape 118"/>
          <p:cNvSpPr/>
          <p:nvPr/>
        </p:nvSpPr>
        <p:spPr>
          <a:xfrm>
            <a:off x="8876154" y="274234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26" name="Shape 119"/>
          <p:cNvSpPr/>
          <p:nvPr/>
        </p:nvSpPr>
        <p:spPr>
          <a:xfrm>
            <a:off x="8921417" y="3235269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27" name="Shape 120"/>
          <p:cNvSpPr/>
          <p:nvPr/>
        </p:nvSpPr>
        <p:spPr>
          <a:xfrm>
            <a:off x="8921417" y="313066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28" name="Shape 121"/>
          <p:cNvSpPr/>
          <p:nvPr/>
        </p:nvSpPr>
        <p:spPr>
          <a:xfrm>
            <a:off x="8921417" y="3026054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29" name="Shape 122"/>
          <p:cNvSpPr/>
          <p:nvPr/>
        </p:nvSpPr>
        <p:spPr>
          <a:xfrm>
            <a:off x="8921417" y="2921447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30" name="Shape 123"/>
          <p:cNvSpPr/>
          <p:nvPr/>
        </p:nvSpPr>
        <p:spPr>
          <a:xfrm>
            <a:off x="8921417" y="281684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31" name="Shape 124"/>
          <p:cNvSpPr/>
          <p:nvPr/>
        </p:nvSpPr>
        <p:spPr>
          <a:xfrm>
            <a:off x="8921417" y="2712232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32" name="Shape 125"/>
          <p:cNvSpPr/>
          <p:nvPr/>
        </p:nvSpPr>
        <p:spPr>
          <a:xfrm>
            <a:off x="8966680" y="3205155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33" name="Shape 126"/>
          <p:cNvSpPr/>
          <p:nvPr/>
        </p:nvSpPr>
        <p:spPr>
          <a:xfrm>
            <a:off x="8966680" y="310054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34" name="Shape 127"/>
          <p:cNvSpPr/>
          <p:nvPr/>
        </p:nvSpPr>
        <p:spPr>
          <a:xfrm>
            <a:off x="8966680" y="2995940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35" name="Shape 128"/>
          <p:cNvSpPr/>
          <p:nvPr/>
        </p:nvSpPr>
        <p:spPr>
          <a:xfrm>
            <a:off x="8966680" y="2891333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36" name="Shape 129"/>
          <p:cNvSpPr/>
          <p:nvPr/>
        </p:nvSpPr>
        <p:spPr>
          <a:xfrm>
            <a:off x="8966680" y="2786725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37" name="Shape 130"/>
          <p:cNvSpPr/>
          <p:nvPr/>
        </p:nvSpPr>
        <p:spPr>
          <a:xfrm>
            <a:off x="8966680" y="2682118"/>
            <a:ext cx="45263" cy="134722"/>
          </a:xfrm>
          <a:custGeom>
            <a:avLst/>
            <a:gdLst/>
            <a:ahLst/>
            <a:cxnLst/>
            <a:rect l="l" t="t" r="r" b="b"/>
            <a:pathLst>
              <a:path w="45263" h="134722">
                <a:moveTo>
                  <a:pt x="0" y="134722"/>
                </a:moveTo>
                <a:lnTo>
                  <a:pt x="45263" y="104607"/>
                </a:lnTo>
                <a:lnTo>
                  <a:pt x="45263" y="0"/>
                </a:lnTo>
                <a:lnTo>
                  <a:pt x="0" y="30114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38" name="Shape 131"/>
          <p:cNvSpPr/>
          <p:nvPr/>
        </p:nvSpPr>
        <p:spPr>
          <a:xfrm>
            <a:off x="8270291" y="3490448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39" name="Shape 132"/>
          <p:cNvSpPr/>
          <p:nvPr/>
        </p:nvSpPr>
        <p:spPr>
          <a:xfrm flipV="1">
            <a:off x="9109710" y="3309762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0" name="Shape 133"/>
          <p:cNvSpPr/>
          <p:nvPr/>
        </p:nvSpPr>
        <p:spPr>
          <a:xfrm>
            <a:off x="8541868" y="3309762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1" name="Shape 134"/>
          <p:cNvSpPr/>
          <p:nvPr/>
        </p:nvSpPr>
        <p:spPr>
          <a:xfrm flipV="1">
            <a:off x="8270291" y="3309762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2" name="Shape 135"/>
          <p:cNvSpPr/>
          <p:nvPr/>
        </p:nvSpPr>
        <p:spPr>
          <a:xfrm>
            <a:off x="8270291" y="2862804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3" name="Shape 136"/>
          <p:cNvSpPr/>
          <p:nvPr/>
        </p:nvSpPr>
        <p:spPr>
          <a:xfrm flipV="1">
            <a:off x="9109710" y="2682118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4" name="Shape 137"/>
          <p:cNvSpPr/>
          <p:nvPr/>
        </p:nvSpPr>
        <p:spPr>
          <a:xfrm>
            <a:off x="8541868" y="2682118"/>
            <a:ext cx="839419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5" name="Shape 138"/>
          <p:cNvSpPr/>
          <p:nvPr/>
        </p:nvSpPr>
        <p:spPr>
          <a:xfrm flipV="1">
            <a:off x="8270291" y="2682118"/>
            <a:ext cx="271577" cy="18068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6" name="Shape 139"/>
          <p:cNvSpPr/>
          <p:nvPr/>
        </p:nvSpPr>
        <p:spPr>
          <a:xfrm>
            <a:off x="8270291" y="2862804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7" name="Shape 140"/>
          <p:cNvSpPr/>
          <p:nvPr/>
        </p:nvSpPr>
        <p:spPr>
          <a:xfrm>
            <a:off x="9109710" y="2862804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8" name="Shape 141"/>
          <p:cNvSpPr/>
          <p:nvPr/>
        </p:nvSpPr>
        <p:spPr>
          <a:xfrm>
            <a:off x="9381287" y="2682118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49" name="Shape 142"/>
          <p:cNvSpPr/>
          <p:nvPr/>
        </p:nvSpPr>
        <p:spPr>
          <a:xfrm>
            <a:off x="8541868" y="2682118"/>
            <a:ext cx="914" cy="62764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0" name="Shape 143"/>
          <p:cNvSpPr/>
          <p:nvPr/>
        </p:nvSpPr>
        <p:spPr>
          <a:xfrm>
            <a:off x="8508482" y="3223223"/>
            <a:ext cx="86220" cy="65811"/>
          </a:xfrm>
          <a:custGeom>
            <a:avLst/>
            <a:gdLst/>
            <a:ahLst/>
            <a:cxnLst/>
            <a:rect l="l" t="t" r="r" b="b"/>
            <a:pathLst>
              <a:path w="86220" h="65811">
                <a:moveTo>
                  <a:pt x="4556" y="65811"/>
                </a:moveTo>
                <a:lnTo>
                  <a:pt x="61841" y="22978"/>
                </a:lnTo>
                <a:lnTo>
                  <a:pt x="69244" y="32879"/>
                </a:lnTo>
                <a:lnTo>
                  <a:pt x="86220" y="0"/>
                </a:lnTo>
                <a:lnTo>
                  <a:pt x="49882" y="6984"/>
                </a:lnTo>
                <a:lnTo>
                  <a:pt x="57285" y="16885"/>
                </a:lnTo>
                <a:lnTo>
                  <a:pt x="0" y="5971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Shape 144"/>
          <p:cNvSpPr/>
          <p:nvPr/>
        </p:nvSpPr>
        <p:spPr>
          <a:xfrm>
            <a:off x="8684760" y="3122800"/>
            <a:ext cx="86220" cy="65811"/>
          </a:xfrm>
          <a:custGeom>
            <a:avLst/>
            <a:gdLst/>
            <a:ahLst/>
            <a:cxnLst/>
            <a:rect l="l" t="t" r="r" b="b"/>
            <a:pathLst>
              <a:path w="86220" h="65811">
                <a:moveTo>
                  <a:pt x="4556" y="65811"/>
                </a:moveTo>
                <a:lnTo>
                  <a:pt x="61841" y="22978"/>
                </a:lnTo>
                <a:lnTo>
                  <a:pt x="69244" y="32879"/>
                </a:lnTo>
                <a:lnTo>
                  <a:pt x="86220" y="0"/>
                </a:lnTo>
                <a:lnTo>
                  <a:pt x="49882" y="6984"/>
                </a:lnTo>
                <a:lnTo>
                  <a:pt x="57285" y="16885"/>
                </a:lnTo>
                <a:lnTo>
                  <a:pt x="0" y="5971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2" name="Shape 145"/>
          <p:cNvSpPr/>
          <p:nvPr/>
        </p:nvSpPr>
        <p:spPr>
          <a:xfrm>
            <a:off x="8861038" y="3041207"/>
            <a:ext cx="86220" cy="65811"/>
          </a:xfrm>
          <a:custGeom>
            <a:avLst/>
            <a:gdLst/>
            <a:ahLst/>
            <a:cxnLst/>
            <a:rect l="l" t="t" r="r" b="b"/>
            <a:pathLst>
              <a:path w="86220" h="65811">
                <a:moveTo>
                  <a:pt x="4556" y="65811"/>
                </a:moveTo>
                <a:lnTo>
                  <a:pt x="61841" y="22978"/>
                </a:lnTo>
                <a:lnTo>
                  <a:pt x="69244" y="32879"/>
                </a:lnTo>
                <a:lnTo>
                  <a:pt x="86220" y="0"/>
                </a:lnTo>
                <a:lnTo>
                  <a:pt x="49882" y="6984"/>
                </a:lnTo>
                <a:lnTo>
                  <a:pt x="57285" y="16885"/>
                </a:lnTo>
                <a:lnTo>
                  <a:pt x="0" y="5971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3" name="Shape 146"/>
          <p:cNvSpPr/>
          <p:nvPr/>
        </p:nvSpPr>
        <p:spPr>
          <a:xfrm>
            <a:off x="9991649" y="2659075"/>
            <a:ext cx="914" cy="637337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54" name="Shape 147"/>
          <p:cNvSpPr/>
          <p:nvPr/>
        </p:nvSpPr>
        <p:spPr>
          <a:xfrm>
            <a:off x="9991649" y="3296412"/>
            <a:ext cx="1102401" cy="914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55" name="Shape 148"/>
          <p:cNvSpPr/>
          <p:nvPr/>
        </p:nvSpPr>
        <p:spPr>
          <a:xfrm>
            <a:off x="9991649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6" name="Shape 149"/>
          <p:cNvSpPr/>
          <p:nvPr/>
        </p:nvSpPr>
        <p:spPr>
          <a:xfrm>
            <a:off x="10011692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7" name="Shape 150"/>
          <p:cNvSpPr/>
          <p:nvPr/>
        </p:nvSpPr>
        <p:spPr>
          <a:xfrm>
            <a:off x="10031736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8" name="Shape 151"/>
          <p:cNvSpPr/>
          <p:nvPr/>
        </p:nvSpPr>
        <p:spPr>
          <a:xfrm>
            <a:off x="10051780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9" name="Shape 152"/>
          <p:cNvSpPr/>
          <p:nvPr/>
        </p:nvSpPr>
        <p:spPr>
          <a:xfrm>
            <a:off x="10071823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0" name="Shape 153"/>
          <p:cNvSpPr/>
          <p:nvPr/>
        </p:nvSpPr>
        <p:spPr>
          <a:xfrm>
            <a:off x="10091867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1" name="Shape 154"/>
          <p:cNvSpPr/>
          <p:nvPr/>
        </p:nvSpPr>
        <p:spPr>
          <a:xfrm>
            <a:off x="10111911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2" name="Shape 155"/>
          <p:cNvSpPr/>
          <p:nvPr/>
        </p:nvSpPr>
        <p:spPr>
          <a:xfrm>
            <a:off x="10131954" y="2775661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3" name="Shape 156"/>
          <p:cNvSpPr/>
          <p:nvPr/>
        </p:nvSpPr>
        <p:spPr>
          <a:xfrm>
            <a:off x="10151998" y="2775662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4" name="Shape 157"/>
          <p:cNvSpPr/>
          <p:nvPr/>
        </p:nvSpPr>
        <p:spPr>
          <a:xfrm>
            <a:off x="10172042" y="2775664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5" name="Shape 158"/>
          <p:cNvSpPr/>
          <p:nvPr/>
        </p:nvSpPr>
        <p:spPr>
          <a:xfrm>
            <a:off x="10192085" y="2775677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6" name="Shape 159"/>
          <p:cNvSpPr/>
          <p:nvPr/>
        </p:nvSpPr>
        <p:spPr>
          <a:xfrm>
            <a:off x="10212129" y="2775747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7" name="Shape 160"/>
          <p:cNvSpPr/>
          <p:nvPr/>
        </p:nvSpPr>
        <p:spPr>
          <a:xfrm>
            <a:off x="10232173" y="2776070"/>
            <a:ext cx="20044" cy="125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8" name="Shape 161"/>
          <p:cNvSpPr/>
          <p:nvPr/>
        </p:nvSpPr>
        <p:spPr>
          <a:xfrm>
            <a:off x="10252216" y="2777321"/>
            <a:ext cx="20044" cy="410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9" name="Shape 162"/>
          <p:cNvSpPr/>
          <p:nvPr/>
        </p:nvSpPr>
        <p:spPr>
          <a:xfrm>
            <a:off x="10272260" y="2781421"/>
            <a:ext cx="20044" cy="1133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0" name="Shape 163"/>
          <p:cNvSpPr/>
          <p:nvPr/>
        </p:nvSpPr>
        <p:spPr>
          <a:xfrm>
            <a:off x="10292304" y="2792751"/>
            <a:ext cx="20044" cy="2627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1" name="Shape 164"/>
          <p:cNvSpPr/>
          <p:nvPr/>
        </p:nvSpPr>
        <p:spPr>
          <a:xfrm>
            <a:off x="10312347" y="2819024"/>
            <a:ext cx="20044" cy="5072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2" name="Shape 165"/>
          <p:cNvSpPr/>
          <p:nvPr/>
        </p:nvSpPr>
        <p:spPr>
          <a:xfrm>
            <a:off x="10332391" y="2869748"/>
            <a:ext cx="20044" cy="8048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3" name="Shape 166"/>
          <p:cNvSpPr/>
          <p:nvPr/>
        </p:nvSpPr>
        <p:spPr>
          <a:xfrm>
            <a:off x="10352434" y="2950233"/>
            <a:ext cx="20044" cy="10241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4" name="Shape 167"/>
          <p:cNvSpPr/>
          <p:nvPr/>
        </p:nvSpPr>
        <p:spPr>
          <a:xfrm>
            <a:off x="10372478" y="3052649"/>
            <a:ext cx="20044" cy="9883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5" name="Shape 168"/>
          <p:cNvSpPr/>
          <p:nvPr/>
        </p:nvSpPr>
        <p:spPr>
          <a:xfrm>
            <a:off x="10392522" y="3151486"/>
            <a:ext cx="20044" cy="6023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6" name="Shape 169"/>
          <p:cNvSpPr/>
          <p:nvPr/>
        </p:nvSpPr>
        <p:spPr>
          <a:xfrm flipV="1">
            <a:off x="10412565" y="3208325"/>
            <a:ext cx="20044" cy="339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7" name="Shape 170"/>
          <p:cNvSpPr/>
          <p:nvPr/>
        </p:nvSpPr>
        <p:spPr>
          <a:xfrm flipV="1">
            <a:off x="10432609" y="3142767"/>
            <a:ext cx="20044" cy="6555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8" name="Shape 171"/>
          <p:cNvSpPr/>
          <p:nvPr/>
        </p:nvSpPr>
        <p:spPr>
          <a:xfrm flipV="1">
            <a:off x="10452653" y="3042022"/>
            <a:ext cx="20044" cy="10074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79" name="Shape 172"/>
          <p:cNvSpPr/>
          <p:nvPr/>
        </p:nvSpPr>
        <p:spPr>
          <a:xfrm flipV="1">
            <a:off x="10472696" y="2940930"/>
            <a:ext cx="20044" cy="10109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0" name="Shape 173"/>
          <p:cNvSpPr/>
          <p:nvPr/>
        </p:nvSpPr>
        <p:spPr>
          <a:xfrm flipV="1">
            <a:off x="10492740" y="2863354"/>
            <a:ext cx="20044" cy="7757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1" name="Shape 174"/>
          <p:cNvSpPr/>
          <p:nvPr/>
        </p:nvSpPr>
        <p:spPr>
          <a:xfrm flipV="1">
            <a:off x="10512784" y="2815466"/>
            <a:ext cx="20044" cy="4788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2" name="Shape 175"/>
          <p:cNvSpPr/>
          <p:nvPr/>
        </p:nvSpPr>
        <p:spPr>
          <a:xfrm flipV="1">
            <a:off x="10532827" y="2791170"/>
            <a:ext cx="20044" cy="2429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3" name="Shape 176"/>
          <p:cNvSpPr/>
          <p:nvPr/>
        </p:nvSpPr>
        <p:spPr>
          <a:xfrm flipV="1">
            <a:off x="10552871" y="2781034"/>
            <a:ext cx="20044" cy="1013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4" name="Shape 177"/>
          <p:cNvSpPr/>
          <p:nvPr/>
        </p:nvSpPr>
        <p:spPr>
          <a:xfrm flipV="1">
            <a:off x="10572915" y="2777913"/>
            <a:ext cx="20044" cy="312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5" name="Shape 178"/>
          <p:cNvSpPr/>
          <p:nvPr/>
        </p:nvSpPr>
        <p:spPr>
          <a:xfrm>
            <a:off x="10592958" y="2777913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6" name="Shape 179"/>
          <p:cNvSpPr/>
          <p:nvPr/>
        </p:nvSpPr>
        <p:spPr>
          <a:xfrm>
            <a:off x="10613002" y="2778303"/>
            <a:ext cx="20044" cy="335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7" name="Shape 180"/>
          <p:cNvSpPr/>
          <p:nvPr/>
        </p:nvSpPr>
        <p:spPr>
          <a:xfrm>
            <a:off x="10633046" y="2781656"/>
            <a:ext cx="20044" cy="783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8" name="Shape 181"/>
          <p:cNvSpPr/>
          <p:nvPr/>
        </p:nvSpPr>
        <p:spPr>
          <a:xfrm>
            <a:off x="10653089" y="2789488"/>
            <a:ext cx="20044" cy="1523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89" name="Shape 182"/>
          <p:cNvSpPr/>
          <p:nvPr/>
        </p:nvSpPr>
        <p:spPr>
          <a:xfrm>
            <a:off x="10673133" y="2804726"/>
            <a:ext cx="20044" cy="2608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0" name="Shape 183"/>
          <p:cNvSpPr/>
          <p:nvPr/>
        </p:nvSpPr>
        <p:spPr>
          <a:xfrm>
            <a:off x="10693176" y="2830806"/>
            <a:ext cx="20044" cy="3921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1" name="Shape 184"/>
          <p:cNvSpPr/>
          <p:nvPr/>
        </p:nvSpPr>
        <p:spPr>
          <a:xfrm>
            <a:off x="10713220" y="2870025"/>
            <a:ext cx="20044" cy="5126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2" name="Shape 185"/>
          <p:cNvSpPr/>
          <p:nvPr/>
        </p:nvSpPr>
        <p:spPr>
          <a:xfrm>
            <a:off x="10733264" y="2921287"/>
            <a:ext cx="20044" cy="5705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3" name="Shape 186"/>
          <p:cNvSpPr/>
          <p:nvPr/>
        </p:nvSpPr>
        <p:spPr>
          <a:xfrm>
            <a:off x="10753307" y="2978339"/>
            <a:ext cx="20044" cy="5171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4" name="Shape 187"/>
          <p:cNvSpPr/>
          <p:nvPr/>
        </p:nvSpPr>
        <p:spPr>
          <a:xfrm>
            <a:off x="10773351" y="3030056"/>
            <a:ext cx="20044" cy="3357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5" name="Shape 188"/>
          <p:cNvSpPr/>
          <p:nvPr/>
        </p:nvSpPr>
        <p:spPr>
          <a:xfrm>
            <a:off x="10793395" y="3063631"/>
            <a:ext cx="20044" cy="601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6" name="Shape 189"/>
          <p:cNvSpPr/>
          <p:nvPr/>
        </p:nvSpPr>
        <p:spPr>
          <a:xfrm flipV="1">
            <a:off x="10813438" y="3046323"/>
            <a:ext cx="20044" cy="2331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7" name="Shape 190"/>
          <p:cNvSpPr/>
          <p:nvPr/>
        </p:nvSpPr>
        <p:spPr>
          <a:xfrm flipV="1">
            <a:off x="10833482" y="3000396"/>
            <a:ext cx="20044" cy="4592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8" name="Shape 191"/>
          <p:cNvSpPr/>
          <p:nvPr/>
        </p:nvSpPr>
        <p:spPr>
          <a:xfrm flipV="1">
            <a:off x="10853526" y="2943947"/>
            <a:ext cx="20044" cy="5644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99" name="Shape 192"/>
          <p:cNvSpPr/>
          <p:nvPr/>
        </p:nvSpPr>
        <p:spPr>
          <a:xfrm flipV="1">
            <a:off x="10873569" y="2889309"/>
            <a:ext cx="20044" cy="5463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0" name="Shape 193"/>
          <p:cNvSpPr/>
          <p:nvPr/>
        </p:nvSpPr>
        <p:spPr>
          <a:xfrm flipV="1">
            <a:off x="10893613" y="2844877"/>
            <a:ext cx="20044" cy="4443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1" name="Shape 194"/>
          <p:cNvSpPr/>
          <p:nvPr/>
        </p:nvSpPr>
        <p:spPr>
          <a:xfrm flipV="1">
            <a:off x="10913657" y="2813679"/>
            <a:ext cx="20044" cy="3119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2" name="Shape 195"/>
          <p:cNvSpPr/>
          <p:nvPr/>
        </p:nvSpPr>
        <p:spPr>
          <a:xfrm flipV="1">
            <a:off x="10933700" y="2794494"/>
            <a:ext cx="20044" cy="1918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3" name="Shape 196"/>
          <p:cNvSpPr/>
          <p:nvPr/>
        </p:nvSpPr>
        <p:spPr>
          <a:xfrm flipV="1">
            <a:off x="10953744" y="2784074"/>
            <a:ext cx="20044" cy="1041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4" name="Shape 197"/>
          <p:cNvSpPr/>
          <p:nvPr/>
        </p:nvSpPr>
        <p:spPr>
          <a:xfrm flipV="1">
            <a:off x="10973788" y="2779051"/>
            <a:ext cx="20044" cy="502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5" name="Shape 198"/>
          <p:cNvSpPr/>
          <p:nvPr/>
        </p:nvSpPr>
        <p:spPr>
          <a:xfrm flipV="1">
            <a:off x="10993831" y="2776893"/>
            <a:ext cx="20044" cy="215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6" name="Shape 199"/>
          <p:cNvSpPr/>
          <p:nvPr/>
        </p:nvSpPr>
        <p:spPr>
          <a:xfrm flipV="1">
            <a:off x="11013875" y="2776065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7" name="Shape 200"/>
          <p:cNvSpPr/>
          <p:nvPr/>
        </p:nvSpPr>
        <p:spPr>
          <a:xfrm flipV="1">
            <a:off x="11033918" y="2775780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8" name="Shape 201"/>
          <p:cNvSpPr/>
          <p:nvPr/>
        </p:nvSpPr>
        <p:spPr>
          <a:xfrm flipV="1">
            <a:off x="11053962" y="2775693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09" name="Shape 202"/>
          <p:cNvSpPr/>
          <p:nvPr/>
        </p:nvSpPr>
        <p:spPr>
          <a:xfrm flipV="1">
            <a:off x="11074006" y="2775669"/>
            <a:ext cx="20044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210" name="Shape 203"/>
          <p:cNvSpPr/>
          <p:nvPr/>
        </p:nvSpPr>
        <p:spPr>
          <a:xfrm>
            <a:off x="9482328" y="3063240"/>
            <a:ext cx="265176" cy="914"/>
          </a:xfrm>
          <a:prstGeom prst="line">
            <a:avLst/>
          </a:prstGeom>
          <a:noFill/>
          <a:ln w="1651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11" name="传播 · 耦合 · 谐振 · 优化"/>
          <p:cNvSpPr/>
          <p:nvPr/>
        </p:nvSpPr>
        <p:spPr>
          <a:xfrm>
            <a:off x="7836408" y="3675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传播 · 耦合 · 谐振 · 优化</a:t>
            </a:r>
            <a:endParaRPr lang="en-US" sz="1700" dirty="0"/>
          </a:p>
        </p:txBody>
      </p:sp>
      <p:sp>
        <p:nvSpPr>
          <p:cNvPr id="212" name="Shape 205"/>
          <p:cNvSpPr/>
          <p:nvPr/>
        </p:nvSpPr>
        <p:spPr>
          <a:xfrm>
            <a:off x="393192" y="4233672"/>
            <a:ext cx="1508760" cy="365760"/>
          </a:xfrm>
          <a:custGeom>
            <a:avLst/>
            <a:gdLst/>
            <a:ahLst/>
            <a:cxnLst/>
            <a:rect l="l" t="t" r="r" b="b"/>
            <a:pathLst>
              <a:path w="1508760" h="365760">
                <a:moveTo>
                  <a:pt x="0" y="0"/>
                </a:moveTo>
                <a:lnTo>
                  <a:pt x="1508760" y="0"/>
                </a:lnTo>
                <a:lnTo>
                  <a:pt x="1399032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13" name="Shape 206"/>
          <p:cNvSpPr/>
          <p:nvPr/>
        </p:nvSpPr>
        <p:spPr>
          <a:xfrm>
            <a:off x="393192" y="4599432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214" name="领域现状"/>
          <p:cNvSpPr/>
          <p:nvPr/>
        </p:nvSpPr>
        <p:spPr>
          <a:xfrm>
            <a:off x="502920" y="4247388"/>
            <a:ext cx="1252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领域现状</a:t>
            </a:r>
            <a:endParaRPr lang="en-US" sz="2000" dirty="0"/>
          </a:p>
        </p:txBody>
      </p:sp>
      <p:sp>
        <p:nvSpPr>
          <p:cNvPr id="215" name="Shape 208"/>
          <p:cNvSpPr/>
          <p:nvPr/>
        </p:nvSpPr>
        <p:spPr>
          <a:xfrm>
            <a:off x="6190488" y="4233672"/>
            <a:ext cx="1508760" cy="365760"/>
          </a:xfrm>
          <a:custGeom>
            <a:avLst/>
            <a:gdLst/>
            <a:ahLst/>
            <a:cxnLst/>
            <a:rect l="l" t="t" r="r" b="b"/>
            <a:pathLst>
              <a:path w="1508760" h="365760">
                <a:moveTo>
                  <a:pt x="0" y="0"/>
                </a:moveTo>
                <a:lnTo>
                  <a:pt x="1508760" y="0"/>
                </a:lnTo>
                <a:lnTo>
                  <a:pt x="1399032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16" name="Shape 209"/>
          <p:cNvSpPr/>
          <p:nvPr/>
        </p:nvSpPr>
        <p:spPr>
          <a:xfrm>
            <a:off x="6190488" y="4599432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217" name="研发任务"/>
          <p:cNvSpPr/>
          <p:nvPr/>
        </p:nvSpPr>
        <p:spPr>
          <a:xfrm>
            <a:off x="6300216" y="4247388"/>
            <a:ext cx="12527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研发任务</a:t>
            </a:r>
            <a:endParaRPr lang="en-US" sz="2000" dirty="0"/>
          </a:p>
        </p:txBody>
      </p:sp>
      <p:sp>
        <p:nvSpPr>
          <p:cNvPr id="218" name="Shape 211"/>
          <p:cNvSpPr/>
          <p:nvPr/>
        </p:nvSpPr>
        <p:spPr>
          <a:xfrm>
            <a:off x="512064" y="4672584"/>
            <a:ext cx="5404104" cy="113385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19" name="国内外围绕太赫兹器件电磁建模 已开展大量研究工作"/>
          <p:cNvSpPr/>
          <p:nvPr/>
        </p:nvSpPr>
        <p:spPr>
          <a:xfrm>
            <a:off x="694944" y="4754880"/>
            <a:ext cx="5038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国内外围绕太赫兹器件电磁建模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已开展大量研究工作</a:t>
            </a:r>
            <a:endParaRPr lang="en-US" sz="1900" dirty="0"/>
          </a:p>
        </p:txBody>
      </p:sp>
      <p:sp>
        <p:nvSpPr>
          <p:cNvPr id="220" name="关注器件电磁场分布及其电磁响应"/>
          <p:cNvSpPr/>
          <p:nvPr/>
        </p:nvSpPr>
        <p:spPr>
          <a:xfrm>
            <a:off x="694944" y="5449824"/>
            <a:ext cx="50383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关注器件电磁场分布及其电磁响应</a:t>
            </a:r>
            <a:endParaRPr lang="en-US" sz="1700" dirty="0"/>
          </a:p>
        </p:txBody>
      </p:sp>
      <p:sp>
        <p:nvSpPr>
          <p:cNvPr id="221" name="Shape 214"/>
          <p:cNvSpPr/>
          <p:nvPr/>
        </p:nvSpPr>
        <p:spPr>
          <a:xfrm>
            <a:off x="6309360" y="4672584"/>
            <a:ext cx="5367528" cy="113385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22" name="获取不同构型下的三维电磁场 开展机理分析、性能评估与结构优化"/>
          <p:cNvSpPr/>
          <p:nvPr/>
        </p:nvSpPr>
        <p:spPr>
          <a:xfrm>
            <a:off x="6483096" y="4754880"/>
            <a:ext cx="5020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获取不同构型下的三维电磁场</a:t>
            </a:r>
            <a:endParaRPr lang="en-US" sz="1870" dirty="0"/>
          </a:p>
          <a:p>
            <a:pPr algn="ctr" indent="0" marL="0">
              <a:buNone/>
            </a:pPr>
            <a:r>
              <a:rPr lang="en-US" sz="187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开展机理分析、性能评估与结构优化</a:t>
            </a:r>
            <a:endParaRPr lang="en-US" sz="1870" dirty="0"/>
          </a:p>
        </p:txBody>
      </p:sp>
      <p:sp>
        <p:nvSpPr>
          <p:cNvPr id="223" name="面向器件快速设计与自主建模工具"/>
          <p:cNvSpPr/>
          <p:nvPr/>
        </p:nvSpPr>
        <p:spPr>
          <a:xfrm>
            <a:off x="6483096" y="5449824"/>
            <a:ext cx="5020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面向器件快速设计与自主建模工具</a:t>
            </a:r>
            <a:endParaRPr lang="en-US" sz="1700" dirty="0"/>
          </a:p>
        </p:txBody>
      </p:sp>
      <p:sp>
        <p:nvSpPr>
          <p:cNvPr id="224" name="Shape 217"/>
          <p:cNvSpPr/>
          <p:nvPr/>
        </p:nvSpPr>
        <p:spPr>
          <a:xfrm>
            <a:off x="393192" y="6126480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25" name="以三维电磁场联系器件结构与电磁性能，服务太赫兹器件研发。"/>
          <p:cNvSpPr/>
          <p:nvPr/>
        </p:nvSpPr>
        <p:spPr>
          <a:xfrm>
            <a:off x="548640" y="6149340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以三维电磁场联系器件结构与电磁性能，服务太赫兹器件研发。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2 现有电磁建模方法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1.2 现有电磁建模方法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研究现状2.1、2.2、2.3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资料依据：研究现状2.1、2.2、2.3</a:t>
            </a:r>
            <a:endParaRPr lang="en-US" sz="850" dirty="0"/>
          </a:p>
        </p:txBody>
      </p:sp>
      <p:sp>
        <p:nvSpPr>
          <p:cNvPr id="7" name="2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从数值求解到数据驱动：关键区别在于“预测什么、如何求解”"/>
          <p:cNvSpPr/>
          <p:nvPr/>
        </p:nvSpPr>
        <p:spPr>
          <a:xfrm>
            <a:off x="502920" y="96012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从数值求解到数据驱动：关键区别在于“预测什么、如何求解”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93192" y="1554480"/>
            <a:ext cx="3685032" cy="4434840"/>
          </a:xfrm>
          <a:prstGeom prst="rect">
            <a:avLst/>
          </a:prstGeom>
          <a:solidFill>
            <a:srgbClr val="F3F7FB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554480"/>
            <a:ext cx="3685032" cy="5029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1" name="2.1  传统全波仿真"/>
          <p:cNvSpPr/>
          <p:nvPr/>
        </p:nvSpPr>
        <p:spPr>
          <a:xfrm>
            <a:off x="512064" y="16459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  传统全波仿真</a:t>
            </a:r>
            <a:endParaRPr lang="en-US" sz="2100" dirty="0"/>
          </a:p>
        </p:txBody>
      </p:sp>
      <p:sp>
        <p:nvSpPr>
          <p:cNvPr id="12" name="FDTD · FEM · MoM · FIT"/>
          <p:cNvSpPr/>
          <p:nvPr/>
        </p:nvSpPr>
        <p:spPr>
          <a:xfrm>
            <a:off x="502920" y="215798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FDTD · FEM · MoM · FIT</a:t>
            </a:r>
            <a:endParaRPr lang="en-US" sz="157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685032" cy="4434840"/>
          </a:xfrm>
          <a:prstGeom prst="rect">
            <a:avLst/>
          </a:prstGeom>
          <a:solidFill>
            <a:srgbClr val="F3F7FB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554480"/>
            <a:ext cx="3685032" cy="5029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5" name="2.2  电磁响应建模"/>
          <p:cNvSpPr/>
          <p:nvPr/>
        </p:nvSpPr>
        <p:spPr>
          <a:xfrm>
            <a:off x="4370832" y="16459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  电磁响应建模</a:t>
            </a:r>
            <a:endParaRPr lang="en-US" sz="2100" dirty="0"/>
          </a:p>
        </p:txBody>
      </p:sp>
      <p:sp>
        <p:nvSpPr>
          <p:cNvPr id="16" name="正向预测 · 逆向设计 · 物理先验"/>
          <p:cNvSpPr/>
          <p:nvPr/>
        </p:nvSpPr>
        <p:spPr>
          <a:xfrm>
            <a:off x="4361688" y="215798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正向预测 · 逆向设计 · 物理先验</a:t>
            </a:r>
            <a:endParaRPr lang="en-US" sz="1570" dirty="0"/>
          </a:p>
        </p:txBody>
      </p:sp>
      <p:sp>
        <p:nvSpPr>
          <p:cNvPr id="17" name="Shape 15"/>
          <p:cNvSpPr/>
          <p:nvPr/>
        </p:nvSpPr>
        <p:spPr>
          <a:xfrm>
            <a:off x="8110728" y="1554480"/>
            <a:ext cx="3685032" cy="4434840"/>
          </a:xfrm>
          <a:prstGeom prst="rect">
            <a:avLst/>
          </a:prstGeom>
          <a:solidFill>
            <a:srgbClr val="F3F7FB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1554480"/>
            <a:ext cx="3685032" cy="5029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9" name="2.3  电磁场建模"/>
          <p:cNvSpPr/>
          <p:nvPr/>
        </p:nvSpPr>
        <p:spPr>
          <a:xfrm>
            <a:off x="8229600" y="1645920"/>
            <a:ext cx="3447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  电磁场建模</a:t>
            </a:r>
            <a:endParaRPr lang="en-US" sz="2100" dirty="0"/>
          </a:p>
        </p:txBody>
      </p:sp>
      <p:sp>
        <p:nvSpPr>
          <p:cNvPr id="20" name="FNO · DeepONet · 几何增强算子"/>
          <p:cNvSpPr/>
          <p:nvPr/>
        </p:nvSpPr>
        <p:spPr>
          <a:xfrm>
            <a:off x="8220456" y="2157984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FNO · DeepONet · 几何增强算子</a:t>
            </a:r>
            <a:endParaRPr lang="en-US" sz="1570" dirty="0"/>
          </a:p>
        </p:txBody>
      </p:sp>
      <p:sp>
        <p:nvSpPr>
          <p:cNvPr id="21" name="几何 / 材料 / 激励"/>
          <p:cNvSpPr/>
          <p:nvPr/>
        </p:nvSpPr>
        <p:spPr>
          <a:xfrm>
            <a:off x="630936" y="26609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 / 材料 / 激励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609344" y="3340486"/>
            <a:ext cx="905256" cy="541508"/>
          </a:xfrm>
          <a:custGeom>
            <a:avLst/>
            <a:gdLst/>
            <a:ahLst/>
            <a:cxnLst/>
            <a:rect l="l" t="t" r="r" b="b"/>
            <a:pathLst>
              <a:path w="905256" h="541508">
                <a:moveTo>
                  <a:pt x="0" y="0"/>
                </a:moveTo>
                <a:lnTo>
                  <a:pt x="905256" y="0"/>
                </a:lnTo>
                <a:lnTo>
                  <a:pt x="905256" y="541508"/>
                </a:lnTo>
                <a:lnTo>
                  <a:pt x="0" y="541508"/>
                </a:lnTo>
                <a:close/>
              </a:path>
            </a:pathLst>
          </a:cu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09344" y="3159984"/>
            <a:ext cx="1179576" cy="180503"/>
          </a:xfrm>
          <a:custGeom>
            <a:avLst/>
            <a:gdLst/>
            <a:ahLst/>
            <a:cxnLst/>
            <a:rect l="l" t="t" r="r" b="b"/>
            <a:pathLst>
              <a:path w="1179576" h="180503">
                <a:moveTo>
                  <a:pt x="0" y="180503"/>
                </a:moveTo>
                <a:lnTo>
                  <a:pt x="274320" y="0"/>
                </a:lnTo>
                <a:lnTo>
                  <a:pt x="1179576" y="0"/>
                </a:lnTo>
                <a:lnTo>
                  <a:pt x="905256" y="180503"/>
                </a:lnTo>
                <a:close/>
              </a:path>
            </a:pathLst>
          </a:custGeom>
          <a:solidFill>
            <a:srgbClr val="DAEBF6"/>
          </a:solidFill>
          <a:ln w="12700">
            <a:solidFill>
              <a:srgbClr val="DAEB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3159984"/>
            <a:ext cx="274320" cy="722010"/>
          </a:xfrm>
          <a:custGeom>
            <a:avLst/>
            <a:gdLst/>
            <a:ahLst/>
            <a:cxnLst/>
            <a:rect l="l" t="t" r="r" b="b"/>
            <a:pathLst>
              <a:path w="274320" h="722010">
                <a:moveTo>
                  <a:pt x="0" y="180503"/>
                </a:moveTo>
                <a:lnTo>
                  <a:pt x="274320" y="0"/>
                </a:lnTo>
                <a:lnTo>
                  <a:pt x="274320" y="541508"/>
                </a:lnTo>
                <a:lnTo>
                  <a:pt x="0" y="722010"/>
                </a:lnTo>
                <a:close/>
              </a:path>
            </a:pathLst>
          </a:custGeom>
          <a:solidFill>
            <a:srgbClr val="C8E0F0"/>
          </a:solidFill>
          <a:ln w="12700">
            <a:solidFill>
              <a:srgbClr val="C8E0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9344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609344" y="334048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1609344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609344" y="334048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 flipV="1">
            <a:off x="2514600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2514600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738666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609344" y="341784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1738666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648533" y="3314700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2514600" y="3237342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2553789" y="3314700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1867989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609344" y="3495203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1867989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687721" y="328891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 flipV="1">
            <a:off x="2514600" y="3314700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592977" y="3288914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997311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1609344" y="3572561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 flipV="1">
            <a:off x="1997311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1726910" y="3263128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 flipV="1">
            <a:off x="2514600" y="3392058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2632166" y="3263128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126633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1609344" y="3649919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 flipV="1">
            <a:off x="2126633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1766098" y="3237342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 flipV="1">
            <a:off x="2514600" y="3469416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671354" y="3237342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255955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609344" y="3727277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 flipV="1">
            <a:off x="2255955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8" name="Shape 56"/>
          <p:cNvSpPr/>
          <p:nvPr/>
        </p:nvSpPr>
        <p:spPr>
          <a:xfrm>
            <a:off x="1805287" y="321155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 flipV="1">
            <a:off x="2514600" y="3546775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2710543" y="321155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>
            <a:off x="2385278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1609344" y="3804636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flipV="1">
            <a:off x="2385278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1844475" y="3185770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 flipV="1">
            <a:off x="2514600" y="3624133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749731" y="3185770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2514600" y="3340486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1609344" y="388199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 flipV="1">
            <a:off x="2514600" y="3159984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1883664" y="3159984"/>
            <a:ext cx="905256" cy="914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 flipV="1">
            <a:off x="2514600" y="3701491"/>
            <a:ext cx="274320" cy="180503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2788920" y="3159984"/>
            <a:ext cx="914" cy="541508"/>
          </a:xfrm>
          <a:prstGeom prst="line">
            <a:avLst/>
          </a:prstGeom>
          <a:noFill/>
          <a:ln w="825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73" name="网格离散与数值求解"/>
          <p:cNvSpPr/>
          <p:nvPr/>
        </p:nvSpPr>
        <p:spPr>
          <a:xfrm>
            <a:off x="658368" y="40233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网格离散与数值求解</a:t>
            </a:r>
            <a:endParaRPr lang="en-US" sz="1800" dirty="0"/>
          </a:p>
        </p:txBody>
      </p:sp>
      <p:sp>
        <p:nvSpPr>
          <p:cNvPr id="74" name="E、H场 → 电磁响应"/>
          <p:cNvSpPr/>
          <p:nvPr/>
        </p:nvSpPr>
        <p:spPr>
          <a:xfrm>
            <a:off x="649224" y="4425696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E、H场 → 电磁响应</a:t>
            </a:r>
            <a:endParaRPr lang="en-US" sz="1800" dirty="0"/>
          </a:p>
        </p:txBody>
      </p:sp>
      <p:sp>
        <p:nvSpPr>
          <p:cNvPr id="75" name="设计变量 ⇄ 学习模型"/>
          <p:cNvSpPr/>
          <p:nvPr/>
        </p:nvSpPr>
        <p:spPr>
          <a:xfrm>
            <a:off x="4480560" y="2660904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设计变量 ⇄ 学习模型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 flipV="1">
            <a:off x="4743176" y="3315614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4743176" y="3339389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4743176" y="3339389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79" name="Shape 77"/>
          <p:cNvSpPr/>
          <p:nvPr/>
        </p:nvSpPr>
        <p:spPr>
          <a:xfrm>
            <a:off x="4743176" y="3339389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 flipV="1">
            <a:off x="4743176" y="331561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 flipV="1">
            <a:off x="4743176" y="3458261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2" name="Shape 80"/>
          <p:cNvSpPr/>
          <p:nvPr/>
        </p:nvSpPr>
        <p:spPr>
          <a:xfrm>
            <a:off x="4743176" y="3529584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4743176" y="352958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 flipV="1">
            <a:off x="4743176" y="3315614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5" name="Shape 83"/>
          <p:cNvSpPr/>
          <p:nvPr/>
        </p:nvSpPr>
        <p:spPr>
          <a:xfrm flipV="1">
            <a:off x="4743176" y="3458261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 flipV="1">
            <a:off x="4743176" y="3600907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4743176" y="3719779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8" name="Shape 86"/>
          <p:cNvSpPr/>
          <p:nvPr/>
        </p:nvSpPr>
        <p:spPr>
          <a:xfrm>
            <a:off x="5230368" y="3315614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5230368" y="331561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0" name="Shape 88"/>
          <p:cNvSpPr/>
          <p:nvPr/>
        </p:nvSpPr>
        <p:spPr>
          <a:xfrm>
            <a:off x="5230368" y="3315614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1" name="Shape 89"/>
          <p:cNvSpPr/>
          <p:nvPr/>
        </p:nvSpPr>
        <p:spPr>
          <a:xfrm flipV="1">
            <a:off x="5230368" y="3339389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2" name="Shape 90"/>
          <p:cNvSpPr/>
          <p:nvPr/>
        </p:nvSpPr>
        <p:spPr>
          <a:xfrm>
            <a:off x="5230368" y="3458261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3" name="Shape 91"/>
          <p:cNvSpPr/>
          <p:nvPr/>
        </p:nvSpPr>
        <p:spPr>
          <a:xfrm>
            <a:off x="5230368" y="3458261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 flipV="1">
            <a:off x="5230368" y="3339389"/>
            <a:ext cx="487192" cy="261518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 flipV="1">
            <a:off x="5230368" y="3529584"/>
            <a:ext cx="487192" cy="7132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5230368" y="3600907"/>
            <a:ext cx="487192" cy="11887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7" name="Shape 95"/>
          <p:cNvSpPr/>
          <p:nvPr/>
        </p:nvSpPr>
        <p:spPr>
          <a:xfrm flipV="1">
            <a:off x="5230368" y="3339389"/>
            <a:ext cx="487192" cy="404165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8" name="Shape 96"/>
          <p:cNvSpPr/>
          <p:nvPr/>
        </p:nvSpPr>
        <p:spPr>
          <a:xfrm flipV="1">
            <a:off x="5230368" y="3529584"/>
            <a:ext cx="487192" cy="213970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99" name="Shape 97"/>
          <p:cNvSpPr/>
          <p:nvPr/>
        </p:nvSpPr>
        <p:spPr>
          <a:xfrm flipV="1">
            <a:off x="5230368" y="3719779"/>
            <a:ext cx="487192" cy="2377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00" name="Shape 98"/>
          <p:cNvSpPr/>
          <p:nvPr/>
        </p:nvSpPr>
        <p:spPr>
          <a:xfrm>
            <a:off x="4693432" y="3289645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93432" y="3479841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693432" y="3670036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180625" y="3265871"/>
            <a:ext cx="99487" cy="99487"/>
          </a:xfrm>
          <a:prstGeom prst="ellipse">
            <a:avLst/>
          </a:prstGeom>
          <a:solidFill>
            <a:srgbClr val="2296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180625" y="3408517"/>
            <a:ext cx="99487" cy="99487"/>
          </a:xfrm>
          <a:prstGeom prst="ellipse">
            <a:avLst/>
          </a:prstGeom>
          <a:solidFill>
            <a:srgbClr val="D79B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80625" y="3551164"/>
            <a:ext cx="99487" cy="99487"/>
          </a:xfrm>
          <a:prstGeom prst="ellipse">
            <a:avLst/>
          </a:prstGeom>
          <a:solidFill>
            <a:srgbClr val="2296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80625" y="3693810"/>
            <a:ext cx="99487" cy="99487"/>
          </a:xfrm>
          <a:prstGeom prst="ellipse">
            <a:avLst/>
          </a:prstGeom>
          <a:solidFill>
            <a:srgbClr val="2296B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667817" y="3289645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667817" y="3479841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667817" y="3670036"/>
            <a:ext cx="99487" cy="99487"/>
          </a:xfrm>
          <a:prstGeom prst="ellipse">
            <a:avLst/>
          </a:prstGeom>
          <a:solidFill>
            <a:srgbClr val="165CA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96812" y="3201863"/>
            <a:ext cx="914" cy="577352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96812" y="3779215"/>
            <a:ext cx="925373" cy="914"/>
          </a:xfrm>
          <a:prstGeom prst="line">
            <a:avLst/>
          </a:prstGeom>
          <a:noFill/>
          <a:ln w="8890">
            <a:solidFill>
              <a:srgbClr val="536B8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49681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51363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53046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54728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6411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58093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597762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614587" y="330747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631412" y="3307477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648237" y="3307478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665062" y="3307490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681887" y="3307554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698712" y="3307847"/>
            <a:ext cx="16825" cy="113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715536" y="3308980"/>
            <a:ext cx="16825" cy="37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732361" y="3312694"/>
            <a:ext cx="16825" cy="1026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49186" y="3322958"/>
            <a:ext cx="16825" cy="2380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66011" y="3346758"/>
            <a:ext cx="16825" cy="4595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782836" y="3392708"/>
            <a:ext cx="16825" cy="7291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99661" y="3465618"/>
            <a:ext cx="16825" cy="9277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16486" y="3558395"/>
            <a:ext cx="16825" cy="8953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33311" y="3647929"/>
            <a:ext cx="16825" cy="5456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6850136" y="3699419"/>
            <a:ext cx="16825" cy="307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6866961" y="3640031"/>
            <a:ext cx="16825" cy="5938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6883786" y="3548768"/>
            <a:ext cx="16825" cy="91263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6900611" y="3457190"/>
            <a:ext cx="16825" cy="9157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6917436" y="3386916"/>
            <a:ext cx="16825" cy="7027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6934261" y="3343535"/>
            <a:ext cx="16825" cy="4338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6951086" y="3321525"/>
            <a:ext cx="16825" cy="2201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6967911" y="3312344"/>
            <a:ext cx="16825" cy="918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flipV="1">
            <a:off x="6984736" y="3309516"/>
            <a:ext cx="16825" cy="2828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1561" y="3309516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018386" y="3309869"/>
            <a:ext cx="16825" cy="303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035211" y="3312907"/>
            <a:ext cx="16825" cy="709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052036" y="3320002"/>
            <a:ext cx="16825" cy="1380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68861" y="3333806"/>
            <a:ext cx="16825" cy="2362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085686" y="3357431"/>
            <a:ext cx="16825" cy="3552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02511" y="3392958"/>
            <a:ext cx="16825" cy="46437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119336" y="3439396"/>
            <a:ext cx="16825" cy="5168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36160" y="3491078"/>
            <a:ext cx="16825" cy="4685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52985" y="3537928"/>
            <a:ext cx="16825" cy="3041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169810" y="3568343"/>
            <a:ext cx="16825" cy="544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flipV="1">
            <a:off x="7186635" y="3552664"/>
            <a:ext cx="16825" cy="2112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7203460" y="3511060"/>
            <a:ext cx="16825" cy="4160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7220285" y="3459924"/>
            <a:ext cx="16825" cy="5113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7237110" y="3410428"/>
            <a:ext cx="16825" cy="49496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7253935" y="3370178"/>
            <a:ext cx="16825" cy="4025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7270760" y="3341916"/>
            <a:ext cx="16825" cy="28262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7287585" y="3324536"/>
            <a:ext cx="16825" cy="17380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7304410" y="3315098"/>
            <a:ext cx="16825" cy="9439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7321235" y="3310547"/>
            <a:ext cx="16825" cy="4551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7338060" y="3308592"/>
            <a:ext cx="16825" cy="1955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7354885" y="3307842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7371710" y="3307584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7388535" y="3307505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7405360" y="3307483"/>
            <a:ext cx="16825" cy="914"/>
          </a:xfrm>
          <a:prstGeom prst="line">
            <a:avLst/>
          </a:prstGeom>
          <a:noFill/>
          <a:ln w="15875">
            <a:solidFill>
              <a:srgbClr val="155EA7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035040" y="3529584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68" name="正向预测 / 逆向设计"/>
          <p:cNvSpPr/>
          <p:nvPr/>
        </p:nvSpPr>
        <p:spPr>
          <a:xfrm>
            <a:off x="4526280" y="4023360"/>
            <a:ext cx="3127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正向预测 / 逆向设计</a:t>
            </a:r>
            <a:endParaRPr lang="en-US" sz="1800" dirty="0"/>
          </a:p>
        </p:txBody>
      </p:sp>
      <p:sp>
        <p:nvSpPr>
          <p:cNvPr id="169" name="S参数 · 光谱 · 方向图"/>
          <p:cNvSpPr/>
          <p:nvPr/>
        </p:nvSpPr>
        <p:spPr>
          <a:xfrm>
            <a:off x="4507992" y="4425696"/>
            <a:ext cx="3163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S参数 · 光谱 · 方向图</a:t>
            </a:r>
            <a:endParaRPr lang="en-US" sz="1800" dirty="0"/>
          </a:p>
        </p:txBody>
      </p:sp>
      <p:sp>
        <p:nvSpPr>
          <p:cNvPr id="170" name="几何表征 / 激励条件"/>
          <p:cNvSpPr/>
          <p:nvPr/>
        </p:nvSpPr>
        <p:spPr>
          <a:xfrm>
            <a:off x="8330184" y="2660904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几何表征 / 激励条件</a:t>
            </a:r>
            <a:endParaRPr lang="en-US" sz="1800" dirty="0"/>
          </a:p>
        </p:txBody>
      </p:sp>
      <p:sp>
        <p:nvSpPr>
          <p:cNvPr id="171" name="Shape 169"/>
          <p:cNvSpPr/>
          <p:nvPr/>
        </p:nvSpPr>
        <p:spPr>
          <a:xfrm>
            <a:off x="8439912" y="3191256"/>
            <a:ext cx="1243584" cy="640080"/>
          </a:xfrm>
          <a:prstGeom prst="rect">
            <a:avLst/>
          </a:prstGeom>
          <a:solidFill>
            <a:srgbClr val="E5F0F9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72" name="神经算子"/>
          <p:cNvSpPr/>
          <p:nvPr/>
        </p:nvSpPr>
        <p:spPr>
          <a:xfrm>
            <a:off x="8485632" y="3364992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神经算子</a:t>
            </a:r>
            <a:endParaRPr lang="en-US" sz="1700" dirty="0"/>
          </a:p>
        </p:txBody>
      </p:sp>
      <p:sp>
        <p:nvSpPr>
          <p:cNvPr id="173" name="Shape 171"/>
          <p:cNvSpPr/>
          <p:nvPr/>
        </p:nvSpPr>
        <p:spPr>
          <a:xfrm>
            <a:off x="9774936" y="3511296"/>
            <a:ext cx="256032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74" name="Shape 172"/>
          <p:cNvSpPr/>
          <p:nvPr/>
        </p:nvSpPr>
        <p:spPr>
          <a:xfrm>
            <a:off x="10179649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219212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258776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298339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337902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377465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301935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341498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381061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420624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460187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499750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424221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463784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0503347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0542910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10582473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622036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546507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586070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625633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665196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704759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744322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668792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708356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747919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787482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827045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866608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791078" y="3813703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830641" y="3786195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0870204" y="3758687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909767" y="3731179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949330" y="3703671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988893" y="3676162"/>
            <a:ext cx="161849" cy="27508"/>
          </a:xfrm>
          <a:custGeom>
            <a:avLst/>
            <a:gdLst/>
            <a:ahLst/>
            <a:cxnLst/>
            <a:rect l="l" t="t" r="r" b="b"/>
            <a:pathLst>
              <a:path w="161849" h="27508">
                <a:moveTo>
                  <a:pt x="0" y="27508"/>
                </a:moveTo>
                <a:lnTo>
                  <a:pt x="122286" y="27508"/>
                </a:lnTo>
                <a:lnTo>
                  <a:pt x="161849" y="0"/>
                </a:lnTo>
                <a:lnTo>
                  <a:pt x="39563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310207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310207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0310207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310207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310207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310207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32493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432493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432493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432493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432493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0432493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554779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554779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10554779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0554779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554779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554779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677065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0677065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0677065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677065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677065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677065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799351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799351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799351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799351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799351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10799351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921636" y="371221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921636" y="361665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921636" y="352110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921636" y="3425548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921636" y="3329993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921636" y="3234439"/>
            <a:ext cx="122286" cy="95555"/>
          </a:xfrm>
          <a:custGeom>
            <a:avLst/>
            <a:gdLst/>
            <a:ahLst/>
            <a:cxnLst/>
            <a:rect l="l" t="t" r="r" b="b"/>
            <a:pathLst>
              <a:path w="122286" h="95555">
                <a:moveTo>
                  <a:pt x="0" y="95555"/>
                </a:moveTo>
                <a:lnTo>
                  <a:pt x="122286" y="95555"/>
                </a:lnTo>
                <a:lnTo>
                  <a:pt x="122286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0590530" y="377548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590530" y="367992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0590530" y="358437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590530" y="348881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590530" y="339326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590530" y="329770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0630093" y="3747973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630093" y="3652418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10630093" y="355686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0630093" y="346130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10630093" y="336575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10630093" y="327019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0669656" y="3720465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10669656" y="3624910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10669656" y="3529355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0669656" y="343380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10669656" y="333824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669656" y="324269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0709219" y="369295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0709219" y="359740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709219" y="3501847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709219" y="3406292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709219" y="3310738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709219" y="3215183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748782" y="366544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748782" y="356989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10748782" y="347433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0748782" y="3378784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10748782" y="3283229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0748782" y="3187675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10788345" y="3637940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0788345" y="354238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0788345" y="344683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0788345" y="335127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10788345" y="3255721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10788345" y="3160166"/>
            <a:ext cx="39563" cy="123063"/>
          </a:xfrm>
          <a:custGeom>
            <a:avLst/>
            <a:gdLst/>
            <a:ahLst/>
            <a:cxnLst/>
            <a:rect l="l" t="t" r="r" b="b"/>
            <a:pathLst>
              <a:path w="39563" h="123063">
                <a:moveTo>
                  <a:pt x="0" y="123063"/>
                </a:moveTo>
                <a:lnTo>
                  <a:pt x="39563" y="95555"/>
                </a:lnTo>
                <a:lnTo>
                  <a:pt x="39563" y="0"/>
                </a:lnTo>
                <a:lnTo>
                  <a:pt x="0" y="27508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10179649" y="3898544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3" name="Shape 281"/>
          <p:cNvSpPr/>
          <p:nvPr/>
        </p:nvSpPr>
        <p:spPr>
          <a:xfrm flipV="1">
            <a:off x="10913364" y="3733495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10417028" y="3733495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5" name="Shape 283"/>
          <p:cNvSpPr/>
          <p:nvPr/>
        </p:nvSpPr>
        <p:spPr>
          <a:xfrm flipV="1">
            <a:off x="10179649" y="3733495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6" name="Shape 284"/>
          <p:cNvSpPr/>
          <p:nvPr/>
        </p:nvSpPr>
        <p:spPr>
          <a:xfrm>
            <a:off x="10179649" y="3325216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 flipV="1">
            <a:off x="10913364" y="3160166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8" name="Shape 286"/>
          <p:cNvSpPr/>
          <p:nvPr/>
        </p:nvSpPr>
        <p:spPr>
          <a:xfrm>
            <a:off x="10417028" y="3160166"/>
            <a:ext cx="73371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9" name="Shape 287"/>
          <p:cNvSpPr/>
          <p:nvPr/>
        </p:nvSpPr>
        <p:spPr>
          <a:xfrm flipV="1">
            <a:off x="10179649" y="3160166"/>
            <a:ext cx="237378" cy="16504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0" name="Shape 288"/>
          <p:cNvSpPr/>
          <p:nvPr/>
        </p:nvSpPr>
        <p:spPr>
          <a:xfrm>
            <a:off x="10179649" y="332521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1" name="Shape 289"/>
          <p:cNvSpPr/>
          <p:nvPr/>
        </p:nvSpPr>
        <p:spPr>
          <a:xfrm>
            <a:off x="10913364" y="332521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11150742" y="316016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10417028" y="3160166"/>
            <a:ext cx="914" cy="573329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10387698" y="3654445"/>
            <a:ext cx="75511" cy="60071"/>
          </a:xfrm>
          <a:custGeom>
            <a:avLst/>
            <a:gdLst/>
            <a:ahLst/>
            <a:cxnLst/>
            <a:rect l="l" t="t" r="r" b="b"/>
            <a:pathLst>
              <a:path w="75511" h="60071">
                <a:moveTo>
                  <a:pt x="4279" y="60071"/>
                </a:moveTo>
                <a:lnTo>
                  <a:pt x="53693" y="21458"/>
                </a:lnTo>
                <a:lnTo>
                  <a:pt x="60646" y="30357"/>
                </a:lnTo>
                <a:lnTo>
                  <a:pt x="75511" y="0"/>
                </a:lnTo>
                <a:lnTo>
                  <a:pt x="42461" y="7084"/>
                </a:lnTo>
                <a:lnTo>
                  <a:pt x="49414" y="15982"/>
                </a:lnTo>
                <a:lnTo>
                  <a:pt x="0" y="5459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541778" y="3562713"/>
            <a:ext cx="75511" cy="60071"/>
          </a:xfrm>
          <a:custGeom>
            <a:avLst/>
            <a:gdLst/>
            <a:ahLst/>
            <a:cxnLst/>
            <a:rect l="l" t="t" r="r" b="b"/>
            <a:pathLst>
              <a:path w="75511" h="60071">
                <a:moveTo>
                  <a:pt x="4279" y="60071"/>
                </a:moveTo>
                <a:lnTo>
                  <a:pt x="53693" y="21458"/>
                </a:lnTo>
                <a:lnTo>
                  <a:pt x="60646" y="30357"/>
                </a:lnTo>
                <a:lnTo>
                  <a:pt x="75511" y="0"/>
                </a:lnTo>
                <a:lnTo>
                  <a:pt x="42461" y="7084"/>
                </a:lnTo>
                <a:lnTo>
                  <a:pt x="49414" y="15982"/>
                </a:lnTo>
                <a:lnTo>
                  <a:pt x="0" y="5459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0695858" y="3488180"/>
            <a:ext cx="75511" cy="60071"/>
          </a:xfrm>
          <a:custGeom>
            <a:avLst/>
            <a:gdLst/>
            <a:ahLst/>
            <a:cxnLst/>
            <a:rect l="l" t="t" r="r" b="b"/>
            <a:pathLst>
              <a:path w="75511" h="60071">
                <a:moveTo>
                  <a:pt x="4279" y="60071"/>
                </a:moveTo>
                <a:lnTo>
                  <a:pt x="53693" y="21458"/>
                </a:lnTo>
                <a:lnTo>
                  <a:pt x="60646" y="30357"/>
                </a:lnTo>
                <a:lnTo>
                  <a:pt x="75511" y="0"/>
                </a:lnTo>
                <a:lnTo>
                  <a:pt x="42461" y="7084"/>
                </a:lnTo>
                <a:lnTo>
                  <a:pt x="49414" y="15982"/>
                </a:lnTo>
                <a:lnTo>
                  <a:pt x="0" y="54595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7" name="学习输入条件到全场的映射"/>
          <p:cNvSpPr/>
          <p:nvPr/>
        </p:nvSpPr>
        <p:spPr>
          <a:xfrm>
            <a:off x="8321040" y="4023360"/>
            <a:ext cx="3264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学习输入条件到全场的映射</a:t>
            </a:r>
            <a:endParaRPr lang="en-US" sz="1740" dirty="0"/>
          </a:p>
        </p:txBody>
      </p:sp>
      <p:sp>
        <p:nvSpPr>
          <p:cNvPr id="298" name="三维 E/H → 电磁响应"/>
          <p:cNvSpPr/>
          <p:nvPr/>
        </p:nvSpPr>
        <p:spPr>
          <a:xfrm>
            <a:off x="8339328" y="4425696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 E/H → 电磁响应</a:t>
            </a:r>
            <a:endParaRPr lang="en-US" sz="1800" dirty="0"/>
          </a:p>
        </p:txBody>
      </p:sp>
      <p:sp>
        <p:nvSpPr>
          <p:cNvPr id="299" name="Shape 297"/>
          <p:cNvSpPr/>
          <p:nvPr/>
        </p:nvSpPr>
        <p:spPr>
          <a:xfrm>
            <a:off x="548640" y="4855464"/>
            <a:ext cx="3374136" cy="914"/>
          </a:xfrm>
          <a:prstGeom prst="line">
            <a:avLst/>
          </a:prstGeom>
          <a:noFill/>
          <a:ln w="8890">
            <a:solidFill>
              <a:srgbClr val="B9CDDD"/>
            </a:solidFill>
            <a:prstDash val="solid"/>
          </a:ln>
        </p:spPr>
      </p:sp>
      <p:sp>
        <p:nvSpPr>
          <p:cNvPr id="300" name="建模基础：麦克斯韦方程"/>
          <p:cNvSpPr/>
          <p:nvPr/>
        </p:nvSpPr>
        <p:spPr>
          <a:xfrm>
            <a:off x="548640" y="497433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建模基础：麦克斯韦方程</a:t>
            </a:r>
            <a:endParaRPr lang="en-US" sz="1660" dirty="0"/>
          </a:p>
        </p:txBody>
      </p:sp>
      <p:sp>
        <p:nvSpPr>
          <p:cNvPr id="301" name="通过网格离散形成数值方程 求解电磁场后提取器件响应"/>
          <p:cNvSpPr/>
          <p:nvPr/>
        </p:nvSpPr>
        <p:spPr>
          <a:xfrm>
            <a:off x="557784" y="5422392"/>
            <a:ext cx="3355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通过网格离散形成数值方程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求解电磁场后提取器件响应</a:t>
            </a:r>
            <a:endParaRPr lang="en-US" sz="1650" dirty="0"/>
          </a:p>
        </p:txBody>
      </p:sp>
      <p:sp>
        <p:nvSpPr>
          <p:cNvPr id="302" name="Shape 300"/>
          <p:cNvSpPr/>
          <p:nvPr/>
        </p:nvSpPr>
        <p:spPr>
          <a:xfrm>
            <a:off x="4407408" y="4855464"/>
            <a:ext cx="3374136" cy="914"/>
          </a:xfrm>
          <a:prstGeom prst="line">
            <a:avLst/>
          </a:prstGeom>
          <a:noFill/>
          <a:ln w="8890">
            <a:solidFill>
              <a:srgbClr val="B9CDDD"/>
            </a:solidFill>
            <a:prstDash val="solid"/>
          </a:ln>
        </p:spPr>
      </p:sp>
      <p:sp>
        <p:nvSpPr>
          <p:cNvPr id="303" name="正向：结构参数 → 电磁响应"/>
          <p:cNvSpPr/>
          <p:nvPr/>
        </p:nvSpPr>
        <p:spPr>
          <a:xfrm>
            <a:off x="4407408" y="497433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正向：结构参数 → 电磁响应</a:t>
            </a:r>
            <a:endParaRPr lang="en-US" sz="1660" dirty="0"/>
          </a:p>
        </p:txBody>
      </p:sp>
      <p:sp>
        <p:nvSpPr>
          <p:cNvPr id="304" name="逆向：目标响应 → 结构参数 基于样本建立设计变量与响应映射"/>
          <p:cNvSpPr/>
          <p:nvPr/>
        </p:nvSpPr>
        <p:spPr>
          <a:xfrm>
            <a:off x="4416552" y="5422392"/>
            <a:ext cx="3355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逆向：目标响应 → 结构参数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基于样本建立设计变量与响应映射</a:t>
            </a:r>
            <a:endParaRPr lang="en-US" sz="1650" dirty="0"/>
          </a:p>
        </p:txBody>
      </p:sp>
      <p:sp>
        <p:nvSpPr>
          <p:cNvPr id="305" name="Shape 303"/>
          <p:cNvSpPr/>
          <p:nvPr/>
        </p:nvSpPr>
        <p:spPr>
          <a:xfrm>
            <a:off x="8266176" y="4855464"/>
            <a:ext cx="3374136" cy="914"/>
          </a:xfrm>
          <a:prstGeom prst="line">
            <a:avLst/>
          </a:prstGeom>
          <a:noFill/>
          <a:ln w="8890">
            <a:solidFill>
              <a:srgbClr val="B9CDDD"/>
            </a:solidFill>
            <a:prstDash val="solid"/>
          </a:ln>
        </p:spPr>
      </p:sp>
      <p:sp>
        <p:nvSpPr>
          <p:cNvPr id="306" name="学习对象：偏微分方程解算子"/>
          <p:cNvSpPr/>
          <p:nvPr/>
        </p:nvSpPr>
        <p:spPr>
          <a:xfrm>
            <a:off x="8266176" y="4974336"/>
            <a:ext cx="3374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学习对象：偏微分方程解算子</a:t>
            </a:r>
            <a:endParaRPr lang="en-US" sz="1660" dirty="0"/>
          </a:p>
        </p:txBody>
      </p:sp>
      <p:sp>
        <p:nvSpPr>
          <p:cNvPr id="307" name="建立几何 / 激励到全场的映射 由预测场进一步提取器件响应"/>
          <p:cNvSpPr/>
          <p:nvPr/>
        </p:nvSpPr>
        <p:spPr>
          <a:xfrm>
            <a:off x="8275320" y="5422392"/>
            <a:ext cx="33558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建立几何 / 激励到全场的映射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由预测场进一步提取器件响应</a:t>
            </a:r>
            <a:endParaRPr lang="en-US" sz="1650" dirty="0"/>
          </a:p>
        </p:txBody>
      </p:sp>
      <p:sp>
        <p:nvSpPr>
          <p:cNvPr id="308" name="Shape 306"/>
          <p:cNvSpPr/>
          <p:nvPr/>
        </p:nvSpPr>
        <p:spPr>
          <a:xfrm>
            <a:off x="393192" y="6153912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309" name="三类方法分别通过数值求解、响应映射与全场算子学习完成电磁建模。"/>
          <p:cNvSpPr/>
          <p:nvPr/>
        </p:nvSpPr>
        <p:spPr>
          <a:xfrm>
            <a:off x="548640" y="617677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9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三类方法分别通过数值求解、响应映射与全场算子学习完成电磁建模。</a:t>
            </a:r>
            <a:endParaRPr lang="en-US" sz="18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3 现有研究面临的具体挑战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1.3 现有研究面临的具体挑战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2.3末段及2.4研究领域存在的挑战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资料依据：2.3末段及2.4研究领域存在的挑战</a:t>
            </a:r>
            <a:endParaRPr lang="en-US" sz="850" dirty="0"/>
          </a:p>
        </p:txBody>
      </p:sp>
      <p:sp>
        <p:nvSpPr>
          <p:cNvPr id="7" name="3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面向亚波长太赫兹器件，亟待解决三个关键挑战"/>
          <p:cNvSpPr/>
          <p:nvPr/>
        </p:nvSpPr>
        <p:spPr>
          <a:xfrm>
            <a:off x="502920" y="969264"/>
            <a:ext cx="11155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面向亚波长太赫兹器件，亟待解决三个关键挑战</a:t>
            </a:r>
            <a:endParaRPr lang="en-US" sz="2200" dirty="0"/>
          </a:p>
        </p:txBody>
      </p:sp>
      <p:sp>
        <p:nvSpPr>
          <p:cNvPr id="9" name="关键挑战"/>
          <p:cNvSpPr/>
          <p:nvPr/>
        </p:nvSpPr>
        <p:spPr>
          <a:xfrm>
            <a:off x="484632" y="152704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关键挑战</a:t>
            </a:r>
            <a:endParaRPr lang="en-US" sz="1600" dirty="0"/>
          </a:p>
        </p:txBody>
      </p:sp>
      <p:sp>
        <p:nvSpPr>
          <p:cNvPr id="10" name="复杂性来源"/>
          <p:cNvSpPr/>
          <p:nvPr/>
        </p:nvSpPr>
        <p:spPr>
          <a:xfrm>
            <a:off x="2816352" y="1527048"/>
            <a:ext cx="5184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复杂性来源</a:t>
            </a:r>
            <a:endParaRPr lang="en-US" sz="1600" dirty="0"/>
          </a:p>
        </p:txBody>
      </p:sp>
      <p:sp>
        <p:nvSpPr>
          <p:cNvPr id="11" name="需要回答的问题"/>
          <p:cNvSpPr/>
          <p:nvPr/>
        </p:nvSpPr>
        <p:spPr>
          <a:xfrm>
            <a:off x="8348472" y="15270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需要回答的问题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" y="1920240"/>
            <a:ext cx="11402568" cy="122529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3" name="几何信息完整性"/>
          <p:cNvSpPr/>
          <p:nvPr/>
        </p:nvSpPr>
        <p:spPr>
          <a:xfrm>
            <a:off x="484632" y="19933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几何信息完整性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3758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03758" y="2398654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17875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03758" y="2481608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31992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03758" y="2564563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146109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03758" y="2647517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260226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03758" y="2730472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74343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03758" y="2813426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60471" y="2554194"/>
            <a:ext cx="257159" cy="103693"/>
          </a:xfrm>
          <a:custGeom>
            <a:avLst/>
            <a:gdLst/>
            <a:ahLst/>
            <a:cxnLst/>
            <a:rect l="l" t="t" r="r" b="b"/>
            <a:pathLst>
              <a:path w="257159" h="103693">
                <a:moveTo>
                  <a:pt x="0" y="0"/>
                </a:moveTo>
                <a:lnTo>
                  <a:pt x="257159" y="0"/>
                </a:lnTo>
                <a:lnTo>
                  <a:pt x="257159" y="103693"/>
                </a:lnTo>
                <a:lnTo>
                  <a:pt x="0" y="103693"/>
                </a:lnTo>
                <a:close/>
              </a:path>
            </a:pathLst>
          </a:custGeom>
          <a:solidFill>
            <a:srgbClr val="C3E0EF"/>
          </a:solidFill>
          <a:ln w="20320">
            <a:solidFill>
              <a:srgbClr val="D79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88313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588313" y="2398654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702430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588313" y="2481608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816547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588313" y="2564563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930664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588313" y="2647517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2044781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588313" y="2730472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2158898" y="2398654"/>
            <a:ext cx="914" cy="414772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588313" y="2813426"/>
            <a:ext cx="570586" cy="914"/>
          </a:xfrm>
          <a:prstGeom prst="line">
            <a:avLst/>
          </a:prstGeom>
          <a:noFill/>
          <a:ln w="762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1746025" y="2478460"/>
            <a:ext cx="255161" cy="255161"/>
          </a:xfrm>
          <a:custGeom>
            <a:avLst/>
            <a:gdLst/>
            <a:ahLst/>
            <a:cxnLst/>
            <a:rect l="l" t="t" r="r" b="b"/>
            <a:pathLst>
              <a:path w="255161" h="255161">
                <a:moveTo>
                  <a:pt x="73322" y="0"/>
                </a:moveTo>
                <a:lnTo>
                  <a:pt x="255161" y="181839"/>
                </a:lnTo>
                <a:lnTo>
                  <a:pt x="181839" y="255161"/>
                </a:lnTo>
                <a:lnTo>
                  <a:pt x="0" y="73322"/>
                </a:lnTo>
                <a:close/>
              </a:path>
            </a:pathLst>
          </a:custGeom>
          <a:solidFill>
            <a:srgbClr val="C3E0EF"/>
          </a:solidFill>
          <a:ln w="20320">
            <a:solidFill>
              <a:srgbClr val="D79B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31402" y="2575316"/>
            <a:ext cx="99852" cy="914"/>
          </a:xfrm>
          <a:prstGeom prst="line">
            <a:avLst/>
          </a:prstGeom>
          <a:noFill/>
          <a:ln w="17780">
            <a:solidFill>
              <a:srgbClr val="143B63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431402" y="2636764"/>
            <a:ext cx="99852" cy="914"/>
          </a:xfrm>
          <a:prstGeom prst="line">
            <a:avLst/>
          </a:prstGeom>
          <a:noFill/>
          <a:ln w="17780">
            <a:solidFill>
              <a:srgbClr val="143B63"/>
            </a:solidFill>
            <a:prstDash val="solid"/>
            <a:headEnd type="none"/>
            <a:tailEnd type="none"/>
          </a:ln>
        </p:spPr>
      </p:sp>
      <p:sp>
        <p:nvSpPr>
          <p:cNvPr id="42" name="同面积 · 异朝向"/>
          <p:cNvSpPr/>
          <p:nvPr/>
        </p:nvSpPr>
        <p:spPr>
          <a:xfrm>
            <a:off x="484632" y="2907792"/>
            <a:ext cx="19933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同面积 · 异朝向</a:t>
            </a:r>
            <a:endParaRPr lang="en-US" sz="1340" dirty="0"/>
          </a:p>
        </p:txBody>
      </p:sp>
      <p:sp>
        <p:nvSpPr>
          <p:cNvPr id="43" name="尺度、方向与亚网格细节需协同保留"/>
          <p:cNvSpPr/>
          <p:nvPr/>
        </p:nvSpPr>
        <p:spPr>
          <a:xfrm>
            <a:off x="2816352" y="20299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尺度、方向与亚网格细节需协同保留</a:t>
            </a:r>
            <a:endParaRPr lang="en-US" sz="1850" dirty="0"/>
          </a:p>
        </p:txBody>
      </p:sp>
      <p:sp>
        <p:nvSpPr>
          <p:cNvPr id="44" name="零厚表面、物理棱边与角点交汇关系复杂 有限规则网格需承载精细边界信息"/>
          <p:cNvSpPr/>
          <p:nvPr/>
        </p:nvSpPr>
        <p:spPr>
          <a:xfrm>
            <a:off x="2816352" y="24505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零厚表面、物理棱边与角点交汇关系复杂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有限规则网格需承载精细边界信息</a:t>
            </a:r>
            <a:endParaRPr lang="en-US" sz="1750" dirty="0"/>
          </a:p>
        </p:txBody>
      </p:sp>
      <p:sp>
        <p:nvSpPr>
          <p:cNvPr id="45" name="Shape 43"/>
          <p:cNvSpPr/>
          <p:nvPr/>
        </p:nvSpPr>
        <p:spPr>
          <a:xfrm>
            <a:off x="8348472" y="2066544"/>
            <a:ext cx="320040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E3BFC1"/>
            </a:solidFill>
            <a:prstDash val="solid"/>
          </a:ln>
        </p:spPr>
      </p:sp>
      <p:sp>
        <p:nvSpPr>
          <p:cNvPr id="46" name="如何保留精细边界 及其局部几何信息？"/>
          <p:cNvSpPr/>
          <p:nvPr/>
        </p:nvSpPr>
        <p:spPr>
          <a:xfrm>
            <a:off x="8494776" y="21945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如何保留精细边界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及其局部几何信息？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393192" y="3291840"/>
            <a:ext cx="11402568" cy="1225296"/>
          </a:xfrm>
          <a:prstGeom prst="rect">
            <a:avLst/>
          </a:prstGeom>
          <a:solidFill>
            <a:srgbClr val="F7FAFD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48" name="三维场预测"/>
          <p:cNvSpPr/>
          <p:nvPr/>
        </p:nvSpPr>
        <p:spPr>
          <a:xfrm>
            <a:off x="484632" y="33649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三维场预测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1056681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2891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29101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65311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01522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37732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8603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04813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41024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277234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13444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49654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280526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16736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352946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89156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25367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61577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92448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28659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64869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01079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537289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573500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504371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40581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576791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13002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649212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685422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616293" y="4272656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52504" y="4252387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688714" y="423211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724924" y="4211848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761134" y="4191579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797345" y="4171310"/>
            <a:ext cx="148133" cy="20269"/>
          </a:xfrm>
          <a:custGeom>
            <a:avLst/>
            <a:gdLst/>
            <a:ahLst/>
            <a:cxnLst/>
            <a:rect l="l" t="t" r="r" b="b"/>
            <a:pathLst>
              <a:path w="148133" h="20269">
                <a:moveTo>
                  <a:pt x="0" y="20269"/>
                </a:moveTo>
                <a:lnTo>
                  <a:pt x="111923" y="20269"/>
                </a:lnTo>
                <a:lnTo>
                  <a:pt x="148133" y="0"/>
                </a:lnTo>
                <a:lnTo>
                  <a:pt x="3621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76174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6174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76174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76174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76174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76174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288097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88097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288097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288097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288097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288097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400020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400020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00020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400020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400020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400020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511942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511942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511942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11942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511942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11942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623865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623865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23865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23865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623865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623865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735787" y="4197873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35787" y="4127464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735787" y="4057056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735787" y="3986647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735787" y="3916238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735787" y="3845829"/>
            <a:ext cx="111923" cy="70409"/>
          </a:xfrm>
          <a:custGeom>
            <a:avLst/>
            <a:gdLst/>
            <a:ahLst/>
            <a:cxnLst/>
            <a:rect l="l" t="t" r="r" b="b"/>
            <a:pathLst>
              <a:path w="111923" h="70409">
                <a:moveTo>
                  <a:pt x="0" y="70409"/>
                </a:moveTo>
                <a:lnTo>
                  <a:pt x="111923" y="70409"/>
                </a:lnTo>
                <a:lnTo>
                  <a:pt x="111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432740" y="4244492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432740" y="4174084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432740" y="4103675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432740" y="403326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432740" y="396285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432740" y="389244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468951" y="4224223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468951" y="4153814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468951" y="408340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468951" y="401299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468951" y="394258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68951" y="387217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505161" y="4203954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05161" y="4133545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505161" y="406313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05161" y="399272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505161" y="392231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505161" y="385191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541371" y="4183685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541371" y="411327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541371" y="404286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541371" y="397245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41371" y="390205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541371" y="3831641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577581" y="416341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577581" y="4093007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577581" y="402259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577581" y="395218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577581" y="388178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577581" y="3811372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613792" y="4143146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613792" y="4072738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613792" y="4002329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613792" y="3931920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613792" y="3861511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613792" y="3791102"/>
            <a:ext cx="36210" cy="90678"/>
          </a:xfrm>
          <a:custGeom>
            <a:avLst/>
            <a:gdLst/>
            <a:ahLst/>
            <a:cxnLst/>
            <a:rect l="l" t="t" r="r" b="b"/>
            <a:pathLst>
              <a:path w="36210" h="90678">
                <a:moveTo>
                  <a:pt x="0" y="90678"/>
                </a:moveTo>
                <a:lnTo>
                  <a:pt x="36210" y="70409"/>
                </a:lnTo>
                <a:lnTo>
                  <a:pt x="36210" y="0"/>
                </a:lnTo>
                <a:lnTo>
                  <a:pt x="0" y="20269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56681" y="4335170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8" name="Shape 156"/>
          <p:cNvSpPr/>
          <p:nvPr/>
        </p:nvSpPr>
        <p:spPr>
          <a:xfrm flipV="1">
            <a:off x="1728216" y="4213555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59" name="Shape 157"/>
          <p:cNvSpPr/>
          <p:nvPr/>
        </p:nvSpPr>
        <p:spPr>
          <a:xfrm>
            <a:off x="1273942" y="4213555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0" name="Shape 158"/>
          <p:cNvSpPr/>
          <p:nvPr/>
        </p:nvSpPr>
        <p:spPr>
          <a:xfrm flipV="1">
            <a:off x="1056681" y="4213555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1" name="Shape 159"/>
          <p:cNvSpPr/>
          <p:nvPr/>
        </p:nvSpPr>
        <p:spPr>
          <a:xfrm>
            <a:off x="1056681" y="3912718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2" name="Shape 160"/>
          <p:cNvSpPr/>
          <p:nvPr/>
        </p:nvSpPr>
        <p:spPr>
          <a:xfrm flipV="1">
            <a:off x="1728216" y="3791102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3" name="Shape 161"/>
          <p:cNvSpPr/>
          <p:nvPr/>
        </p:nvSpPr>
        <p:spPr>
          <a:xfrm>
            <a:off x="1273942" y="3791102"/>
            <a:ext cx="67153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4" name="Shape 162"/>
          <p:cNvSpPr/>
          <p:nvPr/>
        </p:nvSpPr>
        <p:spPr>
          <a:xfrm flipV="1">
            <a:off x="1056681" y="3791102"/>
            <a:ext cx="217261" cy="12161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5" name="Shape 163"/>
          <p:cNvSpPr/>
          <p:nvPr/>
        </p:nvSpPr>
        <p:spPr>
          <a:xfrm>
            <a:off x="1056681" y="3912718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6" name="Shape 164"/>
          <p:cNvSpPr/>
          <p:nvPr/>
        </p:nvSpPr>
        <p:spPr>
          <a:xfrm>
            <a:off x="1728216" y="3912718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7" name="Shape 165"/>
          <p:cNvSpPr/>
          <p:nvPr/>
        </p:nvSpPr>
        <p:spPr>
          <a:xfrm>
            <a:off x="1945477" y="3791102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8" name="Shape 166"/>
          <p:cNvSpPr/>
          <p:nvPr/>
        </p:nvSpPr>
        <p:spPr>
          <a:xfrm>
            <a:off x="1273942" y="3791102"/>
            <a:ext cx="914" cy="422453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69" name="Shape 167"/>
          <p:cNvSpPr/>
          <p:nvPr/>
        </p:nvSpPr>
        <p:spPr>
          <a:xfrm>
            <a:off x="1247692" y="4155308"/>
            <a:ext cx="68517" cy="44412"/>
          </a:xfrm>
          <a:custGeom>
            <a:avLst/>
            <a:gdLst/>
            <a:ahLst/>
            <a:cxnLst/>
            <a:rect l="l" t="t" r="r" b="b"/>
            <a:pathLst>
              <a:path w="68517" h="44412">
                <a:moveTo>
                  <a:pt x="2727" y="44412"/>
                </a:moveTo>
                <a:lnTo>
                  <a:pt x="50918" y="14096"/>
                </a:lnTo>
                <a:lnTo>
                  <a:pt x="55348" y="21140"/>
                </a:lnTo>
                <a:lnTo>
                  <a:pt x="68517" y="0"/>
                </a:lnTo>
                <a:lnTo>
                  <a:pt x="43760" y="2719"/>
                </a:lnTo>
                <a:lnTo>
                  <a:pt x="48191" y="9762"/>
                </a:lnTo>
                <a:lnTo>
                  <a:pt x="0" y="4007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388715" y="4087715"/>
            <a:ext cx="68517" cy="44412"/>
          </a:xfrm>
          <a:custGeom>
            <a:avLst/>
            <a:gdLst/>
            <a:ahLst/>
            <a:cxnLst/>
            <a:rect l="l" t="t" r="r" b="b"/>
            <a:pathLst>
              <a:path w="68517" h="44412">
                <a:moveTo>
                  <a:pt x="2727" y="44412"/>
                </a:moveTo>
                <a:lnTo>
                  <a:pt x="50918" y="14096"/>
                </a:lnTo>
                <a:lnTo>
                  <a:pt x="55348" y="21140"/>
                </a:lnTo>
                <a:lnTo>
                  <a:pt x="68517" y="0"/>
                </a:lnTo>
                <a:lnTo>
                  <a:pt x="43760" y="2719"/>
                </a:lnTo>
                <a:lnTo>
                  <a:pt x="48191" y="9762"/>
                </a:lnTo>
                <a:lnTo>
                  <a:pt x="0" y="4007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529737" y="4032797"/>
            <a:ext cx="68517" cy="44412"/>
          </a:xfrm>
          <a:custGeom>
            <a:avLst/>
            <a:gdLst/>
            <a:ahLst/>
            <a:cxnLst/>
            <a:rect l="l" t="t" r="r" b="b"/>
            <a:pathLst>
              <a:path w="68517" h="44412">
                <a:moveTo>
                  <a:pt x="2727" y="44412"/>
                </a:moveTo>
                <a:lnTo>
                  <a:pt x="50918" y="14096"/>
                </a:lnTo>
                <a:lnTo>
                  <a:pt x="55348" y="21140"/>
                </a:lnTo>
                <a:lnTo>
                  <a:pt x="68517" y="0"/>
                </a:lnTo>
                <a:lnTo>
                  <a:pt x="43760" y="2719"/>
                </a:lnTo>
                <a:lnTo>
                  <a:pt x="48191" y="9762"/>
                </a:lnTo>
                <a:lnTo>
                  <a:pt x="0" y="40078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2" name="局部边界变化与物理约束共同作用"/>
          <p:cNvSpPr/>
          <p:nvPr/>
        </p:nvSpPr>
        <p:spPr>
          <a:xfrm>
            <a:off x="2816352" y="34015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局部边界变化与物理约束共同作用</a:t>
            </a:r>
            <a:endParaRPr lang="en-US" sz="1850" dirty="0"/>
          </a:p>
        </p:txBody>
      </p:sp>
      <p:sp>
        <p:nvSpPr>
          <p:cNvPr id="173" name="局部边界方向变化影响三维场分布 几何测度、算子表达与物理约束需匹配"/>
          <p:cNvSpPr/>
          <p:nvPr/>
        </p:nvSpPr>
        <p:spPr>
          <a:xfrm>
            <a:off x="2816352" y="38221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局部边界方向变化影响三维场分布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几何测度、算子表达与物理约束需匹配</a:t>
            </a:r>
            <a:endParaRPr lang="en-US" sz="1750" dirty="0"/>
          </a:p>
        </p:txBody>
      </p:sp>
      <p:sp>
        <p:nvSpPr>
          <p:cNvPr id="174" name="Shape 172"/>
          <p:cNvSpPr/>
          <p:nvPr/>
        </p:nvSpPr>
        <p:spPr>
          <a:xfrm>
            <a:off x="8348472" y="3438144"/>
            <a:ext cx="320040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E3BFC1"/>
            </a:solidFill>
            <a:prstDash val="solid"/>
          </a:ln>
        </p:spPr>
      </p:sp>
      <p:sp>
        <p:nvSpPr>
          <p:cNvPr id="175" name="如何融合几何与物理约束 实现三维场的局部增强？"/>
          <p:cNvSpPr/>
          <p:nvPr/>
        </p:nvSpPr>
        <p:spPr>
          <a:xfrm>
            <a:off x="8494776" y="35661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如何融合几何与物理约束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实现三维场的局部增强？</a:t>
            </a:r>
            <a:endParaRPr lang="en-US" sz="1900" dirty="0"/>
          </a:p>
        </p:txBody>
      </p:sp>
      <p:sp>
        <p:nvSpPr>
          <p:cNvPr id="176" name="Shape 174"/>
          <p:cNvSpPr/>
          <p:nvPr/>
        </p:nvSpPr>
        <p:spPr>
          <a:xfrm>
            <a:off x="393192" y="4663440"/>
            <a:ext cx="11402568" cy="1225296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77" name="跨任务泛化"/>
          <p:cNvSpPr/>
          <p:nvPr/>
        </p:nvSpPr>
        <p:spPr>
          <a:xfrm>
            <a:off x="484632" y="4736592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跨任务泛化</a:t>
            </a:r>
            <a:endParaRPr lang="en-US" sz="2000" dirty="0"/>
          </a:p>
        </p:txBody>
      </p:sp>
      <p:sp>
        <p:nvSpPr>
          <p:cNvPr id="178" name="Shape 176"/>
          <p:cNvSpPr/>
          <p:nvPr/>
        </p:nvSpPr>
        <p:spPr>
          <a:xfrm>
            <a:off x="837590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79" name="Shape 177"/>
          <p:cNvSpPr/>
          <p:nvPr/>
        </p:nvSpPr>
        <p:spPr>
          <a:xfrm>
            <a:off x="837590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0" name="Shape 178"/>
          <p:cNvSpPr/>
          <p:nvPr/>
        </p:nvSpPr>
        <p:spPr>
          <a:xfrm>
            <a:off x="837590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1" name="Shape 179"/>
          <p:cNvSpPr/>
          <p:nvPr/>
        </p:nvSpPr>
        <p:spPr>
          <a:xfrm flipV="1">
            <a:off x="837590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2" name="Shape 180"/>
          <p:cNvSpPr/>
          <p:nvPr/>
        </p:nvSpPr>
        <p:spPr>
          <a:xfrm flipV="1">
            <a:off x="837590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3" name="Shape 181"/>
          <p:cNvSpPr/>
          <p:nvPr/>
        </p:nvSpPr>
        <p:spPr>
          <a:xfrm>
            <a:off x="837590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4" name="Shape 182"/>
          <p:cNvSpPr/>
          <p:nvPr/>
        </p:nvSpPr>
        <p:spPr>
          <a:xfrm>
            <a:off x="1024128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5" name="Shape 183"/>
          <p:cNvSpPr/>
          <p:nvPr/>
        </p:nvSpPr>
        <p:spPr>
          <a:xfrm>
            <a:off x="102412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6" name="Shape 184"/>
          <p:cNvSpPr/>
          <p:nvPr/>
        </p:nvSpPr>
        <p:spPr>
          <a:xfrm flipV="1">
            <a:off x="1024128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7" name="Shape 185"/>
          <p:cNvSpPr/>
          <p:nvPr/>
        </p:nvSpPr>
        <p:spPr>
          <a:xfrm>
            <a:off x="1024128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8" name="Shape 186"/>
          <p:cNvSpPr/>
          <p:nvPr/>
        </p:nvSpPr>
        <p:spPr>
          <a:xfrm flipV="1">
            <a:off x="102412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9" name="Shape 187"/>
          <p:cNvSpPr/>
          <p:nvPr/>
        </p:nvSpPr>
        <p:spPr>
          <a:xfrm>
            <a:off x="1024128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810670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10670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97208" y="5363651"/>
            <a:ext cx="53840" cy="53840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97208" y="5466064"/>
            <a:ext cx="53840" cy="53840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97208" y="5568477"/>
            <a:ext cx="53840" cy="53840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83746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83746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770278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1770278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9" name="Shape 197"/>
          <p:cNvSpPr/>
          <p:nvPr/>
        </p:nvSpPr>
        <p:spPr>
          <a:xfrm>
            <a:off x="177027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0" name="Shape 198"/>
          <p:cNvSpPr/>
          <p:nvPr/>
        </p:nvSpPr>
        <p:spPr>
          <a:xfrm flipV="1">
            <a:off x="1770278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1" name="Shape 199"/>
          <p:cNvSpPr/>
          <p:nvPr/>
        </p:nvSpPr>
        <p:spPr>
          <a:xfrm flipV="1">
            <a:off x="1770278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2" name="Shape 200"/>
          <p:cNvSpPr/>
          <p:nvPr/>
        </p:nvSpPr>
        <p:spPr>
          <a:xfrm>
            <a:off x="1770278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3" name="Shape 201"/>
          <p:cNvSpPr/>
          <p:nvPr/>
        </p:nvSpPr>
        <p:spPr>
          <a:xfrm>
            <a:off x="1956816" y="5390571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4" name="Shape 202"/>
          <p:cNvSpPr/>
          <p:nvPr/>
        </p:nvSpPr>
        <p:spPr>
          <a:xfrm>
            <a:off x="1956816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5" name="Shape 203"/>
          <p:cNvSpPr/>
          <p:nvPr/>
        </p:nvSpPr>
        <p:spPr>
          <a:xfrm flipV="1">
            <a:off x="1956816" y="5390571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6" name="Shape 204"/>
          <p:cNvSpPr/>
          <p:nvPr/>
        </p:nvSpPr>
        <p:spPr>
          <a:xfrm>
            <a:off x="1956816" y="5492984"/>
            <a:ext cx="186538" cy="102413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7" name="Shape 205"/>
          <p:cNvSpPr/>
          <p:nvPr/>
        </p:nvSpPr>
        <p:spPr>
          <a:xfrm flipV="1">
            <a:off x="1956816" y="5390571"/>
            <a:ext cx="186538" cy="20482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8" name="Shape 206"/>
          <p:cNvSpPr/>
          <p:nvPr/>
        </p:nvSpPr>
        <p:spPr>
          <a:xfrm>
            <a:off x="1956816" y="5595396"/>
            <a:ext cx="186538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1743358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743358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929896" y="5363651"/>
            <a:ext cx="53840" cy="53840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929896" y="5466064"/>
            <a:ext cx="53840" cy="53840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929896" y="5568477"/>
            <a:ext cx="53840" cy="53840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2116434" y="5363651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2116434" y="5568477"/>
            <a:ext cx="53840" cy="53840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350569" y="5434462"/>
            <a:ext cx="279806" cy="99487"/>
          </a:xfrm>
          <a:custGeom>
            <a:avLst/>
            <a:gdLst/>
            <a:ahLst/>
            <a:cxnLst/>
            <a:rect l="l" t="t" r="r" b="b"/>
            <a:pathLst>
              <a:path w="279806" h="99487">
                <a:moveTo>
                  <a:pt x="0" y="65837"/>
                </a:moveTo>
                <a:lnTo>
                  <a:pt x="124358" y="65837"/>
                </a:lnTo>
                <a:lnTo>
                  <a:pt x="124358" y="99487"/>
                </a:lnTo>
                <a:lnTo>
                  <a:pt x="279806" y="49743"/>
                </a:lnTo>
                <a:lnTo>
                  <a:pt x="124358" y="0"/>
                </a:lnTo>
                <a:lnTo>
                  <a:pt x="124358" y="33650"/>
                </a:lnTo>
                <a:lnTo>
                  <a:pt x="0" y="33650"/>
                </a:lnTo>
                <a:close/>
              </a:path>
            </a:pathLst>
          </a:custGeom>
          <a:solidFill>
            <a:srgbClr val="2296BC"/>
          </a:solidFill>
          <a:ln w="12700">
            <a:solidFill>
              <a:srgbClr val="2296BC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798728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18" name="Shape 216"/>
          <p:cNvSpPr/>
          <p:nvPr/>
        </p:nvSpPr>
        <p:spPr>
          <a:xfrm flipV="1">
            <a:off x="813755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 flipV="1">
            <a:off x="828782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 flipV="1">
            <a:off x="843808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1" name="Shape 219"/>
          <p:cNvSpPr/>
          <p:nvPr/>
        </p:nvSpPr>
        <p:spPr>
          <a:xfrm flipV="1">
            <a:off x="858835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2" name="Shape 220"/>
          <p:cNvSpPr/>
          <p:nvPr/>
        </p:nvSpPr>
        <p:spPr>
          <a:xfrm>
            <a:off x="873862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3" name="Shape 221"/>
          <p:cNvSpPr/>
          <p:nvPr/>
        </p:nvSpPr>
        <p:spPr>
          <a:xfrm>
            <a:off x="888888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4" name="Shape 222"/>
          <p:cNvSpPr/>
          <p:nvPr/>
        </p:nvSpPr>
        <p:spPr>
          <a:xfrm>
            <a:off x="903915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5" name="Shape 223"/>
          <p:cNvSpPr/>
          <p:nvPr/>
        </p:nvSpPr>
        <p:spPr>
          <a:xfrm>
            <a:off x="918942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6" name="Shape 224"/>
          <p:cNvSpPr/>
          <p:nvPr/>
        </p:nvSpPr>
        <p:spPr>
          <a:xfrm>
            <a:off x="933968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7" name="Shape 225"/>
          <p:cNvSpPr/>
          <p:nvPr/>
        </p:nvSpPr>
        <p:spPr>
          <a:xfrm>
            <a:off x="948995" y="5267676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964021" y="5280334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979048" y="529175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>
            <a:off x="994075" y="5300817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>
            <a:off x="1009101" y="5306636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 flipV="1">
            <a:off x="1024128" y="5306636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3" name="Shape 231"/>
          <p:cNvSpPr/>
          <p:nvPr/>
        </p:nvSpPr>
        <p:spPr>
          <a:xfrm flipV="1">
            <a:off x="1039155" y="5300817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4" name="Shape 232"/>
          <p:cNvSpPr/>
          <p:nvPr/>
        </p:nvSpPr>
        <p:spPr>
          <a:xfrm flipV="1">
            <a:off x="1054181" y="529175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5" name="Shape 233"/>
          <p:cNvSpPr/>
          <p:nvPr/>
        </p:nvSpPr>
        <p:spPr>
          <a:xfrm flipV="1">
            <a:off x="1069208" y="5280334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 flipV="1">
            <a:off x="1084235" y="5267676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 flipV="1">
            <a:off x="1099261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 flipV="1">
            <a:off x="1114288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 flipV="1">
            <a:off x="1129314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0" name="Shape 238"/>
          <p:cNvSpPr/>
          <p:nvPr/>
        </p:nvSpPr>
        <p:spPr>
          <a:xfrm flipV="1">
            <a:off x="1144341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1" name="Shape 239"/>
          <p:cNvSpPr/>
          <p:nvPr/>
        </p:nvSpPr>
        <p:spPr>
          <a:xfrm flipV="1">
            <a:off x="1159368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2" name="Shape 240"/>
          <p:cNvSpPr/>
          <p:nvPr/>
        </p:nvSpPr>
        <p:spPr>
          <a:xfrm>
            <a:off x="1174394" y="5226710"/>
            <a:ext cx="15027" cy="200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3" name="Shape 241"/>
          <p:cNvSpPr/>
          <p:nvPr/>
        </p:nvSpPr>
        <p:spPr>
          <a:xfrm>
            <a:off x="1189421" y="5228715"/>
            <a:ext cx="15027" cy="581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4" name="Shape 242"/>
          <p:cNvSpPr/>
          <p:nvPr/>
        </p:nvSpPr>
        <p:spPr>
          <a:xfrm>
            <a:off x="1204448" y="5234534"/>
            <a:ext cx="15027" cy="9063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5" name="Shape 243"/>
          <p:cNvSpPr/>
          <p:nvPr/>
        </p:nvSpPr>
        <p:spPr>
          <a:xfrm>
            <a:off x="1219474" y="5243597"/>
            <a:ext cx="15027" cy="11420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6" name="Shape 244"/>
          <p:cNvSpPr/>
          <p:nvPr/>
        </p:nvSpPr>
        <p:spPr>
          <a:xfrm>
            <a:off x="1234501" y="5255017"/>
            <a:ext cx="15027" cy="12659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7" name="Shape 245"/>
          <p:cNvSpPr/>
          <p:nvPr/>
        </p:nvSpPr>
        <p:spPr>
          <a:xfrm flipV="1">
            <a:off x="1731416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 flipV="1">
            <a:off x="174644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 flipV="1">
            <a:off x="1761470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0" name="Shape 248"/>
          <p:cNvSpPr/>
          <p:nvPr/>
        </p:nvSpPr>
        <p:spPr>
          <a:xfrm>
            <a:off x="1776496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1" name="Shape 249"/>
          <p:cNvSpPr/>
          <p:nvPr/>
        </p:nvSpPr>
        <p:spPr>
          <a:xfrm>
            <a:off x="179152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1806550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1821576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1836603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1851630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6" name="Shape 254"/>
          <p:cNvSpPr/>
          <p:nvPr/>
        </p:nvSpPr>
        <p:spPr>
          <a:xfrm flipV="1">
            <a:off x="1866656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7" name="Shape 255"/>
          <p:cNvSpPr/>
          <p:nvPr/>
        </p:nvSpPr>
        <p:spPr>
          <a:xfrm flipV="1">
            <a:off x="1881683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8" name="Shape 256"/>
          <p:cNvSpPr/>
          <p:nvPr/>
        </p:nvSpPr>
        <p:spPr>
          <a:xfrm flipV="1">
            <a:off x="1896709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59" name="Shape 257"/>
          <p:cNvSpPr/>
          <p:nvPr/>
        </p:nvSpPr>
        <p:spPr>
          <a:xfrm flipV="1">
            <a:off x="1911736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0" name="Shape 258"/>
          <p:cNvSpPr/>
          <p:nvPr/>
        </p:nvSpPr>
        <p:spPr>
          <a:xfrm flipV="1">
            <a:off x="192676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1" name="Shape 259"/>
          <p:cNvSpPr/>
          <p:nvPr/>
        </p:nvSpPr>
        <p:spPr>
          <a:xfrm flipV="1">
            <a:off x="1941789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2" name="Shape 260"/>
          <p:cNvSpPr/>
          <p:nvPr/>
        </p:nvSpPr>
        <p:spPr>
          <a:xfrm>
            <a:off x="1956816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3" name="Shape 261"/>
          <p:cNvSpPr/>
          <p:nvPr/>
        </p:nvSpPr>
        <p:spPr>
          <a:xfrm>
            <a:off x="1971843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4" name="Shape 262"/>
          <p:cNvSpPr/>
          <p:nvPr/>
        </p:nvSpPr>
        <p:spPr>
          <a:xfrm>
            <a:off x="1986869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5" name="Shape 263"/>
          <p:cNvSpPr/>
          <p:nvPr/>
        </p:nvSpPr>
        <p:spPr>
          <a:xfrm>
            <a:off x="2001896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6" name="Shape 264"/>
          <p:cNvSpPr/>
          <p:nvPr/>
        </p:nvSpPr>
        <p:spPr>
          <a:xfrm>
            <a:off x="2016923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7" name="Shape 265"/>
          <p:cNvSpPr/>
          <p:nvPr/>
        </p:nvSpPr>
        <p:spPr>
          <a:xfrm>
            <a:off x="2031949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8" name="Shape 266"/>
          <p:cNvSpPr/>
          <p:nvPr/>
        </p:nvSpPr>
        <p:spPr>
          <a:xfrm flipV="1">
            <a:off x="2046976" y="5303152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69" name="Shape 267"/>
          <p:cNvSpPr/>
          <p:nvPr/>
        </p:nvSpPr>
        <p:spPr>
          <a:xfrm flipV="1">
            <a:off x="2062002" y="5288158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0" name="Shape 268"/>
          <p:cNvSpPr/>
          <p:nvPr/>
        </p:nvSpPr>
        <p:spPr>
          <a:xfrm flipV="1">
            <a:off x="2077029" y="5267676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1" name="Shape 269"/>
          <p:cNvSpPr/>
          <p:nvPr/>
        </p:nvSpPr>
        <p:spPr>
          <a:xfrm flipV="1">
            <a:off x="2092056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2" name="Shape 270"/>
          <p:cNvSpPr/>
          <p:nvPr/>
        </p:nvSpPr>
        <p:spPr>
          <a:xfrm flipV="1">
            <a:off x="2107082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 flipV="1">
            <a:off x="2122109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2137136" y="5226710"/>
            <a:ext cx="15027" cy="5488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2152162" y="5232199"/>
            <a:ext cx="15027" cy="14994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2167189" y="5247193"/>
            <a:ext cx="15027" cy="204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7" name="新频段与新拓扑下的知识复用"/>
          <p:cNvSpPr/>
          <p:nvPr/>
        </p:nvSpPr>
        <p:spPr>
          <a:xfrm>
            <a:off x="2816352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新频段与新拓扑下的知识复用</a:t>
            </a:r>
            <a:endParaRPr lang="en-US" sz="1850" dirty="0"/>
          </a:p>
        </p:txBody>
      </p:sp>
      <p:sp>
        <p:nvSpPr>
          <p:cNvPr id="278" name="跨任务几何与电磁响应存在差异 需以少量目标样本支持多器件建模应用"/>
          <p:cNvSpPr/>
          <p:nvPr/>
        </p:nvSpPr>
        <p:spPr>
          <a:xfrm>
            <a:off x="2816352" y="51937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跨任务几何与电磁响应存在差异</a:t>
            </a:r>
            <a:endParaRPr lang="en-US" sz="1750" dirty="0"/>
          </a:p>
          <a:p>
            <a:pPr algn="l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需以少量目标样本支持多器件建模应用</a:t>
            </a:r>
            <a:endParaRPr lang="en-US" sz="1750" dirty="0"/>
          </a:p>
        </p:txBody>
      </p:sp>
      <p:sp>
        <p:nvSpPr>
          <p:cNvPr id="279" name="Shape 277"/>
          <p:cNvSpPr/>
          <p:nvPr/>
        </p:nvSpPr>
        <p:spPr>
          <a:xfrm>
            <a:off x="8348472" y="4809744"/>
            <a:ext cx="3200400" cy="914400"/>
          </a:xfrm>
          <a:prstGeom prst="rect">
            <a:avLst/>
          </a:prstGeom>
          <a:solidFill>
            <a:srgbClr val="FFF7F6"/>
          </a:solidFill>
          <a:ln w="10160">
            <a:solidFill>
              <a:srgbClr val="E3BFC1"/>
            </a:solidFill>
            <a:prstDash val="solid"/>
          </a:ln>
        </p:spPr>
      </p:sp>
      <p:sp>
        <p:nvSpPr>
          <p:cNvPr id="280" name="如何用少量样本实现 跨频率、跨构型适配？"/>
          <p:cNvSpPr/>
          <p:nvPr/>
        </p:nvSpPr>
        <p:spPr>
          <a:xfrm>
            <a:off x="8494776" y="493776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如何用少量样本实现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跨频率、跨构型适配？</a:t>
            </a:r>
            <a:endParaRPr lang="en-US" sz="1900" dirty="0"/>
          </a:p>
        </p:txBody>
      </p:sp>
      <p:sp>
        <p:nvSpPr>
          <p:cNvPr id="281" name="Shape 279"/>
          <p:cNvSpPr/>
          <p:nvPr/>
        </p:nvSpPr>
        <p:spPr>
          <a:xfrm>
            <a:off x="393192" y="6153912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282" name="三项挑战分别指向精细几何信息保留、三维电磁场预测与跨任务泛化。"/>
          <p:cNvSpPr/>
          <p:nvPr/>
        </p:nvSpPr>
        <p:spPr>
          <a:xfrm>
            <a:off x="548640" y="617677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三项挑战分别指向精细几何信息保留、三维电磁场预测与跨任务泛化。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1 研究目标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 研究目标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二、研究目标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资料依据：二、研究目标</a:t>
            </a:r>
            <a:endParaRPr lang="en-US" sz="850" dirty="0"/>
          </a:p>
        </p:txBody>
      </p:sp>
      <p:sp>
        <p:nvSpPr>
          <p:cNvPr id="7" name="4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" y="1115568"/>
            <a:ext cx="11301984" cy="621792"/>
          </a:xfrm>
          <a:prstGeom prst="rect">
            <a:avLst/>
          </a:prstGeom>
          <a:solidFill>
            <a:srgbClr val="FAFCFE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32688"/>
            <a:ext cx="1527048" cy="365760"/>
          </a:xfrm>
          <a:custGeom>
            <a:avLst/>
            <a:gdLst/>
            <a:ahLst/>
            <a:cxnLst/>
            <a:rect l="l" t="t" r="r" b="b"/>
            <a:pathLst>
              <a:path w="1527048" h="365760">
                <a:moveTo>
                  <a:pt x="0" y="0"/>
                </a:moveTo>
                <a:lnTo>
                  <a:pt x="1527048" y="0"/>
                </a:lnTo>
                <a:lnTo>
                  <a:pt x="141732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98448"/>
            <a:ext cx="128016" cy="91440"/>
          </a:xfrm>
          <a:custGeom>
            <a:avLst/>
            <a:gdLst/>
            <a:ahLst/>
            <a:cxnLst/>
            <a:rect l="l" t="t" r="r" b="b"/>
            <a:pathLst>
              <a:path w="128016" h="91440">
                <a:moveTo>
                  <a:pt x="0" y="0"/>
                </a:moveTo>
                <a:lnTo>
                  <a:pt x="128016" y="0"/>
                </a:lnTo>
                <a:lnTo>
                  <a:pt x="128016" y="91440"/>
                </a:lnTo>
                <a:close/>
              </a:path>
            </a:pathLst>
          </a:custGeom>
          <a:solidFill>
            <a:srgbClr val="143B63"/>
          </a:solidFill>
          <a:ln w="12700">
            <a:solidFill>
              <a:srgbClr val="143B63"/>
            </a:solidFill>
            <a:prstDash val="solid"/>
          </a:ln>
        </p:spPr>
      </p:sp>
      <p:sp>
        <p:nvSpPr>
          <p:cNvPr id="11" name="总体目标"/>
          <p:cNvSpPr/>
          <p:nvPr/>
        </p:nvSpPr>
        <p:spPr>
          <a:xfrm>
            <a:off x="475488" y="946404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总体目标</a:t>
            </a:r>
            <a:endParaRPr lang="en-US" sz="2000" dirty="0"/>
          </a:p>
        </p:txBody>
      </p:sp>
      <p:sp>
        <p:nvSpPr>
          <p:cNvPr id="12" name="高保真几何输入 → 三维复电磁场预测 → 新频段 / 新构型适配"/>
          <p:cNvSpPr/>
          <p:nvPr/>
        </p:nvSpPr>
        <p:spPr>
          <a:xfrm>
            <a:off x="694944" y="12618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高保真几何输入 → 三维复电磁场预测 → 新频段 / 新构型适配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3557016" cy="3401568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38528"/>
            <a:ext cx="3557016" cy="42062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5" name="目标一"/>
          <p:cNvSpPr/>
          <p:nvPr/>
        </p:nvSpPr>
        <p:spPr>
          <a:xfrm>
            <a:off x="548640" y="200253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目标一</a:t>
            </a:r>
            <a:endParaRPr lang="en-US" sz="2100" dirty="0"/>
          </a:p>
        </p:txBody>
      </p:sp>
      <p:sp>
        <p:nvSpPr>
          <p:cNvPr id="16" name="精细边界高保真表征"/>
          <p:cNvSpPr/>
          <p:nvPr/>
        </p:nvSpPr>
        <p:spPr>
          <a:xfrm>
            <a:off x="566928" y="2514600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精细边界高保真表征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15395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1376241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146612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1015395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15395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 flipV="1">
            <a:off x="1376241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46612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 flipV="1">
            <a:off x="1015395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15395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376241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507457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094125" y="3279075"/>
            <a:ext cx="234549" cy="235367"/>
          </a:xfrm>
          <a:custGeom>
            <a:avLst/>
            <a:gdLst/>
            <a:ahLst/>
            <a:cxnLst/>
            <a:rect l="l" t="t" r="r" b="b"/>
            <a:pathLst>
              <a:path w="234549" h="235367">
                <a:moveTo>
                  <a:pt x="0" y="235367"/>
                </a:moveTo>
                <a:lnTo>
                  <a:pt x="234549" y="235367"/>
                </a:lnTo>
                <a:lnTo>
                  <a:pt x="234549" y="0"/>
                </a:lnTo>
                <a:lnTo>
                  <a:pt x="0" y="0"/>
                </a:lnTo>
                <a:close/>
              </a:path>
            </a:pathLst>
          </a:custGeom>
          <a:solidFill>
            <a:srgbClr val="C4DFF0"/>
          </a:solidFill>
          <a:ln w="10160">
            <a:solidFill>
              <a:srgbClr val="165CA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4125" y="3214884"/>
            <a:ext cx="319840" cy="64191"/>
          </a:xfrm>
          <a:custGeom>
            <a:avLst/>
            <a:gdLst/>
            <a:ahLst/>
            <a:cxnLst/>
            <a:rect l="l" t="t" r="r" b="b"/>
            <a:pathLst>
              <a:path w="319840" h="64191">
                <a:moveTo>
                  <a:pt x="0" y="64191"/>
                </a:moveTo>
                <a:lnTo>
                  <a:pt x="85291" y="0"/>
                </a:lnTo>
                <a:lnTo>
                  <a:pt x="319840" y="0"/>
                </a:lnTo>
                <a:lnTo>
                  <a:pt x="234549" y="64191"/>
                </a:lnTo>
                <a:close/>
              </a:path>
            </a:pathLst>
          </a:custGeom>
          <a:solidFill>
            <a:srgbClr val="E5F0F7"/>
          </a:solidFill>
          <a:ln w="10160">
            <a:solidFill>
              <a:srgbClr val="165CA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8675" y="3214884"/>
            <a:ext cx="85291" cy="299557"/>
          </a:xfrm>
          <a:custGeom>
            <a:avLst/>
            <a:gdLst/>
            <a:ahLst/>
            <a:cxnLst/>
            <a:rect l="l" t="t" r="r" b="b"/>
            <a:pathLst>
              <a:path w="85291" h="299557">
                <a:moveTo>
                  <a:pt x="0" y="299557"/>
                </a:moveTo>
                <a:lnTo>
                  <a:pt x="85291" y="235367"/>
                </a:lnTo>
                <a:lnTo>
                  <a:pt x="85291" y="0"/>
                </a:lnTo>
                <a:lnTo>
                  <a:pt x="0" y="64191"/>
                </a:lnTo>
                <a:close/>
              </a:path>
            </a:pathLst>
          </a:custGeom>
          <a:solidFill>
            <a:srgbClr val="9FCBE3"/>
          </a:solidFill>
          <a:ln w="10160">
            <a:solidFill>
              <a:srgbClr val="165C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3544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671477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 flipV="1">
            <a:off x="2032323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802694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 flipV="1">
            <a:off x="1671477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671477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 flipV="1">
            <a:off x="2032323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1802694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 flipV="1">
            <a:off x="1671477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671477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2032323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2163539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737742" y="3238915"/>
            <a:ext cx="356909" cy="264993"/>
          </a:xfrm>
          <a:custGeom>
            <a:avLst/>
            <a:gdLst/>
            <a:ahLst/>
            <a:cxnLst/>
            <a:rect l="l" t="t" r="r" b="b"/>
            <a:pathLst>
              <a:path w="356909" h="264993">
                <a:moveTo>
                  <a:pt x="0" y="264993"/>
                </a:moveTo>
                <a:lnTo>
                  <a:pt x="259808" y="141878"/>
                </a:lnTo>
                <a:lnTo>
                  <a:pt x="356909" y="0"/>
                </a:lnTo>
                <a:lnTo>
                  <a:pt x="97100" y="119494"/>
                </a:lnTo>
                <a:close/>
              </a:path>
            </a:pathLst>
          </a:custGeom>
          <a:solidFill>
            <a:srgbClr val="BFDFEF"/>
          </a:solidFill>
          <a:ln w="13970">
            <a:solidFill>
              <a:srgbClr val="2296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9626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327559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 flipV="1">
            <a:off x="2688405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2458776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 flipV="1">
            <a:off x="2327559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2327559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 flipV="1">
            <a:off x="2688405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2458776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 flipV="1">
            <a:off x="2327559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3" name="Shape 51"/>
          <p:cNvSpPr/>
          <p:nvPr/>
        </p:nvSpPr>
        <p:spPr>
          <a:xfrm>
            <a:off x="2327559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688405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19621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 flipV="1">
            <a:off x="2409898" y="3210276"/>
            <a:ext cx="324761" cy="304166"/>
          </a:xfrm>
          <a:prstGeom prst="line">
            <a:avLst/>
          </a:prstGeom>
          <a:noFill/>
          <a:ln w="38100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57" name="Text 55"/>
          <p:cNvSpPr/>
          <p:nvPr/>
        </p:nvSpPr>
        <p:spPr>
          <a:xfrm>
            <a:off x="2235708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2983641" y="3595421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59" name="Shape 57"/>
          <p:cNvSpPr/>
          <p:nvPr/>
        </p:nvSpPr>
        <p:spPr>
          <a:xfrm flipV="1">
            <a:off x="3344487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0" name="Shape 58"/>
          <p:cNvSpPr/>
          <p:nvPr/>
        </p:nvSpPr>
        <p:spPr>
          <a:xfrm>
            <a:off x="3114858" y="3496666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1" name="Shape 59"/>
          <p:cNvSpPr/>
          <p:nvPr/>
        </p:nvSpPr>
        <p:spPr>
          <a:xfrm flipV="1">
            <a:off x="2983641" y="3496666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2" name="Shape 60"/>
          <p:cNvSpPr/>
          <p:nvPr/>
        </p:nvSpPr>
        <p:spPr>
          <a:xfrm>
            <a:off x="2983641" y="3233318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3" name="Shape 61"/>
          <p:cNvSpPr/>
          <p:nvPr/>
        </p:nvSpPr>
        <p:spPr>
          <a:xfrm flipV="1">
            <a:off x="3344487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3114858" y="3134563"/>
            <a:ext cx="360845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 flipV="1">
            <a:off x="2983641" y="3134563"/>
            <a:ext cx="131216" cy="98755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2983641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344487" y="3233318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475703" y="3134563"/>
            <a:ext cx="914" cy="362102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3193117" y="3318577"/>
            <a:ext cx="82296" cy="82296"/>
          </a:xfrm>
          <a:prstGeom prst="ellipse">
            <a:avLst/>
          </a:prstGeom>
          <a:solidFill>
            <a:srgbClr val="D79B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891790" y="3639312"/>
            <a:ext cx="656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</a:t>
            </a:r>
            <a:endParaRPr lang="en-US" sz="1400" dirty="0"/>
          </a:p>
        </p:txBody>
      </p:sp>
      <p:sp>
        <p:nvSpPr>
          <p:cNvPr id="71" name="提出分维几何测度表征方法 同时编码尺度、方向与位置"/>
          <p:cNvSpPr/>
          <p:nvPr/>
        </p:nvSpPr>
        <p:spPr>
          <a:xfrm>
            <a:off x="594360" y="407822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提出分维几何测度表征方法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同时编码尺度、方向与位置</a:t>
            </a:r>
            <a:endParaRPr lang="en-US" sz="1750" dirty="0"/>
          </a:p>
        </p:txBody>
      </p:sp>
      <p:sp>
        <p:nvSpPr>
          <p:cNvPr id="72" name="Shape 70"/>
          <p:cNvSpPr/>
          <p:nvPr/>
        </p:nvSpPr>
        <p:spPr>
          <a:xfrm>
            <a:off x="612648" y="4837176"/>
            <a:ext cx="324612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73" name="形成高保真几何输入"/>
          <p:cNvSpPr/>
          <p:nvPr/>
        </p:nvSpPr>
        <p:spPr>
          <a:xfrm>
            <a:off x="676656" y="48737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形成高保真几何输入</a:t>
            </a:r>
            <a:endParaRPr lang="en-US" sz="1680" dirty="0"/>
          </a:p>
        </p:txBody>
      </p:sp>
      <p:sp>
        <p:nvSpPr>
          <p:cNvPr id="74" name="Shape 72"/>
          <p:cNvSpPr/>
          <p:nvPr/>
        </p:nvSpPr>
        <p:spPr>
          <a:xfrm>
            <a:off x="4315968" y="1938528"/>
            <a:ext cx="3557016" cy="3401568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15968" y="1938528"/>
            <a:ext cx="3557016" cy="42062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76" name="目标二"/>
          <p:cNvSpPr/>
          <p:nvPr/>
        </p:nvSpPr>
        <p:spPr>
          <a:xfrm>
            <a:off x="4407408" y="200253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目标二</a:t>
            </a:r>
            <a:endParaRPr lang="en-US" sz="2100" dirty="0"/>
          </a:p>
        </p:txBody>
      </p:sp>
      <p:sp>
        <p:nvSpPr>
          <p:cNvPr id="77" name="三维复电磁场快速预测"/>
          <p:cNvSpPr/>
          <p:nvPr/>
        </p:nvSpPr>
        <p:spPr>
          <a:xfrm>
            <a:off x="4425696" y="2514600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三维复电磁场快速预测</a:t>
            </a:r>
            <a:endParaRPr lang="en-US" sz="2000" dirty="0"/>
          </a:p>
        </p:txBody>
      </p:sp>
      <p:sp>
        <p:nvSpPr>
          <p:cNvPr id="78" name="Shape 76"/>
          <p:cNvSpPr/>
          <p:nvPr/>
        </p:nvSpPr>
        <p:spPr>
          <a:xfrm>
            <a:off x="5547299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93568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39836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86105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732374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78642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90311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36580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82848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29117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75386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21654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833323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879592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925861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72129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18398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64667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76336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022604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68873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15141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161410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07679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119348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65616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11885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58154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304422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50691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62360" y="377553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308628" y="374600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354897" y="371646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401166" y="368693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447434" y="3657399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493703" y="3627864"/>
            <a:ext cx="189281" cy="29535"/>
          </a:xfrm>
          <a:custGeom>
            <a:avLst/>
            <a:gdLst/>
            <a:ahLst/>
            <a:cxnLst/>
            <a:rect l="l" t="t" r="r" b="b"/>
            <a:pathLst>
              <a:path w="189281" h="29535">
                <a:moveTo>
                  <a:pt x="0" y="29535"/>
                </a:moveTo>
                <a:lnTo>
                  <a:pt x="143012" y="29535"/>
                </a:lnTo>
                <a:lnTo>
                  <a:pt x="189281" y="0"/>
                </a:lnTo>
                <a:lnTo>
                  <a:pt x="46269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699986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5699986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5699986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699986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699986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699986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842998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842998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42998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42998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42998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42998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86010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986010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86010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86010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986010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86010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129022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129022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29022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129022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129022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129022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272034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272034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272034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272034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272034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272034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415046" y="3666570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415046" y="3563975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415046" y="3461379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415046" y="3358783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15046" y="3256188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415046" y="3153592"/>
            <a:ext cx="143012" cy="102596"/>
          </a:xfrm>
          <a:custGeom>
            <a:avLst/>
            <a:gdLst/>
            <a:ahLst/>
            <a:cxnLst/>
            <a:rect l="l" t="t" r="r" b="b"/>
            <a:pathLst>
              <a:path w="143012" h="102596">
                <a:moveTo>
                  <a:pt x="0" y="102596"/>
                </a:moveTo>
                <a:lnTo>
                  <a:pt x="143012" y="102596"/>
                </a:lnTo>
                <a:lnTo>
                  <a:pt x="143012" y="0"/>
                </a:lnTo>
                <a:lnTo>
                  <a:pt x="0" y="0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27820" y="3734501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8B9"/>
          </a:solidFill>
          <a:ln w="12700">
            <a:solidFill>
              <a:srgbClr val="3088B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027820" y="363190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27820" y="352931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027820" y="342671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027820" y="332411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9B9"/>
          </a:solidFill>
          <a:ln w="12700">
            <a:solidFill>
              <a:srgbClr val="3089B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027820" y="322152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2F87B9"/>
          </a:solidFill>
          <a:ln w="12700">
            <a:solidFill>
              <a:srgbClr val="2F87B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74089" y="3704966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FBC"/>
          </a:solidFill>
          <a:ln w="12700">
            <a:solidFill>
              <a:srgbClr val="308FB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74089" y="360237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7BF"/>
          </a:solidFill>
          <a:ln w="12700">
            <a:solidFill>
              <a:srgbClr val="3197B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074089" y="349977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074089" y="339717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DC2"/>
          </a:solidFill>
          <a:ln w="12700">
            <a:solidFill>
              <a:srgbClr val="329DC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074089" y="329458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074089" y="319198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EBB"/>
          </a:solidFill>
          <a:ln w="12700">
            <a:solidFill>
              <a:srgbClr val="308EB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20357" y="3675431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FC2"/>
          </a:solidFill>
          <a:ln w="12700">
            <a:solidFill>
              <a:srgbClr val="329FC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120357" y="357283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6BC0D3"/>
          </a:solidFill>
          <a:ln w="12700">
            <a:solidFill>
              <a:srgbClr val="6BC0D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20357" y="347023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ACD7D5"/>
          </a:solidFill>
          <a:ln w="12700">
            <a:solidFill>
              <a:srgbClr val="ACD7D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120357" y="336764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A9D9DD"/>
          </a:solidFill>
          <a:ln w="12700">
            <a:solidFill>
              <a:srgbClr val="A9D9D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120357" y="326504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60BBD1"/>
          </a:solidFill>
          <a:ln w="12700">
            <a:solidFill>
              <a:srgbClr val="60BBD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120357" y="3162452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9CC1"/>
          </a:solidFill>
          <a:ln w="12700">
            <a:solidFill>
              <a:srgbClr val="329CC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6166626" y="3645896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3A4C5"/>
          </a:solidFill>
          <a:ln w="12700">
            <a:solidFill>
              <a:srgbClr val="33A4C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166626" y="354330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93D1DC"/>
          </a:solidFill>
          <a:ln w="12700">
            <a:solidFill>
              <a:srgbClr val="93D1D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166626" y="344070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D0BF84"/>
          </a:solidFill>
          <a:ln w="12700">
            <a:solidFill>
              <a:srgbClr val="D0BF8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166626" y="333810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CCC18D"/>
          </a:solidFill>
          <a:ln w="12700">
            <a:solidFill>
              <a:srgbClr val="CCC18D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166626" y="323551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86CBD9"/>
          </a:solidFill>
          <a:ln w="12700">
            <a:solidFill>
              <a:srgbClr val="86CBD9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166626" y="3132917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2A1C4"/>
          </a:solidFill>
          <a:ln w="12700">
            <a:solidFill>
              <a:srgbClr val="32A1C4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212894" y="3616361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6BF"/>
          </a:solidFill>
          <a:ln w="12700">
            <a:solidFill>
              <a:srgbClr val="3196B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212894" y="351376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3A5C5"/>
          </a:solidFill>
          <a:ln w="12700">
            <a:solidFill>
              <a:srgbClr val="33A5C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212894" y="3411169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57B7CE"/>
          </a:solidFill>
          <a:ln w="12700">
            <a:solidFill>
              <a:srgbClr val="57B7C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212894" y="330857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54B6CE"/>
          </a:solidFill>
          <a:ln w="12700">
            <a:solidFill>
              <a:srgbClr val="54B6C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212894" y="320597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3A3C4"/>
          </a:solidFill>
          <a:ln w="12700">
            <a:solidFill>
              <a:srgbClr val="33A3C4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212894" y="3103382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194BE"/>
          </a:solidFill>
          <a:ln w="12700">
            <a:solidFill>
              <a:srgbClr val="3194B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259163" y="3586825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A"/>
          </a:solidFill>
          <a:ln w="12700">
            <a:solidFill>
              <a:srgbClr val="308AB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259163" y="3484230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259163" y="3381634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259163" y="3279038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90BC"/>
          </a:solidFill>
          <a:ln w="12700">
            <a:solidFill>
              <a:srgbClr val="3090B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259163" y="3176443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DBB"/>
          </a:solidFill>
          <a:ln w="12700">
            <a:solidFill>
              <a:srgbClr val="308DB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259163" y="3073847"/>
            <a:ext cx="46269" cy="132131"/>
          </a:xfrm>
          <a:custGeom>
            <a:avLst/>
            <a:gdLst/>
            <a:ahLst/>
            <a:cxnLst/>
            <a:rect l="l" t="t" r="r" b="b"/>
            <a:pathLst>
              <a:path w="46269" h="132131">
                <a:moveTo>
                  <a:pt x="0" y="132131"/>
                </a:moveTo>
                <a:lnTo>
                  <a:pt x="46269" y="102596"/>
                </a:lnTo>
                <a:lnTo>
                  <a:pt x="46269" y="0"/>
                </a:lnTo>
                <a:lnTo>
                  <a:pt x="0" y="29535"/>
                </a:lnTo>
                <a:close/>
              </a:path>
            </a:pathLst>
          </a:custGeom>
          <a:solidFill>
            <a:srgbClr val="308AB9"/>
          </a:solidFill>
          <a:ln w="12700">
            <a:solidFill>
              <a:srgbClr val="308AB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547299" y="3866632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7" name="Shape 185"/>
          <p:cNvSpPr/>
          <p:nvPr/>
        </p:nvSpPr>
        <p:spPr>
          <a:xfrm flipV="1">
            <a:off x="6405372" y="3689421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8" name="Shape 186"/>
          <p:cNvSpPr/>
          <p:nvPr/>
        </p:nvSpPr>
        <p:spPr>
          <a:xfrm>
            <a:off x="5824911" y="3689421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89" name="Shape 187"/>
          <p:cNvSpPr/>
          <p:nvPr/>
        </p:nvSpPr>
        <p:spPr>
          <a:xfrm flipV="1">
            <a:off x="5547299" y="3689421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0" name="Shape 188"/>
          <p:cNvSpPr/>
          <p:nvPr/>
        </p:nvSpPr>
        <p:spPr>
          <a:xfrm>
            <a:off x="5547299" y="3251058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1" name="Shape 189"/>
          <p:cNvSpPr/>
          <p:nvPr/>
        </p:nvSpPr>
        <p:spPr>
          <a:xfrm flipV="1">
            <a:off x="6405372" y="3073847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2" name="Shape 190"/>
          <p:cNvSpPr/>
          <p:nvPr/>
        </p:nvSpPr>
        <p:spPr>
          <a:xfrm>
            <a:off x="5824911" y="3073847"/>
            <a:ext cx="858073" cy="91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3" name="Shape 191"/>
          <p:cNvSpPr/>
          <p:nvPr/>
        </p:nvSpPr>
        <p:spPr>
          <a:xfrm flipV="1">
            <a:off x="5547299" y="3073847"/>
            <a:ext cx="277612" cy="177211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4" name="Shape 192"/>
          <p:cNvSpPr/>
          <p:nvPr/>
        </p:nvSpPr>
        <p:spPr>
          <a:xfrm>
            <a:off x="5547299" y="3251058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5" name="Shape 193"/>
          <p:cNvSpPr/>
          <p:nvPr/>
        </p:nvSpPr>
        <p:spPr>
          <a:xfrm>
            <a:off x="6405372" y="3251058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6" name="Shape 194"/>
          <p:cNvSpPr/>
          <p:nvPr/>
        </p:nvSpPr>
        <p:spPr>
          <a:xfrm>
            <a:off x="6682984" y="3073847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7" name="Shape 195"/>
          <p:cNvSpPr/>
          <p:nvPr/>
        </p:nvSpPr>
        <p:spPr>
          <a:xfrm>
            <a:off x="5824911" y="3073847"/>
            <a:ext cx="914" cy="615574"/>
          </a:xfrm>
          <a:prstGeom prst="line">
            <a:avLst/>
          </a:prstGeom>
          <a:noFill/>
          <a:ln w="8255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198" name="Shape 196"/>
          <p:cNvSpPr/>
          <p:nvPr/>
        </p:nvSpPr>
        <p:spPr>
          <a:xfrm>
            <a:off x="5790937" y="3604547"/>
            <a:ext cx="87982" cy="64589"/>
          </a:xfrm>
          <a:custGeom>
            <a:avLst/>
            <a:gdLst/>
            <a:ahLst/>
            <a:cxnLst/>
            <a:rect l="l" t="t" r="r" b="b"/>
            <a:pathLst>
              <a:path w="87982" h="64589">
                <a:moveTo>
                  <a:pt x="4349" y="64589"/>
                </a:moveTo>
                <a:lnTo>
                  <a:pt x="63632" y="22060"/>
                </a:lnTo>
                <a:lnTo>
                  <a:pt x="70700" y="31912"/>
                </a:lnTo>
                <a:lnTo>
                  <a:pt x="87982" y="0"/>
                </a:lnTo>
                <a:lnTo>
                  <a:pt x="52215" y="6145"/>
                </a:lnTo>
                <a:lnTo>
                  <a:pt x="59283" y="15997"/>
                </a:lnTo>
                <a:lnTo>
                  <a:pt x="0" y="585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5971132" y="3506055"/>
            <a:ext cx="87982" cy="64589"/>
          </a:xfrm>
          <a:custGeom>
            <a:avLst/>
            <a:gdLst/>
            <a:ahLst/>
            <a:cxnLst/>
            <a:rect l="l" t="t" r="r" b="b"/>
            <a:pathLst>
              <a:path w="87982" h="64589">
                <a:moveTo>
                  <a:pt x="4349" y="64589"/>
                </a:moveTo>
                <a:lnTo>
                  <a:pt x="63632" y="22060"/>
                </a:lnTo>
                <a:lnTo>
                  <a:pt x="70700" y="31912"/>
                </a:lnTo>
                <a:lnTo>
                  <a:pt x="87982" y="0"/>
                </a:lnTo>
                <a:lnTo>
                  <a:pt x="52215" y="6145"/>
                </a:lnTo>
                <a:lnTo>
                  <a:pt x="59283" y="15997"/>
                </a:lnTo>
                <a:lnTo>
                  <a:pt x="0" y="585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6151328" y="3426030"/>
            <a:ext cx="87982" cy="64589"/>
          </a:xfrm>
          <a:custGeom>
            <a:avLst/>
            <a:gdLst/>
            <a:ahLst/>
            <a:cxnLst/>
            <a:rect l="l" t="t" r="r" b="b"/>
            <a:pathLst>
              <a:path w="87982" h="64589">
                <a:moveTo>
                  <a:pt x="4349" y="64589"/>
                </a:moveTo>
                <a:lnTo>
                  <a:pt x="63632" y="22060"/>
                </a:lnTo>
                <a:lnTo>
                  <a:pt x="70700" y="31912"/>
                </a:lnTo>
                <a:lnTo>
                  <a:pt x="87982" y="0"/>
                </a:lnTo>
                <a:lnTo>
                  <a:pt x="52215" y="6145"/>
                </a:lnTo>
                <a:lnTo>
                  <a:pt x="59283" y="15997"/>
                </a:lnTo>
                <a:lnTo>
                  <a:pt x="0" y="5852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1" name="构建空间变系数傅里叶神经算子 融合麦克斯韦方程物理约束"/>
          <p:cNvSpPr/>
          <p:nvPr/>
        </p:nvSpPr>
        <p:spPr>
          <a:xfrm>
            <a:off x="4453128" y="407822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构建空间变系数傅里叶神经算子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融合麦克斯韦方程物理约束</a:t>
            </a:r>
            <a:endParaRPr lang="en-US" sz="1750" dirty="0"/>
          </a:p>
        </p:txBody>
      </p:sp>
      <p:sp>
        <p:nvSpPr>
          <p:cNvPr id="202" name="Shape 200"/>
          <p:cNvSpPr/>
          <p:nvPr/>
        </p:nvSpPr>
        <p:spPr>
          <a:xfrm>
            <a:off x="4471416" y="4837176"/>
            <a:ext cx="324612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203" name="建立几何 / 激励到 E/H 的映射"/>
          <p:cNvSpPr/>
          <p:nvPr/>
        </p:nvSpPr>
        <p:spPr>
          <a:xfrm>
            <a:off x="4535424" y="48737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建立几何 / 激励到 E/H 的映射</a:t>
            </a:r>
            <a:endParaRPr lang="en-US" sz="1620" dirty="0"/>
          </a:p>
        </p:txBody>
      </p:sp>
      <p:sp>
        <p:nvSpPr>
          <p:cNvPr id="204" name="Shape 202"/>
          <p:cNvSpPr/>
          <p:nvPr/>
        </p:nvSpPr>
        <p:spPr>
          <a:xfrm>
            <a:off x="8174736" y="1938528"/>
            <a:ext cx="3557016" cy="3401568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8174736" y="1938528"/>
            <a:ext cx="3557016" cy="42062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06" name="目标三"/>
          <p:cNvSpPr/>
          <p:nvPr/>
        </p:nvSpPr>
        <p:spPr>
          <a:xfrm>
            <a:off x="8266176" y="2002536"/>
            <a:ext cx="33741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目标三</a:t>
            </a:r>
            <a:endParaRPr lang="en-US" sz="2100" dirty="0"/>
          </a:p>
        </p:txBody>
      </p:sp>
      <p:sp>
        <p:nvSpPr>
          <p:cNvPr id="207" name="跨频率与跨构型适配"/>
          <p:cNvSpPr/>
          <p:nvPr/>
        </p:nvSpPr>
        <p:spPr>
          <a:xfrm>
            <a:off x="8284464" y="2514600"/>
            <a:ext cx="33375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跨频率与跨构型适配</a:t>
            </a:r>
            <a:endParaRPr lang="en-US" sz="2000" dirty="0"/>
          </a:p>
        </p:txBody>
      </p:sp>
      <p:sp>
        <p:nvSpPr>
          <p:cNvPr id="208" name="Shape 206"/>
          <p:cNvSpPr/>
          <p:nvPr/>
        </p:nvSpPr>
        <p:spPr>
          <a:xfrm>
            <a:off x="8897112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09" name="Shape 207"/>
          <p:cNvSpPr/>
          <p:nvPr/>
        </p:nvSpPr>
        <p:spPr>
          <a:xfrm>
            <a:off x="8897112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0" name="Shape 208"/>
          <p:cNvSpPr/>
          <p:nvPr/>
        </p:nvSpPr>
        <p:spPr>
          <a:xfrm>
            <a:off x="889711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1" name="Shape 209"/>
          <p:cNvSpPr/>
          <p:nvPr/>
        </p:nvSpPr>
        <p:spPr>
          <a:xfrm flipV="1">
            <a:off x="889711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2" name="Shape 210"/>
          <p:cNvSpPr/>
          <p:nvPr/>
        </p:nvSpPr>
        <p:spPr>
          <a:xfrm flipV="1">
            <a:off x="8897112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3" name="Shape 211"/>
          <p:cNvSpPr/>
          <p:nvPr/>
        </p:nvSpPr>
        <p:spPr>
          <a:xfrm>
            <a:off x="8897112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4" name="Shape 212"/>
          <p:cNvSpPr/>
          <p:nvPr/>
        </p:nvSpPr>
        <p:spPr>
          <a:xfrm>
            <a:off x="9198864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5" name="Shape 213"/>
          <p:cNvSpPr/>
          <p:nvPr/>
        </p:nvSpPr>
        <p:spPr>
          <a:xfrm>
            <a:off x="919886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6" name="Shape 214"/>
          <p:cNvSpPr/>
          <p:nvPr/>
        </p:nvSpPr>
        <p:spPr>
          <a:xfrm flipV="1">
            <a:off x="9198864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7" name="Shape 215"/>
          <p:cNvSpPr/>
          <p:nvPr/>
        </p:nvSpPr>
        <p:spPr>
          <a:xfrm>
            <a:off x="9198864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8" name="Shape 216"/>
          <p:cNvSpPr/>
          <p:nvPr/>
        </p:nvSpPr>
        <p:spPr>
          <a:xfrm flipV="1">
            <a:off x="919886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19" name="Shape 217"/>
          <p:cNvSpPr/>
          <p:nvPr/>
        </p:nvSpPr>
        <p:spPr>
          <a:xfrm>
            <a:off x="9198864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0" name="Shape 218"/>
          <p:cNvSpPr/>
          <p:nvPr/>
        </p:nvSpPr>
        <p:spPr>
          <a:xfrm>
            <a:off x="8863883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863883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165635" y="3386352"/>
            <a:ext cx="66459" cy="66459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165635" y="3512768"/>
            <a:ext cx="66459" cy="66459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165635" y="3639184"/>
            <a:ext cx="66459" cy="66459"/>
          </a:xfrm>
          <a:prstGeom prst="ellipse">
            <a:avLst/>
          </a:prstGeom>
          <a:solidFill>
            <a:srgbClr val="2296BC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467387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467387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405872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8" name="Shape 226"/>
          <p:cNvSpPr/>
          <p:nvPr/>
        </p:nvSpPr>
        <p:spPr>
          <a:xfrm>
            <a:off x="10405872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29" name="Shape 227"/>
          <p:cNvSpPr/>
          <p:nvPr/>
        </p:nvSpPr>
        <p:spPr>
          <a:xfrm>
            <a:off x="1040587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0" name="Shape 228"/>
          <p:cNvSpPr/>
          <p:nvPr/>
        </p:nvSpPr>
        <p:spPr>
          <a:xfrm flipV="1">
            <a:off x="10405872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1" name="Shape 229"/>
          <p:cNvSpPr/>
          <p:nvPr/>
        </p:nvSpPr>
        <p:spPr>
          <a:xfrm flipV="1">
            <a:off x="10405872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2" name="Shape 230"/>
          <p:cNvSpPr/>
          <p:nvPr/>
        </p:nvSpPr>
        <p:spPr>
          <a:xfrm>
            <a:off x="10405872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3" name="Shape 231"/>
          <p:cNvSpPr/>
          <p:nvPr/>
        </p:nvSpPr>
        <p:spPr>
          <a:xfrm>
            <a:off x="10707624" y="3419582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4" name="Shape 232"/>
          <p:cNvSpPr/>
          <p:nvPr/>
        </p:nvSpPr>
        <p:spPr>
          <a:xfrm>
            <a:off x="1070762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5" name="Shape 233"/>
          <p:cNvSpPr/>
          <p:nvPr/>
        </p:nvSpPr>
        <p:spPr>
          <a:xfrm flipV="1">
            <a:off x="10707624" y="3419582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6" name="Shape 234"/>
          <p:cNvSpPr/>
          <p:nvPr/>
        </p:nvSpPr>
        <p:spPr>
          <a:xfrm>
            <a:off x="10707624" y="3545997"/>
            <a:ext cx="301752" cy="126416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7" name="Shape 235"/>
          <p:cNvSpPr/>
          <p:nvPr/>
        </p:nvSpPr>
        <p:spPr>
          <a:xfrm flipV="1">
            <a:off x="10707624" y="3419582"/>
            <a:ext cx="301752" cy="252832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8" name="Shape 236"/>
          <p:cNvSpPr/>
          <p:nvPr/>
        </p:nvSpPr>
        <p:spPr>
          <a:xfrm>
            <a:off x="10707624" y="3672413"/>
            <a:ext cx="301752" cy="914"/>
          </a:xfrm>
          <a:prstGeom prst="line">
            <a:avLst/>
          </a:prstGeom>
          <a:noFill/>
          <a:ln w="8890">
            <a:solidFill>
              <a:srgbClr val="A4BDCE"/>
            </a:solidFill>
            <a:prstDash val="solid"/>
            <a:headEnd type="none"/>
            <a:tailEnd type="none"/>
          </a:ln>
        </p:spPr>
      </p:sp>
      <p:sp>
        <p:nvSpPr>
          <p:cNvPr id="239" name="Shape 237"/>
          <p:cNvSpPr/>
          <p:nvPr/>
        </p:nvSpPr>
        <p:spPr>
          <a:xfrm>
            <a:off x="10372643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10372643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0674395" y="3386352"/>
            <a:ext cx="66459" cy="66459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674395" y="3512768"/>
            <a:ext cx="66459" cy="66459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674395" y="3639184"/>
            <a:ext cx="66459" cy="66459"/>
          </a:xfrm>
          <a:prstGeom prst="ellipse">
            <a:avLst/>
          </a:prstGeom>
          <a:solidFill>
            <a:srgbClr val="D79B3A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976147" y="3386352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976147" y="3639184"/>
            <a:ext cx="66459" cy="66459"/>
          </a:xfrm>
          <a:prstGeom prst="ellipse">
            <a:avLst/>
          </a:prstGeom>
          <a:solidFill>
            <a:srgbClr val="165CA4"/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726930" y="3473760"/>
            <a:ext cx="452628" cy="122804"/>
          </a:xfrm>
          <a:custGeom>
            <a:avLst/>
            <a:gdLst/>
            <a:ahLst/>
            <a:cxnLst/>
            <a:rect l="l" t="t" r="r" b="b"/>
            <a:pathLst>
              <a:path w="452628" h="122804">
                <a:moveTo>
                  <a:pt x="0" y="81267"/>
                </a:moveTo>
                <a:lnTo>
                  <a:pt x="201168" y="81267"/>
                </a:lnTo>
                <a:lnTo>
                  <a:pt x="201168" y="122804"/>
                </a:lnTo>
                <a:lnTo>
                  <a:pt x="452628" y="61402"/>
                </a:lnTo>
                <a:lnTo>
                  <a:pt x="201168" y="0"/>
                </a:lnTo>
                <a:lnTo>
                  <a:pt x="201168" y="41537"/>
                </a:lnTo>
                <a:lnTo>
                  <a:pt x="0" y="41537"/>
                </a:lnTo>
                <a:close/>
              </a:path>
            </a:pathLst>
          </a:custGeom>
          <a:solidFill>
            <a:srgbClr val="2296BC"/>
          </a:solidFill>
          <a:ln w="12700">
            <a:solidFill>
              <a:srgbClr val="2296BC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flipV="1">
            <a:off x="8834247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8" name="Shape 246"/>
          <p:cNvSpPr/>
          <p:nvPr/>
        </p:nvSpPr>
        <p:spPr>
          <a:xfrm flipV="1">
            <a:off x="8858555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49" name="Shape 247"/>
          <p:cNvSpPr/>
          <p:nvPr/>
        </p:nvSpPr>
        <p:spPr>
          <a:xfrm flipV="1">
            <a:off x="8882863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0" name="Shape 248"/>
          <p:cNvSpPr/>
          <p:nvPr/>
        </p:nvSpPr>
        <p:spPr>
          <a:xfrm flipV="1">
            <a:off x="8907170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1" name="Shape 249"/>
          <p:cNvSpPr/>
          <p:nvPr/>
        </p:nvSpPr>
        <p:spPr>
          <a:xfrm flipV="1">
            <a:off x="8931478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2" name="Shape 250"/>
          <p:cNvSpPr/>
          <p:nvPr/>
        </p:nvSpPr>
        <p:spPr>
          <a:xfrm>
            <a:off x="8955786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3" name="Shape 251"/>
          <p:cNvSpPr/>
          <p:nvPr/>
        </p:nvSpPr>
        <p:spPr>
          <a:xfrm>
            <a:off x="8980094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4" name="Shape 252"/>
          <p:cNvSpPr/>
          <p:nvPr/>
        </p:nvSpPr>
        <p:spPr>
          <a:xfrm>
            <a:off x="9004402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5" name="Shape 253"/>
          <p:cNvSpPr/>
          <p:nvPr/>
        </p:nvSpPr>
        <p:spPr>
          <a:xfrm>
            <a:off x="9028709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6" name="Shape 254"/>
          <p:cNvSpPr/>
          <p:nvPr/>
        </p:nvSpPr>
        <p:spPr>
          <a:xfrm>
            <a:off x="9053017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7" name="Shape 255"/>
          <p:cNvSpPr/>
          <p:nvPr/>
        </p:nvSpPr>
        <p:spPr>
          <a:xfrm>
            <a:off x="9077325" y="3267883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8" name="Shape 256"/>
          <p:cNvSpPr/>
          <p:nvPr/>
        </p:nvSpPr>
        <p:spPr>
          <a:xfrm>
            <a:off x="9101633" y="3283509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59" name="Shape 257"/>
          <p:cNvSpPr/>
          <p:nvPr/>
        </p:nvSpPr>
        <p:spPr>
          <a:xfrm>
            <a:off x="9125941" y="3297605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0" name="Shape 258"/>
          <p:cNvSpPr/>
          <p:nvPr/>
        </p:nvSpPr>
        <p:spPr>
          <a:xfrm>
            <a:off x="9150248" y="3308792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1" name="Shape 259"/>
          <p:cNvSpPr/>
          <p:nvPr/>
        </p:nvSpPr>
        <p:spPr>
          <a:xfrm>
            <a:off x="9174556" y="3315974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2" name="Shape 260"/>
          <p:cNvSpPr/>
          <p:nvPr/>
        </p:nvSpPr>
        <p:spPr>
          <a:xfrm flipV="1">
            <a:off x="9198864" y="3315974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3" name="Shape 261"/>
          <p:cNvSpPr/>
          <p:nvPr/>
        </p:nvSpPr>
        <p:spPr>
          <a:xfrm flipV="1">
            <a:off x="9223172" y="3308792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4" name="Shape 262"/>
          <p:cNvSpPr/>
          <p:nvPr/>
        </p:nvSpPr>
        <p:spPr>
          <a:xfrm flipV="1">
            <a:off x="9247480" y="3297605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5" name="Shape 263"/>
          <p:cNvSpPr/>
          <p:nvPr/>
        </p:nvSpPr>
        <p:spPr>
          <a:xfrm flipV="1">
            <a:off x="9271787" y="3283509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6" name="Shape 264"/>
          <p:cNvSpPr/>
          <p:nvPr/>
        </p:nvSpPr>
        <p:spPr>
          <a:xfrm flipV="1">
            <a:off x="9296095" y="3267883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7" name="Shape 265"/>
          <p:cNvSpPr/>
          <p:nvPr/>
        </p:nvSpPr>
        <p:spPr>
          <a:xfrm flipV="1">
            <a:off x="9320403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8" name="Shape 266"/>
          <p:cNvSpPr/>
          <p:nvPr/>
        </p:nvSpPr>
        <p:spPr>
          <a:xfrm flipV="1">
            <a:off x="9344711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69" name="Shape 267"/>
          <p:cNvSpPr/>
          <p:nvPr/>
        </p:nvSpPr>
        <p:spPr>
          <a:xfrm flipV="1">
            <a:off x="9369019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0" name="Shape 268"/>
          <p:cNvSpPr/>
          <p:nvPr/>
        </p:nvSpPr>
        <p:spPr>
          <a:xfrm flipV="1">
            <a:off x="9393326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1" name="Shape 269"/>
          <p:cNvSpPr/>
          <p:nvPr/>
        </p:nvSpPr>
        <p:spPr>
          <a:xfrm flipV="1">
            <a:off x="9417634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2" name="Shape 270"/>
          <p:cNvSpPr/>
          <p:nvPr/>
        </p:nvSpPr>
        <p:spPr>
          <a:xfrm>
            <a:off x="9441942" y="3217316"/>
            <a:ext cx="24308" cy="2475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3" name="Shape 271"/>
          <p:cNvSpPr/>
          <p:nvPr/>
        </p:nvSpPr>
        <p:spPr>
          <a:xfrm>
            <a:off x="9466250" y="3219791"/>
            <a:ext cx="24308" cy="7182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4" name="Shape 272"/>
          <p:cNvSpPr/>
          <p:nvPr/>
        </p:nvSpPr>
        <p:spPr>
          <a:xfrm>
            <a:off x="9490558" y="3226974"/>
            <a:ext cx="24308" cy="11187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5" name="Shape 273"/>
          <p:cNvSpPr/>
          <p:nvPr/>
        </p:nvSpPr>
        <p:spPr>
          <a:xfrm>
            <a:off x="9514865" y="3238161"/>
            <a:ext cx="24308" cy="1409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6" name="Shape 274"/>
          <p:cNvSpPr/>
          <p:nvPr/>
        </p:nvSpPr>
        <p:spPr>
          <a:xfrm>
            <a:off x="9539173" y="3252257"/>
            <a:ext cx="24308" cy="15626"/>
          </a:xfrm>
          <a:prstGeom prst="line">
            <a:avLst/>
          </a:prstGeom>
          <a:noFill/>
          <a:ln w="14605">
            <a:solidFill>
              <a:srgbClr val="165CA4"/>
            </a:solidFill>
            <a:prstDash val="solid"/>
            <a:headEnd type="none"/>
            <a:tailEnd type="none"/>
          </a:ln>
        </p:spPr>
      </p:sp>
      <p:sp>
        <p:nvSpPr>
          <p:cNvPr id="277" name="Shape 275"/>
          <p:cNvSpPr/>
          <p:nvPr/>
        </p:nvSpPr>
        <p:spPr>
          <a:xfrm flipV="1">
            <a:off x="10343007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8" name="Shape 276"/>
          <p:cNvSpPr/>
          <p:nvPr/>
        </p:nvSpPr>
        <p:spPr>
          <a:xfrm flipV="1">
            <a:off x="10367315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79" name="Shape 277"/>
          <p:cNvSpPr/>
          <p:nvPr/>
        </p:nvSpPr>
        <p:spPr>
          <a:xfrm flipV="1">
            <a:off x="10391623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0" name="Shape 278"/>
          <p:cNvSpPr/>
          <p:nvPr/>
        </p:nvSpPr>
        <p:spPr>
          <a:xfrm>
            <a:off x="10415930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1" name="Shape 279"/>
          <p:cNvSpPr/>
          <p:nvPr/>
        </p:nvSpPr>
        <p:spPr>
          <a:xfrm>
            <a:off x="10440238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2" name="Shape 280"/>
          <p:cNvSpPr/>
          <p:nvPr/>
        </p:nvSpPr>
        <p:spPr>
          <a:xfrm>
            <a:off x="10464546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3" name="Shape 281"/>
          <p:cNvSpPr/>
          <p:nvPr/>
        </p:nvSpPr>
        <p:spPr>
          <a:xfrm>
            <a:off x="10488854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4" name="Shape 282"/>
          <p:cNvSpPr/>
          <p:nvPr/>
        </p:nvSpPr>
        <p:spPr>
          <a:xfrm>
            <a:off x="10513162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5" name="Shape 283"/>
          <p:cNvSpPr/>
          <p:nvPr/>
        </p:nvSpPr>
        <p:spPr>
          <a:xfrm>
            <a:off x="10537469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6" name="Shape 284"/>
          <p:cNvSpPr/>
          <p:nvPr/>
        </p:nvSpPr>
        <p:spPr>
          <a:xfrm flipV="1">
            <a:off x="10561777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7" name="Shape 285"/>
          <p:cNvSpPr/>
          <p:nvPr/>
        </p:nvSpPr>
        <p:spPr>
          <a:xfrm flipV="1">
            <a:off x="10586085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8" name="Shape 286"/>
          <p:cNvSpPr/>
          <p:nvPr/>
        </p:nvSpPr>
        <p:spPr>
          <a:xfrm flipV="1">
            <a:off x="10610393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89" name="Shape 287"/>
          <p:cNvSpPr/>
          <p:nvPr/>
        </p:nvSpPr>
        <p:spPr>
          <a:xfrm flipV="1">
            <a:off x="10634701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0" name="Shape 288"/>
          <p:cNvSpPr/>
          <p:nvPr/>
        </p:nvSpPr>
        <p:spPr>
          <a:xfrm flipV="1">
            <a:off x="10659008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1" name="Shape 289"/>
          <p:cNvSpPr/>
          <p:nvPr/>
        </p:nvSpPr>
        <p:spPr>
          <a:xfrm flipV="1">
            <a:off x="10683316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2" name="Shape 290"/>
          <p:cNvSpPr/>
          <p:nvPr/>
        </p:nvSpPr>
        <p:spPr>
          <a:xfrm>
            <a:off x="10707624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3" name="Shape 291"/>
          <p:cNvSpPr/>
          <p:nvPr/>
        </p:nvSpPr>
        <p:spPr>
          <a:xfrm>
            <a:off x="10731932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4" name="Shape 292"/>
          <p:cNvSpPr/>
          <p:nvPr/>
        </p:nvSpPr>
        <p:spPr>
          <a:xfrm>
            <a:off x="10756240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5" name="Shape 293"/>
          <p:cNvSpPr/>
          <p:nvPr/>
        </p:nvSpPr>
        <p:spPr>
          <a:xfrm>
            <a:off x="10780547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6" name="Shape 294"/>
          <p:cNvSpPr/>
          <p:nvPr/>
        </p:nvSpPr>
        <p:spPr>
          <a:xfrm>
            <a:off x="10804855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7" name="Shape 295"/>
          <p:cNvSpPr/>
          <p:nvPr/>
        </p:nvSpPr>
        <p:spPr>
          <a:xfrm>
            <a:off x="10829163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8" name="Shape 296"/>
          <p:cNvSpPr/>
          <p:nvPr/>
        </p:nvSpPr>
        <p:spPr>
          <a:xfrm flipV="1">
            <a:off x="10853471" y="3311674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299" name="Shape 297"/>
          <p:cNvSpPr/>
          <p:nvPr/>
        </p:nvSpPr>
        <p:spPr>
          <a:xfrm flipV="1">
            <a:off x="10877779" y="3293166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0" name="Shape 298"/>
          <p:cNvSpPr/>
          <p:nvPr/>
        </p:nvSpPr>
        <p:spPr>
          <a:xfrm flipV="1">
            <a:off x="10902086" y="3267883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1" name="Shape 299"/>
          <p:cNvSpPr/>
          <p:nvPr/>
        </p:nvSpPr>
        <p:spPr>
          <a:xfrm flipV="1">
            <a:off x="10926394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2" name="Shape 300"/>
          <p:cNvSpPr/>
          <p:nvPr/>
        </p:nvSpPr>
        <p:spPr>
          <a:xfrm flipV="1">
            <a:off x="10950702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3" name="Shape 301"/>
          <p:cNvSpPr/>
          <p:nvPr/>
        </p:nvSpPr>
        <p:spPr>
          <a:xfrm flipV="1">
            <a:off x="10975010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4" name="Shape 302"/>
          <p:cNvSpPr/>
          <p:nvPr/>
        </p:nvSpPr>
        <p:spPr>
          <a:xfrm>
            <a:off x="10999318" y="3217316"/>
            <a:ext cx="24308" cy="6775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5" name="Shape 303"/>
          <p:cNvSpPr/>
          <p:nvPr/>
        </p:nvSpPr>
        <p:spPr>
          <a:xfrm>
            <a:off x="11023625" y="3224091"/>
            <a:ext cx="24308" cy="18509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6" name="Shape 304"/>
          <p:cNvSpPr/>
          <p:nvPr/>
        </p:nvSpPr>
        <p:spPr>
          <a:xfrm>
            <a:off x="11047933" y="3242600"/>
            <a:ext cx="24308" cy="25283"/>
          </a:xfrm>
          <a:prstGeom prst="line">
            <a:avLst/>
          </a:prstGeom>
          <a:noFill/>
          <a:ln w="14605">
            <a:solidFill>
              <a:srgbClr val="D79B3A"/>
            </a:solidFill>
            <a:prstDash val="solid"/>
            <a:headEnd type="none"/>
            <a:tailEnd type="none"/>
          </a:ln>
        </p:spPr>
      </p:sp>
      <p:sp>
        <p:nvSpPr>
          <p:cNvPr id="307" name="提出迁移学习与数据增强方法 建立跨任务知识迁移机制"/>
          <p:cNvSpPr/>
          <p:nvPr/>
        </p:nvSpPr>
        <p:spPr>
          <a:xfrm>
            <a:off x="8311896" y="4078224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提出迁移学习与数据增强方法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建立跨任务知识迁移机制</a:t>
            </a:r>
            <a:endParaRPr lang="en-US" sz="1750" dirty="0"/>
          </a:p>
        </p:txBody>
      </p:sp>
      <p:sp>
        <p:nvSpPr>
          <p:cNvPr id="308" name="Shape 306"/>
          <p:cNvSpPr/>
          <p:nvPr/>
        </p:nvSpPr>
        <p:spPr>
          <a:xfrm>
            <a:off x="8330184" y="4837176"/>
            <a:ext cx="3246120" cy="338328"/>
          </a:xfrm>
          <a:prstGeom prst="rect">
            <a:avLst/>
          </a:prstGeom>
          <a:solidFill>
            <a:srgbClr val="FFFFFF"/>
          </a:solidFill>
          <a:ln w="8890">
            <a:solidFill>
              <a:srgbClr val="B9CDDD"/>
            </a:solidFill>
            <a:prstDash val="solid"/>
          </a:ln>
        </p:spPr>
      </p:sp>
      <p:sp>
        <p:nvSpPr>
          <p:cNvPr id="309" name="提升新器件、新频段复用能力"/>
          <p:cNvSpPr/>
          <p:nvPr/>
        </p:nvSpPr>
        <p:spPr>
          <a:xfrm>
            <a:off x="8394192" y="487375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提升新器件、新频段复用能力</a:t>
            </a:r>
            <a:endParaRPr lang="en-US" sz="1680" dirty="0"/>
          </a:p>
        </p:txBody>
      </p:sp>
      <p:sp>
        <p:nvSpPr>
          <p:cNvPr id="310" name="Shape 308"/>
          <p:cNvSpPr/>
          <p:nvPr/>
        </p:nvSpPr>
        <p:spPr>
          <a:xfrm>
            <a:off x="2235708" y="5367528"/>
            <a:ext cx="914" cy="210312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1" name="Shape 309"/>
          <p:cNvSpPr/>
          <p:nvPr/>
        </p:nvSpPr>
        <p:spPr>
          <a:xfrm>
            <a:off x="6094476" y="5367528"/>
            <a:ext cx="914" cy="210312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2" name="Shape 310"/>
          <p:cNvSpPr/>
          <p:nvPr/>
        </p:nvSpPr>
        <p:spPr>
          <a:xfrm>
            <a:off x="9953244" y="5367528"/>
            <a:ext cx="914" cy="210312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3" name="Shape 311"/>
          <p:cNvSpPr/>
          <p:nvPr/>
        </p:nvSpPr>
        <p:spPr>
          <a:xfrm>
            <a:off x="2240280" y="5577840"/>
            <a:ext cx="7717536" cy="914"/>
          </a:xfrm>
          <a:prstGeom prst="line">
            <a:avLst/>
          </a:prstGeom>
          <a:noFill/>
          <a:ln w="13970">
            <a:solidFill>
              <a:srgbClr val="2296B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6099048" y="5577840"/>
            <a:ext cx="914" cy="173736"/>
          </a:xfrm>
          <a:prstGeom prst="line">
            <a:avLst/>
          </a:prstGeom>
          <a:noFill/>
          <a:ln w="1905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15" name="Shape 313"/>
          <p:cNvSpPr/>
          <p:nvPr/>
        </p:nvSpPr>
        <p:spPr>
          <a:xfrm>
            <a:off x="1901952" y="5788152"/>
            <a:ext cx="8385048" cy="466344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316" name="支撑自主智能电磁建模与太赫兹器件高效设计"/>
          <p:cNvSpPr/>
          <p:nvPr/>
        </p:nvSpPr>
        <p:spPr>
          <a:xfrm>
            <a:off x="2084832" y="5870448"/>
            <a:ext cx="8019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支撑自主智能电磁建模与太赫兹器件高效设计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.2 研究目标实现面临的困难"/>
          <p:cNvSpPr/>
          <p:nvPr/>
        </p:nvSpPr>
        <p:spPr>
          <a:xfrm>
            <a:off x="393192" y="146304"/>
            <a:ext cx="9921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2.2 研究目标实现面临的困难</a:t>
            </a:r>
            <a:endParaRPr lang="en-US" sz="2900" dirty="0"/>
          </a:p>
        </p:txBody>
      </p:sp>
      <p:sp>
        <p:nvSpPr>
          <p:cNvPr id="3" name="广州大学"/>
          <p:cNvSpPr/>
          <p:nvPr/>
        </p:nvSpPr>
        <p:spPr>
          <a:xfrm>
            <a:off x="10287000" y="210312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广州大学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12192000" cy="914"/>
          </a:xfrm>
          <a:prstGeom prst="line">
            <a:avLst/>
          </a:prstGeom>
          <a:noFill/>
          <a:ln w="20955">
            <a:solidFill>
              <a:srgbClr val="15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6519672"/>
            <a:ext cx="11402568" cy="914"/>
          </a:xfrm>
          <a:prstGeom prst="line">
            <a:avLst/>
          </a:prstGeom>
          <a:noFill/>
          <a:ln w="7620">
            <a:solidFill>
              <a:srgbClr val="B9CDDD"/>
            </a:solidFill>
            <a:prstDash val="solid"/>
          </a:ln>
        </p:spPr>
      </p:sp>
      <p:sp>
        <p:nvSpPr>
          <p:cNvPr id="6" name="资料依据：二、研究目标；三、研究内容"/>
          <p:cNvSpPr/>
          <p:nvPr/>
        </p:nvSpPr>
        <p:spPr>
          <a:xfrm>
            <a:off x="411480" y="6601968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36B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资料依据：二、研究目标；三、研究内容</a:t>
            </a:r>
            <a:endParaRPr lang="en-US" sz="850" dirty="0"/>
          </a:p>
        </p:txBody>
      </p:sp>
      <p:sp>
        <p:nvSpPr>
          <p:cNvPr id="7" name="5"/>
          <p:cNvSpPr/>
          <p:nvPr/>
        </p:nvSpPr>
        <p:spPr>
          <a:xfrm>
            <a:off x="11247120" y="6565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从目标到可用模型，需要打通三个关键接口"/>
          <p:cNvSpPr/>
          <p:nvPr/>
        </p:nvSpPr>
        <p:spPr>
          <a:xfrm>
            <a:off x="502920" y="960120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3B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从目标到可用模型，需要打通三个关键接口</a:t>
            </a:r>
            <a:endParaRPr lang="en-US" sz="2200" dirty="0"/>
          </a:p>
        </p:txBody>
      </p:sp>
      <p:sp>
        <p:nvSpPr>
          <p:cNvPr id="9" name="研究目标"/>
          <p:cNvSpPr/>
          <p:nvPr/>
        </p:nvSpPr>
        <p:spPr>
          <a:xfrm>
            <a:off x="448056" y="1499616"/>
            <a:ext cx="2103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研究目标</a:t>
            </a:r>
            <a:endParaRPr lang="en-US" sz="1600" dirty="0"/>
          </a:p>
        </p:txBody>
      </p:sp>
      <p:sp>
        <p:nvSpPr>
          <p:cNvPr id="10" name="实现难点"/>
          <p:cNvSpPr/>
          <p:nvPr/>
        </p:nvSpPr>
        <p:spPr>
          <a:xfrm>
            <a:off x="2999232" y="1499616"/>
            <a:ext cx="5669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实现难点</a:t>
            </a:r>
            <a:endParaRPr lang="en-US" sz="1600" dirty="0"/>
          </a:p>
        </p:txBody>
      </p:sp>
      <p:sp>
        <p:nvSpPr>
          <p:cNvPr id="11" name="后续研究内容入口"/>
          <p:cNvSpPr/>
          <p:nvPr/>
        </p:nvSpPr>
        <p:spPr>
          <a:xfrm>
            <a:off x="9381744" y="1499616"/>
            <a:ext cx="22860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后续研究内容入口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" y="1920240"/>
            <a:ext cx="11402568" cy="1197864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2039112"/>
            <a:ext cx="2002536" cy="9601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14" name="高保真 几何输入"/>
          <p:cNvSpPr/>
          <p:nvPr/>
        </p:nvSpPr>
        <p:spPr>
          <a:xfrm>
            <a:off x="603504" y="220370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高保真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几何输入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2578608" y="2523744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6" name="真实物理边界提取与统一编码"/>
          <p:cNvSpPr/>
          <p:nvPr/>
        </p:nvSpPr>
        <p:spPr>
          <a:xfrm>
            <a:off x="2980944" y="2029968"/>
            <a:ext cx="5897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真实物理边界提取与统一编码</a:t>
            </a:r>
            <a:endParaRPr lang="en-US" sz="1950" dirty="0"/>
          </a:p>
        </p:txBody>
      </p:sp>
      <p:sp>
        <p:nvSpPr>
          <p:cNvPr id="17" name="区分真实棱边 / 角点与剖分辅助要素 统一多维测度、方向与亚网格位置信息"/>
          <p:cNvSpPr/>
          <p:nvPr/>
        </p:nvSpPr>
        <p:spPr>
          <a:xfrm>
            <a:off x="2980944" y="2478024"/>
            <a:ext cx="5897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区分真实棱边 / 角点与剖分辅助要素</a:t>
            </a:r>
            <a:endParaRPr lang="en-US" sz="1740" dirty="0"/>
          </a:p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统一多维测度、方向与亚网格位置信息</a:t>
            </a:r>
            <a:endParaRPr lang="en-US" sz="1740" dirty="0"/>
          </a:p>
        </p:txBody>
      </p:sp>
      <p:sp>
        <p:nvSpPr>
          <p:cNvPr id="18" name="Shape 16"/>
          <p:cNvSpPr/>
          <p:nvPr/>
        </p:nvSpPr>
        <p:spPr>
          <a:xfrm>
            <a:off x="8933688" y="2523744"/>
            <a:ext cx="24688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90304" y="2075688"/>
            <a:ext cx="2276856" cy="886968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20" name="研究内容一 精细边界表征"/>
          <p:cNvSpPr/>
          <p:nvPr/>
        </p:nvSpPr>
        <p:spPr>
          <a:xfrm>
            <a:off x="9409176" y="2194560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研究内容一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精细边界表征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393192" y="3273552"/>
            <a:ext cx="11402568" cy="1197864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" y="3392424"/>
            <a:ext cx="2002536" cy="9601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23" name="快速准确 场预测"/>
          <p:cNvSpPr/>
          <p:nvPr/>
        </p:nvSpPr>
        <p:spPr>
          <a:xfrm>
            <a:off x="603504" y="35570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快速准确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场预测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2578608" y="3877056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5" name="局部几何、求解效率与物理约束的协同"/>
          <p:cNvSpPr/>
          <p:nvPr/>
        </p:nvSpPr>
        <p:spPr>
          <a:xfrm>
            <a:off x="2980944" y="3383280"/>
            <a:ext cx="5897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局部几何、求解效率与物理约束的协同</a:t>
            </a:r>
            <a:endParaRPr lang="en-US" sz="1950" dirty="0"/>
          </a:p>
        </p:txBody>
      </p:sp>
      <p:sp>
        <p:nvSpPr>
          <p:cNvPr id="26" name="边界朝向变化引起局部场突变 变系数计算、FFT效率与物理约束需兼顾"/>
          <p:cNvSpPr/>
          <p:nvPr/>
        </p:nvSpPr>
        <p:spPr>
          <a:xfrm>
            <a:off x="2980944" y="3831336"/>
            <a:ext cx="5897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边界朝向变化引起局部场突变</a:t>
            </a:r>
            <a:endParaRPr lang="en-US" sz="1740" dirty="0"/>
          </a:p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变系数计算、FFT效率与物理约束需兼顾</a:t>
            </a:r>
            <a:endParaRPr lang="en-US" sz="1740" dirty="0"/>
          </a:p>
        </p:txBody>
      </p:sp>
      <p:sp>
        <p:nvSpPr>
          <p:cNvPr id="27" name="Shape 25"/>
          <p:cNvSpPr/>
          <p:nvPr/>
        </p:nvSpPr>
        <p:spPr>
          <a:xfrm>
            <a:off x="8933688" y="3877056"/>
            <a:ext cx="24688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90304" y="3429000"/>
            <a:ext cx="2276856" cy="886968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29" name="研究内容二 空间变系数FNO"/>
          <p:cNvSpPr/>
          <p:nvPr/>
        </p:nvSpPr>
        <p:spPr>
          <a:xfrm>
            <a:off x="9409176" y="3547872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研究内容二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空间变系数FNO</a:t>
            </a:r>
            <a:endParaRPr lang="en-US" sz="1850" dirty="0"/>
          </a:p>
        </p:txBody>
      </p:sp>
      <p:sp>
        <p:nvSpPr>
          <p:cNvPr id="30" name="Shape 28"/>
          <p:cNvSpPr/>
          <p:nvPr/>
        </p:nvSpPr>
        <p:spPr>
          <a:xfrm>
            <a:off x="393192" y="4626864"/>
            <a:ext cx="11402568" cy="1197864"/>
          </a:xfrm>
          <a:prstGeom prst="rect">
            <a:avLst/>
          </a:prstGeom>
          <a:solidFill>
            <a:srgbClr val="F3F7FB"/>
          </a:solidFill>
          <a:ln w="10160">
            <a:solidFill>
              <a:srgbClr val="B9C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" y="4745736"/>
            <a:ext cx="2002536" cy="960120"/>
          </a:xfrm>
          <a:prstGeom prst="rect">
            <a:avLst/>
          </a:prstGeom>
          <a:solidFill>
            <a:srgbClr val="155EA7"/>
          </a:solidFill>
          <a:ln w="12700">
            <a:solidFill>
              <a:srgbClr val="155EA7"/>
            </a:solidFill>
            <a:prstDash val="solid"/>
          </a:ln>
        </p:spPr>
      </p:sp>
      <p:sp>
        <p:nvSpPr>
          <p:cNvPr id="32" name="新任务 快速适配"/>
          <p:cNvSpPr/>
          <p:nvPr/>
        </p:nvSpPr>
        <p:spPr>
          <a:xfrm>
            <a:off x="603504" y="491032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新任务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快速适配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2578608" y="5230368"/>
            <a:ext cx="265176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4" name="少样本下的任务对齐与物理一致迁移"/>
          <p:cNvSpPr/>
          <p:nvPr/>
        </p:nvSpPr>
        <p:spPr>
          <a:xfrm>
            <a:off x="2980944" y="4736592"/>
            <a:ext cx="5897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F242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少样本下的任务对齐与物理一致迁移</a:t>
            </a:r>
            <a:endParaRPr lang="en-US" sz="1950" dirty="0"/>
          </a:p>
        </p:txBody>
      </p:sp>
      <p:sp>
        <p:nvSpPr>
          <p:cNvPr id="35" name="频率伸缩受色散、电导率及耦合变化影响 跨拓扑难对齐，增强样本需保持物理一致"/>
          <p:cNvSpPr/>
          <p:nvPr/>
        </p:nvSpPr>
        <p:spPr>
          <a:xfrm>
            <a:off x="2980944" y="5184648"/>
            <a:ext cx="5897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频率伸缩受色散、电导率及耦合变化影响</a:t>
            </a:r>
            <a:endParaRPr lang="en-US" sz="1740" dirty="0"/>
          </a:p>
          <a:p>
            <a:pPr algn="l" indent="0" marL="0">
              <a:buNone/>
            </a:pPr>
            <a:r>
              <a:rPr lang="en-US" sz="1740" dirty="0">
                <a:solidFill>
                  <a:srgbClr val="152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跨拓扑难对齐，增强样本需保持物理一致</a:t>
            </a:r>
            <a:endParaRPr lang="en-US" sz="1740" dirty="0"/>
          </a:p>
        </p:txBody>
      </p:sp>
      <p:sp>
        <p:nvSpPr>
          <p:cNvPr id="36" name="Shape 34"/>
          <p:cNvSpPr/>
          <p:nvPr/>
        </p:nvSpPr>
        <p:spPr>
          <a:xfrm>
            <a:off x="8933688" y="5230368"/>
            <a:ext cx="246888" cy="914"/>
          </a:xfrm>
          <a:prstGeom prst="line">
            <a:avLst/>
          </a:prstGeom>
          <a:noFill/>
          <a:ln w="21590">
            <a:solidFill>
              <a:srgbClr val="2296B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290304" y="4782312"/>
            <a:ext cx="2276856" cy="886968"/>
          </a:xfrm>
          <a:prstGeom prst="rect">
            <a:avLst/>
          </a:prstGeom>
          <a:solidFill>
            <a:srgbClr val="FFFFFF"/>
          </a:solidFill>
          <a:ln w="11430">
            <a:solidFill>
              <a:srgbClr val="B9CDDD"/>
            </a:solidFill>
            <a:prstDash val="solid"/>
          </a:ln>
        </p:spPr>
      </p:sp>
      <p:sp>
        <p:nvSpPr>
          <p:cNvPr id="38" name="研究内容三 迁移与数据增强"/>
          <p:cNvSpPr/>
          <p:nvPr/>
        </p:nvSpPr>
        <p:spPr>
          <a:xfrm>
            <a:off x="9409176" y="4901184"/>
            <a:ext cx="20391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研究内容三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迁移与数据增强</a:t>
            </a:r>
            <a:endParaRPr lang="en-US" sz="1850" dirty="0"/>
          </a:p>
        </p:txBody>
      </p:sp>
      <p:sp>
        <p:nvSpPr>
          <p:cNvPr id="39" name="Shape 37"/>
          <p:cNvSpPr/>
          <p:nvPr/>
        </p:nvSpPr>
        <p:spPr>
          <a:xfrm>
            <a:off x="393192" y="6153912"/>
            <a:ext cx="11402568" cy="329184"/>
          </a:xfrm>
          <a:prstGeom prst="rect">
            <a:avLst/>
          </a:prstGeom>
          <a:solidFill>
            <a:srgbClr val="EEF4FA"/>
          </a:solidFill>
          <a:ln w="12700">
            <a:solidFill>
              <a:srgbClr val="EEF4FA"/>
            </a:solidFill>
            <a:prstDash val="solid"/>
          </a:ln>
        </p:spPr>
      </p:sp>
      <p:sp>
        <p:nvSpPr>
          <p:cNvPr id="40" name="下文分别围绕三个关键接口，展开研究内容与解决思路。"/>
          <p:cNvSpPr/>
          <p:nvPr/>
        </p:nvSpPr>
        <p:spPr>
          <a:xfrm>
            <a:off x="548640" y="6176772"/>
            <a:ext cx="11082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5EA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下文分别围绕三个关键接口，展开研究内容与解决思路。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广州大学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太赫兹器件神经算子电磁建模：研究背景、现状与目标</dc:title>
  <dc:subject>按用户指定范围制作的五页开篇；不含后续研究内容页</dc:subject>
  <dc:creator>Research Presentation</dc:creator>
  <cp:lastModifiedBy>Research Presentation</cp:lastModifiedBy>
  <cp:revision>1</cp:revision>
  <dcterms:created xsi:type="dcterms:W3CDTF">2026-10-23T06:45:45Z</dcterms:created>
  <dcterms:modified xsi:type="dcterms:W3CDTF">2026-10-23T06:45:45Z</dcterms:modified>
</cp:coreProperties>
</file>