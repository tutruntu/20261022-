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本页范围：[0048]、[0051]–[0053]、[0055]
内容依据本轮上传《太赫兹国重申请书-汇总-10-22.docx》，SHA256: 15d8ce5a779f0d1df8fd64349a37fbcf44769be8e36d077b24ab54c103c6b70c。
从应用需求和亚波长器件的精细结构出发，引出高精度、高效率及自主工具需求；下方仅概览三类方法，不展开后续研究方案。政策与联盟表述没有包装为已核实的原文引用。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本页范围：[0059]–[0071]
内容依据本轮上传《太赫兹国重申请书-汇总-10-22.docx》，SHA256: 15d8ce5a779f0d1df8fd64349a37fbcf44769be8e36d077b24ab54c103c6b70c。
以输入、求解/学习方式和输出为主线，对照三类方法。所谓推理快指模型训练完成后的推理，不是训练速度快。没有沿用原图中“泛化能力强”的无条件标签，没有引用文献100倍、88%、75%、26%等数字作为项目成果。原文参考文献分组：[3]–[5]为传统全波，[6]–[17]为响应建模，[18]–[32]为神经算子及相关迁移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本页范围：[0069]–[0076]
内容依据本轮上传《太赫兹国重申请书-汇总-10-22.docx》，SHA256: 15d8ce5a779f0d1df8fd64349a37fbcf44769be8e36d077b24ab54c103c6b70c。
第3页讨论领域现状局限，与第5页本项目实现接口相区分。几何输入依据[0069]；复杂边界场与算子依据[0070]、[0075]；迁移依据[0071]、[0076]。原文关于现有方法仅求解1D/2D的笼统说法未直接搬用，避免与已有三维神经算子研究冲突。页码在不同Word/PDF渲染器中会变化，本页以用户明确指定的2.4及其前几段为定位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本页范围：[0112]–[0117]；总体支撑语依据[0052]、[0296]
内容依据本轮上传《太赫兹国重申请书-汇总-10-22.docx》，SHA256: 15d8ce5a779f0d1df8fd64349a37fbcf44769be8e36d077b24ab54c103c6b70c。
三项目标完全依“二、研究目标”进行能力化概括，不加入第四章定量考核指标，不表述为已经实现的成果。整体自主工具与高效设计支撑参见需求分析[0052]及工具集成[0296]。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本页范围：[0126]、[0144]、[0174]、[0178]、[0199]–[0220]、[0256]、[0262]–[0269]、[0274]–[0307]
内容依据本轮上传《太赫兹国重申请书-汇总-10-22.docx》，SHA256: 15d8ce5a779f0d1df8fd64349a37fbcf44769be8e36d077b24ab54c103c6b70c。
本页是承上启下的目标实现难点，不重复第3页的研究现状，也不代做用户已有的研究内容部分。第一行来源于真实物理边界提取及统一几何编码；第二行来源于几何方向、变系数算子计算开销、FFT效率及物理约束协同；第三行来源于色散/电导率/耦合导致频率伸缩偏差、不同拓扑/端口构型对齐与物理一致的增强样本。未展开23通道、六方向分解、MAML内外循环等技术细节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1 研究背景及现状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1.1 研究背景及现状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需求分析；研究现状首段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资料依据：需求分析；研究现状首段</a:t>
            </a:r>
            <a:endParaRPr lang="en-US" sz="850" dirty="0"/>
          </a:p>
        </p:txBody>
      </p:sp>
      <p:sp>
        <p:nvSpPr>
          <p:cNvPr id="7" name="1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115568"/>
            <a:ext cx="11301984" cy="621792"/>
          </a:xfrm>
          <a:prstGeom prst="rect">
            <a:avLst/>
          </a:prstGeom>
          <a:solidFill>
            <a:srgbClr val="FAFCFE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32688"/>
            <a:ext cx="1527048" cy="365760"/>
          </a:xfrm>
          <a:custGeom>
            <a:avLst/>
            <a:gdLst/>
            <a:ahLst/>
            <a:cxnLst/>
            <a:rect l="l" t="t" r="r" b="b"/>
            <a:pathLst>
              <a:path w="1527048" h="365760">
                <a:moveTo>
                  <a:pt x="0" y="0"/>
                </a:moveTo>
                <a:lnTo>
                  <a:pt x="1527048" y="0"/>
                </a:lnTo>
                <a:lnTo>
                  <a:pt x="141732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11" name="研究需求"/>
          <p:cNvSpPr/>
          <p:nvPr/>
        </p:nvSpPr>
        <p:spPr>
          <a:xfrm>
            <a:off x="475488" y="94640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研究需求</a:t>
            </a:r>
            <a:endParaRPr lang="en-US" sz="2000" dirty="0"/>
          </a:p>
        </p:txBody>
      </p:sp>
      <p:sp>
        <p:nvSpPr>
          <p:cNvPr id="12" name="原生富文本"/>
          <p:cNvSpPr/>
          <p:nvPr/>
        </p:nvSpPr>
        <p:spPr>
          <a:xfrm>
            <a:off x="694944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亚波长太赫兹器件研发，亟需 </a:t>
            </a:r>
            <a:pPr algn="ctr" indent="0" marL="0">
              <a:buNone/>
            </a:pPr>
            <a:r>
              <a:rPr lang="en-US" sz="20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高精度 · 高效率 · 自主可控</a:t>
            </a:r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的电磁建模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393192" y="1920240"/>
            <a:ext cx="11402568" cy="2130552"/>
          </a:xfrm>
          <a:prstGeom prst="rect">
            <a:avLst/>
          </a:prstGeom>
          <a:solidFill>
            <a:srgbClr val="F7FAFD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" y="2039112"/>
            <a:ext cx="2834640" cy="393192"/>
          </a:xfrm>
          <a:prstGeom prst="rect">
            <a:avLst/>
          </a:prstGeom>
          <a:solidFill>
            <a:srgbClr val="EAF2F9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15" name="应用牵引"/>
          <p:cNvSpPr/>
          <p:nvPr/>
        </p:nvSpPr>
        <p:spPr>
          <a:xfrm>
            <a:off x="630936" y="20711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应用牵引</a:t>
            </a:r>
            <a:endParaRPr lang="en-US" sz="1900" dirty="0"/>
          </a:p>
        </p:txBody>
      </p:sp>
      <p:pic>
        <p:nvPicPr>
          <p:cNvPr id="16" name="高速通信应用概念图" descr="高速通信应用概念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551176"/>
            <a:ext cx="617220" cy="411480"/>
          </a:xfrm>
          <a:prstGeom prst="rect">
            <a:avLst/>
          </a:prstGeom>
        </p:spPr>
      </p:pic>
      <p:sp>
        <p:nvSpPr>
          <p:cNvPr id="17" name="高速通信"/>
          <p:cNvSpPr/>
          <p:nvPr/>
        </p:nvSpPr>
        <p:spPr>
          <a:xfrm>
            <a:off x="548640" y="294436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高速通信</a:t>
            </a:r>
            <a:endParaRPr lang="en-US" sz="1550" dirty="0"/>
          </a:p>
        </p:txBody>
      </p:sp>
      <p:pic>
        <p:nvPicPr>
          <p:cNvPr id="18" name="安检成像应用概念图" descr="安检成像应用概念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58" y="2551176"/>
            <a:ext cx="617220" cy="411480"/>
          </a:xfrm>
          <a:prstGeom prst="rect">
            <a:avLst/>
          </a:prstGeom>
        </p:spPr>
      </p:pic>
      <p:sp>
        <p:nvSpPr>
          <p:cNvPr id="19" name="安检成像"/>
          <p:cNvSpPr/>
          <p:nvPr/>
        </p:nvSpPr>
        <p:spPr>
          <a:xfrm>
            <a:off x="1883664" y="294436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安检成像</a:t>
            </a:r>
            <a:endParaRPr lang="en-US" sz="1550" dirty="0"/>
          </a:p>
        </p:txBody>
      </p:sp>
      <p:pic>
        <p:nvPicPr>
          <p:cNvPr id="20" name="生物传感应用概念图" descr="生物传感应用概念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" y="3191256"/>
            <a:ext cx="617220" cy="411480"/>
          </a:xfrm>
          <a:prstGeom prst="rect">
            <a:avLst/>
          </a:prstGeom>
        </p:spPr>
      </p:pic>
      <p:sp>
        <p:nvSpPr>
          <p:cNvPr id="21" name="生物传感"/>
          <p:cNvSpPr/>
          <p:nvPr/>
        </p:nvSpPr>
        <p:spPr>
          <a:xfrm>
            <a:off x="548640" y="358444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生物传感</a:t>
            </a:r>
            <a:endParaRPr lang="en-US" sz="1550" dirty="0"/>
          </a:p>
        </p:txBody>
      </p:sp>
      <p:pic>
        <p:nvPicPr>
          <p:cNvPr id="22" name="物质识别应用概念图" descr="物质识别应用概念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58" y="3191256"/>
            <a:ext cx="617220" cy="411480"/>
          </a:xfrm>
          <a:prstGeom prst="rect">
            <a:avLst/>
          </a:prstGeom>
        </p:spPr>
      </p:pic>
      <p:sp>
        <p:nvSpPr>
          <p:cNvPr id="23" name="物质识别"/>
          <p:cNvSpPr/>
          <p:nvPr/>
        </p:nvSpPr>
        <p:spPr>
          <a:xfrm>
            <a:off x="1883664" y="358444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物质识别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3447288" y="3054096"/>
            <a:ext cx="347472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5" name="亚波长太赫兹器件"/>
          <p:cNvSpPr/>
          <p:nvPr/>
        </p:nvSpPr>
        <p:spPr>
          <a:xfrm>
            <a:off x="3813048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亚波长太赫兹器件</a:t>
            </a:r>
            <a:endParaRPr lang="en-US" sz="2050" dirty="0"/>
          </a:p>
        </p:txBody>
      </p:sp>
      <p:pic>
        <p:nvPicPr>
          <p:cNvPr id="26" name="薄膜与狭缝构成的亚波长器件概念图" descr="薄膜与狭缝构成的亚波长器件概念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072" y="2423160"/>
            <a:ext cx="1621536" cy="1216152"/>
          </a:xfrm>
          <a:prstGeom prst="rect">
            <a:avLst/>
          </a:prstGeom>
        </p:spPr>
      </p:pic>
      <p:sp>
        <p:nvSpPr>
          <p:cNvPr id="27" name="薄膜 · 狭缝 · 复杂边界"/>
          <p:cNvSpPr/>
          <p:nvPr/>
        </p:nvSpPr>
        <p:spPr>
          <a:xfrm>
            <a:off x="38404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薄膜 · 狭缝 · 复杂边界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7324344" y="3054096"/>
            <a:ext cx="38404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9" name="三维场决定器件响应"/>
          <p:cNvSpPr/>
          <p:nvPr/>
        </p:nvSpPr>
        <p:spPr>
          <a:xfrm>
            <a:off x="7763256" y="20756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三维场决定器件响应</a:t>
            </a:r>
            <a:endParaRPr lang="en-US" sz="2050" dirty="0"/>
          </a:p>
        </p:txBody>
      </p:sp>
      <p:sp>
        <p:nvSpPr>
          <p:cNvPr id="30" name="Shape 23"/>
          <p:cNvSpPr/>
          <p:nvPr/>
        </p:nvSpPr>
        <p:spPr>
          <a:xfrm>
            <a:off x="8270291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15554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0816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406079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451342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96605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10194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55457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00720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545982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591245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636508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550097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595360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640623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685886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731148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776411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690000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735263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8780526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825789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8871052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916314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8829904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875166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920429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8965692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010955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9056218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8969807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9015070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9060332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9105595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9150858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196121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8419658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8419658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8419658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8419658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8419658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8419658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8559561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8559561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8559561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8559561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8559561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8559561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8699464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8699464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8699464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8699464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699464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8699464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8839368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8839368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8839368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8839368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8839368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8839368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8979271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8979271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8979271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979271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8979271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8979271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9119174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9119174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9119174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9119174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9119174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9119174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8740366" y="335572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8740366" y="325111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8740366" y="314651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8740366" y="304190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8740366" y="293729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>
            <a:off x="8740366" y="283268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8785628" y="332561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8785628" y="322100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8785628" y="311639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8785628" y="301179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8785628" y="290718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8785628" y="280257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8830891" y="329549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8830891" y="319089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8830891" y="308628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8830891" y="298167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8830891" y="287706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8830891" y="277246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8876154" y="326538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8876154" y="316077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8876154" y="305616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8876154" y="295156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8876154" y="284695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>
            <a:off x="8876154" y="274234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8921417" y="323526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>
            <a:off x="8921417" y="313066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8921417" y="302605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>
            <a:off x="8921417" y="292144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8921417" y="281684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>
            <a:off x="8921417" y="271223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8966680" y="320515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>
            <a:off x="8966680" y="310054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8966680" y="299594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35" name="Shape 128"/>
          <p:cNvSpPr/>
          <p:nvPr/>
        </p:nvSpPr>
        <p:spPr>
          <a:xfrm>
            <a:off x="8966680" y="289133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8966680" y="278672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37" name="Shape 130"/>
          <p:cNvSpPr/>
          <p:nvPr/>
        </p:nvSpPr>
        <p:spPr>
          <a:xfrm>
            <a:off x="8966680" y="268211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38" name="Shape 131"/>
          <p:cNvSpPr/>
          <p:nvPr/>
        </p:nvSpPr>
        <p:spPr>
          <a:xfrm>
            <a:off x="8270291" y="3490448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39" name="Shape 132"/>
          <p:cNvSpPr/>
          <p:nvPr/>
        </p:nvSpPr>
        <p:spPr>
          <a:xfrm flipV="1">
            <a:off x="9109710" y="3309762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0" name="Shape 133"/>
          <p:cNvSpPr/>
          <p:nvPr/>
        </p:nvSpPr>
        <p:spPr>
          <a:xfrm>
            <a:off x="8541868" y="3309762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1" name="Shape 134"/>
          <p:cNvSpPr/>
          <p:nvPr/>
        </p:nvSpPr>
        <p:spPr>
          <a:xfrm flipV="1">
            <a:off x="8270291" y="3309762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2" name="Shape 135"/>
          <p:cNvSpPr/>
          <p:nvPr/>
        </p:nvSpPr>
        <p:spPr>
          <a:xfrm>
            <a:off x="8270291" y="2862804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3" name="Shape 136"/>
          <p:cNvSpPr/>
          <p:nvPr/>
        </p:nvSpPr>
        <p:spPr>
          <a:xfrm flipV="1">
            <a:off x="9109710" y="2682118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4" name="Shape 137"/>
          <p:cNvSpPr/>
          <p:nvPr/>
        </p:nvSpPr>
        <p:spPr>
          <a:xfrm>
            <a:off x="8541868" y="2682118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5" name="Shape 138"/>
          <p:cNvSpPr/>
          <p:nvPr/>
        </p:nvSpPr>
        <p:spPr>
          <a:xfrm flipV="1">
            <a:off x="8270291" y="2682118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6" name="Shape 139"/>
          <p:cNvSpPr/>
          <p:nvPr/>
        </p:nvSpPr>
        <p:spPr>
          <a:xfrm>
            <a:off x="8270291" y="2862804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7" name="Shape 140"/>
          <p:cNvSpPr/>
          <p:nvPr/>
        </p:nvSpPr>
        <p:spPr>
          <a:xfrm>
            <a:off x="9109710" y="2862804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8" name="Shape 141"/>
          <p:cNvSpPr/>
          <p:nvPr/>
        </p:nvSpPr>
        <p:spPr>
          <a:xfrm>
            <a:off x="9381287" y="2682118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9" name="Shape 142"/>
          <p:cNvSpPr/>
          <p:nvPr/>
        </p:nvSpPr>
        <p:spPr>
          <a:xfrm>
            <a:off x="8541868" y="2682118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0" name="Shape 143"/>
          <p:cNvSpPr/>
          <p:nvPr/>
        </p:nvSpPr>
        <p:spPr>
          <a:xfrm>
            <a:off x="8508482" y="3223223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Shape 144"/>
          <p:cNvSpPr/>
          <p:nvPr/>
        </p:nvSpPr>
        <p:spPr>
          <a:xfrm>
            <a:off x="8684760" y="3122800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8861038" y="3041207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3" name="Shape 146"/>
          <p:cNvSpPr/>
          <p:nvPr/>
        </p:nvSpPr>
        <p:spPr>
          <a:xfrm>
            <a:off x="9991649" y="2659075"/>
            <a:ext cx="914" cy="637337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54" name="Shape 147"/>
          <p:cNvSpPr/>
          <p:nvPr/>
        </p:nvSpPr>
        <p:spPr>
          <a:xfrm>
            <a:off x="9991649" y="3296412"/>
            <a:ext cx="1102401" cy="914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55" name="Shape 148"/>
          <p:cNvSpPr/>
          <p:nvPr/>
        </p:nvSpPr>
        <p:spPr>
          <a:xfrm>
            <a:off x="9991649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6" name="Shape 149"/>
          <p:cNvSpPr/>
          <p:nvPr/>
        </p:nvSpPr>
        <p:spPr>
          <a:xfrm>
            <a:off x="10011692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7" name="Shape 150"/>
          <p:cNvSpPr/>
          <p:nvPr/>
        </p:nvSpPr>
        <p:spPr>
          <a:xfrm>
            <a:off x="10031736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8" name="Shape 151"/>
          <p:cNvSpPr/>
          <p:nvPr/>
        </p:nvSpPr>
        <p:spPr>
          <a:xfrm>
            <a:off x="10051780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9" name="Shape 152"/>
          <p:cNvSpPr/>
          <p:nvPr/>
        </p:nvSpPr>
        <p:spPr>
          <a:xfrm>
            <a:off x="10071823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0" name="Shape 153"/>
          <p:cNvSpPr/>
          <p:nvPr/>
        </p:nvSpPr>
        <p:spPr>
          <a:xfrm>
            <a:off x="10091867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1" name="Shape 154"/>
          <p:cNvSpPr/>
          <p:nvPr/>
        </p:nvSpPr>
        <p:spPr>
          <a:xfrm>
            <a:off x="10111911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2" name="Shape 155"/>
          <p:cNvSpPr/>
          <p:nvPr/>
        </p:nvSpPr>
        <p:spPr>
          <a:xfrm>
            <a:off x="10131954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3" name="Shape 156"/>
          <p:cNvSpPr/>
          <p:nvPr/>
        </p:nvSpPr>
        <p:spPr>
          <a:xfrm>
            <a:off x="10151998" y="2775662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4" name="Shape 157"/>
          <p:cNvSpPr/>
          <p:nvPr/>
        </p:nvSpPr>
        <p:spPr>
          <a:xfrm>
            <a:off x="10172042" y="2775664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5" name="Shape 158"/>
          <p:cNvSpPr/>
          <p:nvPr/>
        </p:nvSpPr>
        <p:spPr>
          <a:xfrm>
            <a:off x="10192085" y="2775677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6" name="Shape 159"/>
          <p:cNvSpPr/>
          <p:nvPr/>
        </p:nvSpPr>
        <p:spPr>
          <a:xfrm>
            <a:off x="10212129" y="2775747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7" name="Shape 160"/>
          <p:cNvSpPr/>
          <p:nvPr/>
        </p:nvSpPr>
        <p:spPr>
          <a:xfrm>
            <a:off x="10232173" y="2776070"/>
            <a:ext cx="20044" cy="125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8" name="Shape 161"/>
          <p:cNvSpPr/>
          <p:nvPr/>
        </p:nvSpPr>
        <p:spPr>
          <a:xfrm>
            <a:off x="10252216" y="2777321"/>
            <a:ext cx="20044" cy="410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9" name="Shape 162"/>
          <p:cNvSpPr/>
          <p:nvPr/>
        </p:nvSpPr>
        <p:spPr>
          <a:xfrm>
            <a:off x="10272260" y="2781421"/>
            <a:ext cx="20044" cy="1133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0" name="Shape 163"/>
          <p:cNvSpPr/>
          <p:nvPr/>
        </p:nvSpPr>
        <p:spPr>
          <a:xfrm>
            <a:off x="10292304" y="2792751"/>
            <a:ext cx="20044" cy="2627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1" name="Shape 164"/>
          <p:cNvSpPr/>
          <p:nvPr/>
        </p:nvSpPr>
        <p:spPr>
          <a:xfrm>
            <a:off x="10312347" y="2819024"/>
            <a:ext cx="20044" cy="507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2" name="Shape 165"/>
          <p:cNvSpPr/>
          <p:nvPr/>
        </p:nvSpPr>
        <p:spPr>
          <a:xfrm>
            <a:off x="10332391" y="2869748"/>
            <a:ext cx="20044" cy="8048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3" name="Shape 166"/>
          <p:cNvSpPr/>
          <p:nvPr/>
        </p:nvSpPr>
        <p:spPr>
          <a:xfrm>
            <a:off x="10352434" y="2950233"/>
            <a:ext cx="20044" cy="10241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4" name="Shape 167"/>
          <p:cNvSpPr/>
          <p:nvPr/>
        </p:nvSpPr>
        <p:spPr>
          <a:xfrm>
            <a:off x="10372478" y="3052649"/>
            <a:ext cx="20044" cy="988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5" name="Shape 168"/>
          <p:cNvSpPr/>
          <p:nvPr/>
        </p:nvSpPr>
        <p:spPr>
          <a:xfrm>
            <a:off x="10392522" y="3151486"/>
            <a:ext cx="20044" cy="602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6" name="Shape 169"/>
          <p:cNvSpPr/>
          <p:nvPr/>
        </p:nvSpPr>
        <p:spPr>
          <a:xfrm flipV="1">
            <a:off x="10412565" y="3208325"/>
            <a:ext cx="20044" cy="339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7" name="Shape 170"/>
          <p:cNvSpPr/>
          <p:nvPr/>
        </p:nvSpPr>
        <p:spPr>
          <a:xfrm flipV="1">
            <a:off x="10432609" y="3142767"/>
            <a:ext cx="20044" cy="6555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8" name="Shape 171"/>
          <p:cNvSpPr/>
          <p:nvPr/>
        </p:nvSpPr>
        <p:spPr>
          <a:xfrm flipV="1">
            <a:off x="10452653" y="3042022"/>
            <a:ext cx="20044" cy="10074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9" name="Shape 172"/>
          <p:cNvSpPr/>
          <p:nvPr/>
        </p:nvSpPr>
        <p:spPr>
          <a:xfrm flipV="1">
            <a:off x="10472696" y="2940930"/>
            <a:ext cx="20044" cy="10109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0" name="Shape 173"/>
          <p:cNvSpPr/>
          <p:nvPr/>
        </p:nvSpPr>
        <p:spPr>
          <a:xfrm flipV="1">
            <a:off x="10492740" y="2863354"/>
            <a:ext cx="20044" cy="7757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1" name="Shape 174"/>
          <p:cNvSpPr/>
          <p:nvPr/>
        </p:nvSpPr>
        <p:spPr>
          <a:xfrm flipV="1">
            <a:off x="10512784" y="2815466"/>
            <a:ext cx="20044" cy="4788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2" name="Shape 175"/>
          <p:cNvSpPr/>
          <p:nvPr/>
        </p:nvSpPr>
        <p:spPr>
          <a:xfrm flipV="1">
            <a:off x="10532827" y="2791170"/>
            <a:ext cx="20044" cy="2429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3" name="Shape 176"/>
          <p:cNvSpPr/>
          <p:nvPr/>
        </p:nvSpPr>
        <p:spPr>
          <a:xfrm flipV="1">
            <a:off x="10552871" y="2781034"/>
            <a:ext cx="20044" cy="1013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4" name="Shape 177"/>
          <p:cNvSpPr/>
          <p:nvPr/>
        </p:nvSpPr>
        <p:spPr>
          <a:xfrm flipV="1">
            <a:off x="10572915" y="2777913"/>
            <a:ext cx="20044" cy="312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5" name="Shape 178"/>
          <p:cNvSpPr/>
          <p:nvPr/>
        </p:nvSpPr>
        <p:spPr>
          <a:xfrm>
            <a:off x="10592958" y="2777913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6" name="Shape 179"/>
          <p:cNvSpPr/>
          <p:nvPr/>
        </p:nvSpPr>
        <p:spPr>
          <a:xfrm>
            <a:off x="10613002" y="2778303"/>
            <a:ext cx="20044" cy="335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7" name="Shape 180"/>
          <p:cNvSpPr/>
          <p:nvPr/>
        </p:nvSpPr>
        <p:spPr>
          <a:xfrm>
            <a:off x="10633046" y="2781656"/>
            <a:ext cx="20044" cy="783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8" name="Shape 181"/>
          <p:cNvSpPr/>
          <p:nvPr/>
        </p:nvSpPr>
        <p:spPr>
          <a:xfrm>
            <a:off x="10653089" y="2789488"/>
            <a:ext cx="20044" cy="152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9" name="Shape 182"/>
          <p:cNvSpPr/>
          <p:nvPr/>
        </p:nvSpPr>
        <p:spPr>
          <a:xfrm>
            <a:off x="10673133" y="2804726"/>
            <a:ext cx="20044" cy="2608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0" name="Shape 183"/>
          <p:cNvSpPr/>
          <p:nvPr/>
        </p:nvSpPr>
        <p:spPr>
          <a:xfrm>
            <a:off x="10693176" y="2830806"/>
            <a:ext cx="20044" cy="3921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1" name="Shape 184"/>
          <p:cNvSpPr/>
          <p:nvPr/>
        </p:nvSpPr>
        <p:spPr>
          <a:xfrm>
            <a:off x="10713220" y="2870025"/>
            <a:ext cx="20044" cy="5126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10733264" y="2921287"/>
            <a:ext cx="20044" cy="5705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3" name="Shape 186"/>
          <p:cNvSpPr/>
          <p:nvPr/>
        </p:nvSpPr>
        <p:spPr>
          <a:xfrm>
            <a:off x="10753307" y="2978339"/>
            <a:ext cx="20044" cy="5171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4" name="Shape 187"/>
          <p:cNvSpPr/>
          <p:nvPr/>
        </p:nvSpPr>
        <p:spPr>
          <a:xfrm>
            <a:off x="10773351" y="3030056"/>
            <a:ext cx="20044" cy="3357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5" name="Shape 188"/>
          <p:cNvSpPr/>
          <p:nvPr/>
        </p:nvSpPr>
        <p:spPr>
          <a:xfrm>
            <a:off x="10793395" y="3063631"/>
            <a:ext cx="20044" cy="601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6" name="Shape 189"/>
          <p:cNvSpPr/>
          <p:nvPr/>
        </p:nvSpPr>
        <p:spPr>
          <a:xfrm flipV="1">
            <a:off x="10813438" y="3046323"/>
            <a:ext cx="20044" cy="2331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7" name="Shape 190"/>
          <p:cNvSpPr/>
          <p:nvPr/>
        </p:nvSpPr>
        <p:spPr>
          <a:xfrm flipV="1">
            <a:off x="10833482" y="3000396"/>
            <a:ext cx="20044" cy="4592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8" name="Shape 191"/>
          <p:cNvSpPr/>
          <p:nvPr/>
        </p:nvSpPr>
        <p:spPr>
          <a:xfrm flipV="1">
            <a:off x="10853526" y="2943947"/>
            <a:ext cx="20044" cy="5644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9" name="Shape 192"/>
          <p:cNvSpPr/>
          <p:nvPr/>
        </p:nvSpPr>
        <p:spPr>
          <a:xfrm flipV="1">
            <a:off x="10873569" y="2889309"/>
            <a:ext cx="20044" cy="546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0" name="Shape 193"/>
          <p:cNvSpPr/>
          <p:nvPr/>
        </p:nvSpPr>
        <p:spPr>
          <a:xfrm flipV="1">
            <a:off x="10893613" y="2844877"/>
            <a:ext cx="20044" cy="4443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 flipV="1">
            <a:off x="10913657" y="2813679"/>
            <a:ext cx="20044" cy="3119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2" name="Shape 195"/>
          <p:cNvSpPr/>
          <p:nvPr/>
        </p:nvSpPr>
        <p:spPr>
          <a:xfrm flipV="1">
            <a:off x="10933700" y="2794494"/>
            <a:ext cx="20044" cy="1918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3" name="Shape 196"/>
          <p:cNvSpPr/>
          <p:nvPr/>
        </p:nvSpPr>
        <p:spPr>
          <a:xfrm flipV="1">
            <a:off x="10953744" y="2784074"/>
            <a:ext cx="20044" cy="1041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4" name="Shape 197"/>
          <p:cNvSpPr/>
          <p:nvPr/>
        </p:nvSpPr>
        <p:spPr>
          <a:xfrm flipV="1">
            <a:off x="10973788" y="2779051"/>
            <a:ext cx="20044" cy="50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5" name="Shape 198"/>
          <p:cNvSpPr/>
          <p:nvPr/>
        </p:nvSpPr>
        <p:spPr>
          <a:xfrm flipV="1">
            <a:off x="10993831" y="2776893"/>
            <a:ext cx="20044" cy="215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6" name="Shape 199"/>
          <p:cNvSpPr/>
          <p:nvPr/>
        </p:nvSpPr>
        <p:spPr>
          <a:xfrm flipV="1">
            <a:off x="11013875" y="2776065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7" name="Shape 200"/>
          <p:cNvSpPr/>
          <p:nvPr/>
        </p:nvSpPr>
        <p:spPr>
          <a:xfrm flipV="1">
            <a:off x="11033918" y="2775780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8" name="Shape 201"/>
          <p:cNvSpPr/>
          <p:nvPr/>
        </p:nvSpPr>
        <p:spPr>
          <a:xfrm flipV="1">
            <a:off x="11053962" y="2775693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9" name="Shape 202"/>
          <p:cNvSpPr/>
          <p:nvPr/>
        </p:nvSpPr>
        <p:spPr>
          <a:xfrm flipV="1">
            <a:off x="11074006" y="2775669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9482328" y="3063240"/>
            <a:ext cx="265176" cy="914"/>
          </a:xfrm>
          <a:prstGeom prst="line">
            <a:avLst/>
          </a:prstGeom>
          <a:noFill/>
          <a:ln w="1651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11" name="传播 · 耦合 · 谐振 · 优化"/>
          <p:cNvSpPr/>
          <p:nvPr/>
        </p:nvSpPr>
        <p:spPr>
          <a:xfrm>
            <a:off x="7836408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传播 · 耦合 · 谐振 · 优化</a:t>
            </a:r>
            <a:endParaRPr lang="en-US" sz="1700" dirty="0"/>
          </a:p>
        </p:txBody>
      </p:sp>
      <p:sp>
        <p:nvSpPr>
          <p:cNvPr id="212" name="Shape 205"/>
          <p:cNvSpPr/>
          <p:nvPr/>
        </p:nvSpPr>
        <p:spPr>
          <a:xfrm>
            <a:off x="393192" y="4233672"/>
            <a:ext cx="1508760" cy="365760"/>
          </a:xfrm>
          <a:custGeom>
            <a:avLst/>
            <a:gdLst/>
            <a:ahLst/>
            <a:cxnLst/>
            <a:rect l="l" t="t" r="r" b="b"/>
            <a:pathLst>
              <a:path w="1508760" h="365760">
                <a:moveTo>
                  <a:pt x="0" y="0"/>
                </a:moveTo>
                <a:lnTo>
                  <a:pt x="1508760" y="0"/>
                </a:lnTo>
                <a:lnTo>
                  <a:pt x="1399032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13" name="Shape 206"/>
          <p:cNvSpPr/>
          <p:nvPr/>
        </p:nvSpPr>
        <p:spPr>
          <a:xfrm>
            <a:off x="393192" y="4599432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214" name="研究现状"/>
          <p:cNvSpPr/>
          <p:nvPr/>
        </p:nvSpPr>
        <p:spPr>
          <a:xfrm>
            <a:off x="502920" y="4247388"/>
            <a:ext cx="1252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研究现状</a:t>
            </a:r>
            <a:endParaRPr lang="en-US" sz="2000" dirty="0"/>
          </a:p>
        </p:txBody>
      </p:sp>
      <p:sp>
        <p:nvSpPr>
          <p:cNvPr id="215" name="Shape 208"/>
          <p:cNvSpPr/>
          <p:nvPr/>
        </p:nvSpPr>
        <p:spPr>
          <a:xfrm>
            <a:off x="512064" y="4672584"/>
            <a:ext cx="2368296" cy="113385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16" name="全波仿真"/>
          <p:cNvSpPr/>
          <p:nvPr/>
        </p:nvSpPr>
        <p:spPr>
          <a:xfrm>
            <a:off x="603504" y="4736592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全波仿真</a:t>
            </a:r>
            <a:endParaRPr lang="en-US" sz="1850" dirty="0"/>
          </a:p>
        </p:txBody>
      </p:sp>
      <p:sp>
        <p:nvSpPr>
          <p:cNvPr id="217" name="数值求解麦克斯韦方程"/>
          <p:cNvSpPr/>
          <p:nvPr/>
        </p:nvSpPr>
        <p:spPr>
          <a:xfrm>
            <a:off x="585216" y="513892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数值求解麦克斯韦方程</a:t>
            </a:r>
            <a:endParaRPr lang="en-US" sz="1480" dirty="0"/>
          </a:p>
        </p:txBody>
      </p:sp>
      <p:sp>
        <p:nvSpPr>
          <p:cNvPr id="218" name="高精度 · 高计算代价"/>
          <p:cNvSpPr/>
          <p:nvPr/>
        </p:nvSpPr>
        <p:spPr>
          <a:xfrm>
            <a:off x="585216" y="547725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高精度 · 高计算代价</a:t>
            </a:r>
            <a:endParaRPr lang="en-US" sz="1480" dirty="0"/>
          </a:p>
        </p:txBody>
      </p:sp>
      <p:sp>
        <p:nvSpPr>
          <p:cNvPr id="219" name="Shape 212"/>
          <p:cNvSpPr/>
          <p:nvPr/>
        </p:nvSpPr>
        <p:spPr>
          <a:xfrm>
            <a:off x="3008376" y="4672584"/>
            <a:ext cx="2368296" cy="113385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20" name="电磁响应建模"/>
          <p:cNvSpPr/>
          <p:nvPr/>
        </p:nvSpPr>
        <p:spPr>
          <a:xfrm>
            <a:off x="3099816" y="4736592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电磁响应建模</a:t>
            </a:r>
            <a:endParaRPr lang="en-US" sz="1850" dirty="0"/>
          </a:p>
        </p:txBody>
      </p:sp>
      <p:sp>
        <p:nvSpPr>
          <p:cNvPr id="221" name="设计变量 → 工程指标"/>
          <p:cNvSpPr/>
          <p:nvPr/>
        </p:nvSpPr>
        <p:spPr>
          <a:xfrm>
            <a:off x="3081528" y="513892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设计变量 → 工程指标</a:t>
            </a:r>
            <a:endParaRPr lang="en-US" sz="1480" dirty="0"/>
          </a:p>
        </p:txBody>
      </p:sp>
      <p:sp>
        <p:nvSpPr>
          <p:cNvPr id="222" name="推理快 · 内部场缺失"/>
          <p:cNvSpPr/>
          <p:nvPr/>
        </p:nvSpPr>
        <p:spPr>
          <a:xfrm>
            <a:off x="3081528" y="547725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推理快 · 内部场缺失</a:t>
            </a:r>
            <a:endParaRPr lang="en-US" sz="1480" dirty="0"/>
          </a:p>
        </p:txBody>
      </p:sp>
      <p:sp>
        <p:nvSpPr>
          <p:cNvPr id="223" name="Shape 216"/>
          <p:cNvSpPr/>
          <p:nvPr/>
        </p:nvSpPr>
        <p:spPr>
          <a:xfrm>
            <a:off x="5504688" y="4672584"/>
            <a:ext cx="2368296" cy="113385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24" name="电磁场建模"/>
          <p:cNvSpPr/>
          <p:nvPr/>
        </p:nvSpPr>
        <p:spPr>
          <a:xfrm>
            <a:off x="5596128" y="4736592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电磁场建模</a:t>
            </a:r>
            <a:endParaRPr lang="en-US" sz="1850" dirty="0"/>
          </a:p>
        </p:txBody>
      </p:sp>
      <p:sp>
        <p:nvSpPr>
          <p:cNvPr id="225" name="学习输入条件到三维场"/>
          <p:cNvSpPr/>
          <p:nvPr/>
        </p:nvSpPr>
        <p:spPr>
          <a:xfrm>
            <a:off x="5577840" y="513892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学习输入条件到三维场</a:t>
            </a:r>
            <a:endParaRPr lang="en-US" sz="1480" dirty="0"/>
          </a:p>
        </p:txBody>
      </p:sp>
      <p:sp>
        <p:nvSpPr>
          <p:cNvPr id="226" name="全场映射 · 仍需突破"/>
          <p:cNvSpPr/>
          <p:nvPr/>
        </p:nvSpPr>
        <p:spPr>
          <a:xfrm>
            <a:off x="5577840" y="547725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全场映射 · 仍需突破</a:t>
            </a:r>
            <a:endParaRPr lang="en-US" sz="1480" dirty="0"/>
          </a:p>
        </p:txBody>
      </p:sp>
      <p:sp>
        <p:nvSpPr>
          <p:cNvPr id="227" name="Shape 220"/>
          <p:cNvSpPr/>
          <p:nvPr/>
        </p:nvSpPr>
        <p:spPr>
          <a:xfrm>
            <a:off x="8229600" y="4407408"/>
            <a:ext cx="3447288" cy="139903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228" name="现实瓶颈"/>
          <p:cNvSpPr/>
          <p:nvPr/>
        </p:nvSpPr>
        <p:spPr>
          <a:xfrm>
            <a:off x="8385048" y="4489704"/>
            <a:ext cx="3136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现实瓶颈</a:t>
            </a:r>
            <a:endParaRPr lang="en-US" sz="1950" dirty="0"/>
          </a:p>
        </p:txBody>
      </p:sp>
      <p:sp>
        <p:nvSpPr>
          <p:cNvPr id="229" name="精细结构 → 网格密集 多构型搜索 → 重复求解 自主建模工具 → 迫切需求"/>
          <p:cNvSpPr/>
          <p:nvPr/>
        </p:nvSpPr>
        <p:spPr>
          <a:xfrm>
            <a:off x="8385048" y="4828032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精细结构 → 网格密集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多构型搜索 → 重复求解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自主建模工具 → 迫切需求</a:t>
            </a:r>
            <a:endParaRPr lang="en-US" sz="1750" dirty="0"/>
          </a:p>
        </p:txBody>
      </p:sp>
      <p:sp>
        <p:nvSpPr>
          <p:cNvPr id="230" name="Shape 223"/>
          <p:cNvSpPr/>
          <p:nvPr/>
        </p:nvSpPr>
        <p:spPr>
          <a:xfrm>
            <a:off x="393192" y="6126480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31" name="打通“精细几何—三维电磁场—器件响应”，支撑快速智能设计。"/>
          <p:cNvSpPr/>
          <p:nvPr/>
        </p:nvSpPr>
        <p:spPr>
          <a:xfrm>
            <a:off x="548640" y="6149340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打通“精细几何—三维电磁场—器件响应”，支撑快速智能设计。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2 现有电磁建模方法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1.2 现有电磁建模方法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研究现状2.1、2.2、2.3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资料依据：研究现状2.1、2.2、2.3</a:t>
            </a:r>
            <a:endParaRPr lang="en-US" sz="850" dirty="0"/>
          </a:p>
        </p:txBody>
      </p:sp>
      <p:sp>
        <p:nvSpPr>
          <p:cNvPr id="7" name="2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从数值求解到数据驱动：关键区别在于“预测什么、如何求解”"/>
          <p:cNvSpPr/>
          <p:nvPr/>
        </p:nvSpPr>
        <p:spPr>
          <a:xfrm>
            <a:off x="502920" y="96012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从数值求解到数据驱动：关键区别在于“预测什么、如何求解”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93192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1" name="2.1  传统全波仿真"/>
          <p:cNvSpPr/>
          <p:nvPr/>
        </p:nvSpPr>
        <p:spPr>
          <a:xfrm>
            <a:off x="512064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  传统全波仿真</a:t>
            </a:r>
            <a:endParaRPr lang="en-US" sz="2100" dirty="0"/>
          </a:p>
        </p:txBody>
      </p:sp>
      <p:sp>
        <p:nvSpPr>
          <p:cNvPr id="12" name="FDTD · FEM · MoM · FIT"/>
          <p:cNvSpPr/>
          <p:nvPr/>
        </p:nvSpPr>
        <p:spPr>
          <a:xfrm>
            <a:off x="502920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FDTD · FEM · MoM · FIT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5" name="2.2  电磁响应建模"/>
          <p:cNvSpPr/>
          <p:nvPr/>
        </p:nvSpPr>
        <p:spPr>
          <a:xfrm>
            <a:off x="4370832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  电磁响应建模</a:t>
            </a:r>
            <a:endParaRPr lang="en-US" sz="2100" dirty="0"/>
          </a:p>
        </p:txBody>
      </p:sp>
      <p:sp>
        <p:nvSpPr>
          <p:cNvPr id="16" name="正向预测 · 逆向设计 · 物理先验"/>
          <p:cNvSpPr/>
          <p:nvPr/>
        </p:nvSpPr>
        <p:spPr>
          <a:xfrm>
            <a:off x="4361688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正向预测 · 逆向设计 · 物理先验</a:t>
            </a:r>
            <a:endParaRPr lang="en-US" sz="1570" dirty="0"/>
          </a:p>
        </p:txBody>
      </p:sp>
      <p:sp>
        <p:nvSpPr>
          <p:cNvPr id="17" name="Shape 15"/>
          <p:cNvSpPr/>
          <p:nvPr/>
        </p:nvSpPr>
        <p:spPr>
          <a:xfrm>
            <a:off x="8110728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9" name="2.3  电磁场建模"/>
          <p:cNvSpPr/>
          <p:nvPr/>
        </p:nvSpPr>
        <p:spPr>
          <a:xfrm>
            <a:off x="8229600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  电磁场建模</a:t>
            </a:r>
            <a:endParaRPr lang="en-US" sz="2100" dirty="0"/>
          </a:p>
        </p:txBody>
      </p:sp>
      <p:sp>
        <p:nvSpPr>
          <p:cNvPr id="20" name="FNO · DeepONet · 几何增强算子"/>
          <p:cNvSpPr/>
          <p:nvPr/>
        </p:nvSpPr>
        <p:spPr>
          <a:xfrm>
            <a:off x="8220456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FNO · DeepONet · 几何增强算子</a:t>
            </a:r>
            <a:endParaRPr lang="en-US" sz="1570" dirty="0"/>
          </a:p>
        </p:txBody>
      </p:sp>
      <p:sp>
        <p:nvSpPr>
          <p:cNvPr id="21" name="几何 / 材料 / 激励"/>
          <p:cNvSpPr/>
          <p:nvPr/>
        </p:nvSpPr>
        <p:spPr>
          <a:xfrm>
            <a:off x="630936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 / 材料 / 激励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09344" y="3340486"/>
            <a:ext cx="905256" cy="541508"/>
          </a:xfrm>
          <a:custGeom>
            <a:avLst/>
            <a:gdLst/>
            <a:ahLst/>
            <a:cxnLst/>
            <a:rect l="l" t="t" r="r" b="b"/>
            <a:pathLst>
              <a:path w="905256" h="541508">
                <a:moveTo>
                  <a:pt x="0" y="0"/>
                </a:moveTo>
                <a:lnTo>
                  <a:pt x="905256" y="0"/>
                </a:lnTo>
                <a:lnTo>
                  <a:pt x="905256" y="541508"/>
                </a:lnTo>
                <a:lnTo>
                  <a:pt x="0" y="541508"/>
                </a:lnTo>
                <a:close/>
              </a:path>
            </a:pathLst>
          </a:cu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3159984"/>
            <a:ext cx="1179576" cy="180503"/>
          </a:xfrm>
          <a:custGeom>
            <a:avLst/>
            <a:gdLst/>
            <a:ahLst/>
            <a:cxnLst/>
            <a:rect l="l" t="t" r="r" b="b"/>
            <a:pathLst>
              <a:path w="1179576" h="180503">
                <a:moveTo>
                  <a:pt x="0" y="180503"/>
                </a:moveTo>
                <a:lnTo>
                  <a:pt x="274320" y="0"/>
                </a:lnTo>
                <a:lnTo>
                  <a:pt x="1179576" y="0"/>
                </a:lnTo>
                <a:lnTo>
                  <a:pt x="905256" y="180503"/>
                </a:lnTo>
                <a:close/>
              </a:path>
            </a:pathLst>
          </a:custGeom>
          <a:solidFill>
            <a:srgbClr val="DAEBF6"/>
          </a:solidFill>
          <a:ln w="12700">
            <a:solidFill>
              <a:srgbClr val="DAEB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3159984"/>
            <a:ext cx="274320" cy="722010"/>
          </a:xfrm>
          <a:custGeom>
            <a:avLst/>
            <a:gdLst/>
            <a:ahLst/>
            <a:cxnLst/>
            <a:rect l="l" t="t" r="r" b="b"/>
            <a:pathLst>
              <a:path w="274320" h="722010">
                <a:moveTo>
                  <a:pt x="0" y="180503"/>
                </a:moveTo>
                <a:lnTo>
                  <a:pt x="274320" y="0"/>
                </a:lnTo>
                <a:lnTo>
                  <a:pt x="274320" y="541508"/>
                </a:lnTo>
                <a:lnTo>
                  <a:pt x="0" y="722010"/>
                </a:lnTo>
                <a:close/>
              </a:path>
            </a:pathLst>
          </a:custGeom>
          <a:solidFill>
            <a:srgbClr val="C8E0F0"/>
          </a:solidFill>
          <a:ln w="12700">
            <a:solidFill>
              <a:srgbClr val="C8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609344" y="334048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1609344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609344" y="334048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2514600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514600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738666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609344" y="341784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1738666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648533" y="3314700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2514600" y="3237342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553789" y="3314700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67989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609344" y="3495203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1867989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687721" y="328891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2514600" y="3314700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592977" y="3288914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997311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609344" y="3572561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flipV="1">
            <a:off x="1997311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726910" y="3263128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flipV="1">
            <a:off x="2514600" y="3392058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632166" y="3263128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126633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609344" y="3649919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 flipV="1">
            <a:off x="2126633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766098" y="3237342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 flipV="1">
            <a:off x="2514600" y="3469416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71354" y="3237342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255955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609344" y="3727277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 flipV="1">
            <a:off x="2255955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805287" y="321155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 flipV="1">
            <a:off x="2514600" y="3546775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710543" y="321155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385278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609344" y="380463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flipV="1">
            <a:off x="2385278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844475" y="3185770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flipV="1">
            <a:off x="2514600" y="3624133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749731" y="3185770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2514600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609344" y="388199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 flipV="1">
            <a:off x="2514600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883664" y="315998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 flipV="1">
            <a:off x="2514600" y="3701491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788920" y="3159984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3" name="网格离散与数值求解"/>
          <p:cNvSpPr/>
          <p:nvPr/>
        </p:nvSpPr>
        <p:spPr>
          <a:xfrm>
            <a:off x="658368" y="40233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网格离散与数值求解</a:t>
            </a:r>
            <a:endParaRPr lang="en-US" sz="1800" dirty="0"/>
          </a:p>
        </p:txBody>
      </p:sp>
      <p:sp>
        <p:nvSpPr>
          <p:cNvPr id="74" name="E、H场 → 电磁响应"/>
          <p:cNvSpPr/>
          <p:nvPr/>
        </p:nvSpPr>
        <p:spPr>
          <a:xfrm>
            <a:off x="649224" y="4425696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E、H场 → 电磁响应</a:t>
            </a:r>
            <a:endParaRPr lang="en-US" sz="1800" dirty="0"/>
          </a:p>
        </p:txBody>
      </p:sp>
      <p:sp>
        <p:nvSpPr>
          <p:cNvPr id="75" name="设计变量 ⇄ 学习模型"/>
          <p:cNvSpPr/>
          <p:nvPr/>
        </p:nvSpPr>
        <p:spPr>
          <a:xfrm>
            <a:off x="4480560" y="2660904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设计变量 ⇄ 学习模型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 flipV="1">
            <a:off x="4743176" y="3315614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4743176" y="3339389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4743176" y="3339389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4743176" y="3339389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 flipV="1">
            <a:off x="4743176" y="331561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 flipV="1">
            <a:off x="4743176" y="3458261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743176" y="3529584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743176" y="352958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 flipV="1">
            <a:off x="4743176" y="3315614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 flipV="1">
            <a:off x="4743176" y="3458261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 flipV="1">
            <a:off x="4743176" y="3600907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4743176" y="3719779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5230368" y="3315614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5230368" y="331561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5230368" y="3315614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 flipV="1">
            <a:off x="5230368" y="3339389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5230368" y="3458261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5230368" y="3458261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 flipV="1">
            <a:off x="5230368" y="3339389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 flipV="1">
            <a:off x="5230368" y="3529584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5230368" y="3600907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 flipV="1">
            <a:off x="5230368" y="3339389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 flipV="1">
            <a:off x="5230368" y="352958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 flipV="1">
            <a:off x="5230368" y="3719779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4693432" y="3289645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93432" y="3479841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93432" y="3670036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80625" y="3265871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180625" y="3408517"/>
            <a:ext cx="99487" cy="99487"/>
          </a:xfrm>
          <a:prstGeom prst="ellipse">
            <a:avLst/>
          </a:prstGeom>
          <a:solidFill>
            <a:srgbClr val="D79B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80625" y="3551164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80625" y="3693810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7817" y="3289645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67817" y="3479841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667817" y="3670036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96812" y="3201863"/>
            <a:ext cx="914" cy="577352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96812" y="3779215"/>
            <a:ext cx="925373" cy="914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9681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1363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3046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4728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6411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093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59776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1458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1412" y="3307477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48237" y="3307478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665062" y="3307490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681887" y="3307554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698712" y="3307847"/>
            <a:ext cx="16825" cy="113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15536" y="3308980"/>
            <a:ext cx="16825" cy="37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32361" y="3312694"/>
            <a:ext cx="16825" cy="1026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49186" y="3322958"/>
            <a:ext cx="16825" cy="2380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66011" y="3346758"/>
            <a:ext cx="16825" cy="459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82836" y="3392708"/>
            <a:ext cx="16825" cy="7291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99661" y="3465618"/>
            <a:ext cx="16825" cy="9277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16486" y="3558395"/>
            <a:ext cx="16825" cy="8953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33311" y="3647929"/>
            <a:ext cx="16825" cy="5456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6850136" y="3699419"/>
            <a:ext cx="16825" cy="307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6866961" y="3640031"/>
            <a:ext cx="16825" cy="5938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6883786" y="3548768"/>
            <a:ext cx="16825" cy="9126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6900611" y="3457190"/>
            <a:ext cx="16825" cy="9157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6917436" y="3386916"/>
            <a:ext cx="16825" cy="7027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6934261" y="3343535"/>
            <a:ext cx="16825" cy="4338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6951086" y="3321525"/>
            <a:ext cx="16825" cy="2201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6967911" y="3312344"/>
            <a:ext cx="16825" cy="918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6984736" y="3309516"/>
            <a:ext cx="16825" cy="282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1561" y="330951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18386" y="3309869"/>
            <a:ext cx="16825" cy="30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35211" y="3312907"/>
            <a:ext cx="16825" cy="709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52036" y="3320002"/>
            <a:ext cx="16825" cy="1380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68861" y="3333806"/>
            <a:ext cx="16825" cy="2362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85686" y="3357431"/>
            <a:ext cx="16825" cy="3552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02511" y="3392958"/>
            <a:ext cx="16825" cy="464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19336" y="3439396"/>
            <a:ext cx="16825" cy="5168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6160" y="3491078"/>
            <a:ext cx="16825" cy="468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52985" y="3537928"/>
            <a:ext cx="16825" cy="3041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69810" y="3568343"/>
            <a:ext cx="16825" cy="544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7186635" y="3552664"/>
            <a:ext cx="16825" cy="211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7203460" y="3511060"/>
            <a:ext cx="16825" cy="4160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7220285" y="3459924"/>
            <a:ext cx="16825" cy="5113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7237110" y="3410428"/>
            <a:ext cx="16825" cy="4949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7253935" y="3370178"/>
            <a:ext cx="16825" cy="402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7270760" y="3341916"/>
            <a:ext cx="16825" cy="2826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7287585" y="3324536"/>
            <a:ext cx="16825" cy="1738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7304410" y="3315098"/>
            <a:ext cx="16825" cy="943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7321235" y="3310547"/>
            <a:ext cx="16825" cy="455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7338060" y="3308592"/>
            <a:ext cx="16825" cy="195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7354885" y="3307842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7371710" y="3307584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7388535" y="3307505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7405360" y="3307483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035040" y="3529584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68" name="正向预测 / 逆向设计"/>
          <p:cNvSpPr/>
          <p:nvPr/>
        </p:nvSpPr>
        <p:spPr>
          <a:xfrm>
            <a:off x="4526280" y="40233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正向预测 / 逆向设计</a:t>
            </a:r>
            <a:endParaRPr lang="en-US" sz="1800" dirty="0"/>
          </a:p>
        </p:txBody>
      </p:sp>
      <p:sp>
        <p:nvSpPr>
          <p:cNvPr id="169" name="S参数 · 光谱 · 方向图"/>
          <p:cNvSpPr/>
          <p:nvPr/>
        </p:nvSpPr>
        <p:spPr>
          <a:xfrm>
            <a:off x="4507992" y="4425696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S参数 · 光谱 · 方向图</a:t>
            </a:r>
            <a:endParaRPr lang="en-US" sz="1800" dirty="0"/>
          </a:p>
        </p:txBody>
      </p:sp>
      <p:sp>
        <p:nvSpPr>
          <p:cNvPr id="170" name="几何表征 / 激励条件"/>
          <p:cNvSpPr/>
          <p:nvPr/>
        </p:nvSpPr>
        <p:spPr>
          <a:xfrm>
            <a:off x="8330184" y="266090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几何表征 / 激励条件</a:t>
            </a:r>
            <a:endParaRPr lang="en-US" sz="1800" dirty="0"/>
          </a:p>
        </p:txBody>
      </p:sp>
      <p:sp>
        <p:nvSpPr>
          <p:cNvPr id="171" name="Shape 169"/>
          <p:cNvSpPr/>
          <p:nvPr/>
        </p:nvSpPr>
        <p:spPr>
          <a:xfrm>
            <a:off x="8439912" y="3191256"/>
            <a:ext cx="1243584" cy="640080"/>
          </a:xfrm>
          <a:prstGeom prst="rect">
            <a:avLst/>
          </a:prstGeom>
          <a:solidFill>
            <a:srgbClr val="E5F0F9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72" name="神经算子"/>
          <p:cNvSpPr/>
          <p:nvPr/>
        </p:nvSpPr>
        <p:spPr>
          <a:xfrm>
            <a:off x="8485632" y="3364992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神经算子</a:t>
            </a:r>
            <a:endParaRPr lang="en-US" sz="1700" dirty="0"/>
          </a:p>
        </p:txBody>
      </p:sp>
      <p:sp>
        <p:nvSpPr>
          <p:cNvPr id="173" name="Shape 171"/>
          <p:cNvSpPr/>
          <p:nvPr/>
        </p:nvSpPr>
        <p:spPr>
          <a:xfrm>
            <a:off x="9774936" y="3511296"/>
            <a:ext cx="256032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10179649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219212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258776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98339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337902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377465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301935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341498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381061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420624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460187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499750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424221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463784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503347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542910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582473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622036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546507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586070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625633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665196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704759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744322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668792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708356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747919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787482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27045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866608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791078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830641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70204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909767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949330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988893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310207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310207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310207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310207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310207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310207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32493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32493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432493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432493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432493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432493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554779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554779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554779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554779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554779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554779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77065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77065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677065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677065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677065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677065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799351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9351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799351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799351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799351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799351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921636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921636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921636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921636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921636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921636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590530" y="377548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590530" y="367992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590530" y="358437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590530" y="348881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590530" y="339326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590530" y="329770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630093" y="3747973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630093" y="3652418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0630093" y="355686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0630093" y="346130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0630093" y="336575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630093" y="327019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669656" y="372046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669656" y="3624910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669656" y="352935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669656" y="343380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669656" y="333824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669656" y="324269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709219" y="369295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709219" y="359740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709219" y="350184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709219" y="340629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709219" y="3310738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709219" y="3215183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748782" y="366544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748782" y="356989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748782" y="347433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748782" y="337878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48782" y="328322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48782" y="318767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788345" y="3637940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788345" y="354238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788345" y="344683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788345" y="335127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0788345" y="325572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0788345" y="316016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179649" y="3898544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 flipV="1">
            <a:off x="10913364" y="3733495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10417028" y="3733495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 flipV="1">
            <a:off x="10179649" y="3733495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>
            <a:off x="10179649" y="3325216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 flipV="1">
            <a:off x="10913364" y="3160166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>
            <a:off x="10417028" y="3160166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 flipV="1">
            <a:off x="10179649" y="3160166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>
            <a:off x="10179649" y="332521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>
            <a:off x="10913364" y="332521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11150742" y="316016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10417028" y="316016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10387698" y="3654445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541778" y="3562713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695858" y="3488180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7" name="学习输入条件到全场的映射"/>
          <p:cNvSpPr/>
          <p:nvPr/>
        </p:nvSpPr>
        <p:spPr>
          <a:xfrm>
            <a:off x="8321040" y="402336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学习输入条件到全场的映射</a:t>
            </a:r>
            <a:endParaRPr lang="en-US" sz="1740" dirty="0"/>
          </a:p>
        </p:txBody>
      </p:sp>
      <p:sp>
        <p:nvSpPr>
          <p:cNvPr id="298" name="三维 E/H → 电磁响应"/>
          <p:cNvSpPr/>
          <p:nvPr/>
        </p:nvSpPr>
        <p:spPr>
          <a:xfrm>
            <a:off x="8339328" y="442569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 E/H → 电磁响应</a:t>
            </a:r>
            <a:endParaRPr lang="en-US" sz="1800" dirty="0"/>
          </a:p>
        </p:txBody>
      </p:sp>
      <p:sp>
        <p:nvSpPr>
          <p:cNvPr id="299" name="Shape 297"/>
          <p:cNvSpPr/>
          <p:nvPr/>
        </p:nvSpPr>
        <p:spPr>
          <a:xfrm>
            <a:off x="548640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0" name="优势：物理关系明确、精度高"/>
          <p:cNvSpPr/>
          <p:nvPr/>
        </p:nvSpPr>
        <p:spPr>
          <a:xfrm>
            <a:off x="548640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优势：物理关系明确、精度高</a:t>
            </a:r>
            <a:endParaRPr lang="en-US" sz="1660" dirty="0"/>
          </a:p>
        </p:txBody>
      </p:sp>
      <p:sp>
        <p:nvSpPr>
          <p:cNvPr id="301" name="密集网格与多构型扫描 计算代价高"/>
          <p:cNvSpPr/>
          <p:nvPr/>
        </p:nvSpPr>
        <p:spPr>
          <a:xfrm>
            <a:off x="557784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密集网格与多构型扫描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计算代价高</a:t>
            </a:r>
            <a:endParaRPr lang="en-US" sz="1650" dirty="0"/>
          </a:p>
        </p:txBody>
      </p:sp>
      <p:sp>
        <p:nvSpPr>
          <p:cNvPr id="302" name="Shape 300"/>
          <p:cNvSpPr/>
          <p:nvPr/>
        </p:nvSpPr>
        <p:spPr>
          <a:xfrm>
            <a:off x="4407408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3" name="优势：训练后推理快"/>
          <p:cNvSpPr/>
          <p:nvPr/>
        </p:nvSpPr>
        <p:spPr>
          <a:xfrm>
            <a:off x="4407408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优势：训练后推理快</a:t>
            </a:r>
            <a:endParaRPr lang="en-US" sz="1660" dirty="0"/>
          </a:p>
        </p:txBody>
      </p:sp>
      <p:sp>
        <p:nvSpPr>
          <p:cNvPr id="304" name="不直接刻画内部电磁场 分布外预测易退化"/>
          <p:cNvSpPr/>
          <p:nvPr/>
        </p:nvSpPr>
        <p:spPr>
          <a:xfrm>
            <a:off x="4416552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不直接刻画内部电磁场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分布外预测易退化</a:t>
            </a:r>
            <a:endParaRPr lang="en-US" sz="1650" dirty="0"/>
          </a:p>
        </p:txBody>
      </p:sp>
      <p:sp>
        <p:nvSpPr>
          <p:cNvPr id="305" name="Shape 303"/>
          <p:cNvSpPr/>
          <p:nvPr/>
        </p:nvSpPr>
        <p:spPr>
          <a:xfrm>
            <a:off x="8266176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6" name="优势：学习三维全场映射"/>
          <p:cNvSpPr/>
          <p:nvPr/>
        </p:nvSpPr>
        <p:spPr>
          <a:xfrm>
            <a:off x="8266176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优势：学习三维全场映射</a:t>
            </a:r>
            <a:endParaRPr lang="en-US" sz="1660" dirty="0"/>
          </a:p>
        </p:txBody>
      </p:sp>
      <p:sp>
        <p:nvSpPr>
          <p:cNvPr id="307" name="精细边界与物理一致性 跨任务复用仍受限"/>
          <p:cNvSpPr/>
          <p:nvPr/>
        </p:nvSpPr>
        <p:spPr>
          <a:xfrm>
            <a:off x="8275320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精细边界与物理一致性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跨任务复用仍受限</a:t>
            </a:r>
            <a:endParaRPr lang="en-US" sz="1650" dirty="0"/>
          </a:p>
        </p:txBody>
      </p:sp>
      <p:sp>
        <p:nvSpPr>
          <p:cNvPr id="308" name="Shape 306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09" name="高保真几何输入与物理一致性，是全场学习面向复杂器件的共同基础。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高保真几何输入与物理一致性，是全场学习面向复杂器件的共同基础。</a:t>
            </a:r>
            <a:endParaRPr lang="en-US" sz="1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3 现有研究面临的具体挑战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1.3 现有研究面临的具体挑战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2.3末段及2.4研究领域存在的挑战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资料依据：2.3末段及2.4研究领域存在的挑战</a:t>
            </a:r>
            <a:endParaRPr lang="en-US" sz="850" dirty="0"/>
          </a:p>
        </p:txBody>
      </p:sp>
      <p:sp>
        <p:nvSpPr>
          <p:cNvPr id="7" name="3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几何信息不足、复杂边界场难刻画、跨任务复用受限"/>
          <p:cNvSpPr/>
          <p:nvPr/>
        </p:nvSpPr>
        <p:spPr>
          <a:xfrm>
            <a:off x="502920" y="969264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几何信息不足、复杂边界场难刻画、跨任务复用受限</a:t>
            </a:r>
            <a:endParaRPr lang="en-US" sz="2200" dirty="0"/>
          </a:p>
        </p:txBody>
      </p:sp>
      <p:sp>
        <p:nvSpPr>
          <p:cNvPr id="9" name="问题对象"/>
          <p:cNvSpPr/>
          <p:nvPr/>
        </p:nvSpPr>
        <p:spPr>
          <a:xfrm>
            <a:off x="484632" y="15270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问题对象</a:t>
            </a:r>
            <a:endParaRPr lang="en-US" sz="1600" dirty="0"/>
          </a:p>
        </p:txBody>
      </p:sp>
      <p:sp>
        <p:nvSpPr>
          <p:cNvPr id="10" name="现有研究的局限"/>
          <p:cNvSpPr/>
          <p:nvPr/>
        </p:nvSpPr>
        <p:spPr>
          <a:xfrm>
            <a:off x="2816352" y="1527048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现有研究的局限</a:t>
            </a:r>
            <a:endParaRPr lang="en-US" sz="1600" dirty="0"/>
          </a:p>
        </p:txBody>
      </p:sp>
      <p:sp>
        <p:nvSpPr>
          <p:cNvPr id="11" name="亟待解决的科学问题"/>
          <p:cNvSpPr/>
          <p:nvPr/>
        </p:nvSpPr>
        <p:spPr>
          <a:xfrm>
            <a:off x="8348472" y="15270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亟待解决的科学问题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1402568" cy="122529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3" name="精细几何表征"/>
          <p:cNvSpPr/>
          <p:nvPr/>
        </p:nvSpPr>
        <p:spPr>
          <a:xfrm>
            <a:off x="484632" y="1993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精细几何表征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3758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03758" y="2398654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7875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03758" y="2481608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31992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03758" y="2564563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146109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03758" y="2647517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260226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03758" y="2730472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74343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03758" y="2813426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471" y="2554194"/>
            <a:ext cx="257159" cy="103693"/>
          </a:xfrm>
          <a:custGeom>
            <a:avLst/>
            <a:gdLst/>
            <a:ahLst/>
            <a:cxnLst/>
            <a:rect l="l" t="t" r="r" b="b"/>
            <a:pathLst>
              <a:path w="257159" h="103693">
                <a:moveTo>
                  <a:pt x="0" y="0"/>
                </a:moveTo>
                <a:lnTo>
                  <a:pt x="257159" y="0"/>
                </a:lnTo>
                <a:lnTo>
                  <a:pt x="257159" y="103693"/>
                </a:lnTo>
                <a:lnTo>
                  <a:pt x="0" y="103693"/>
                </a:lnTo>
                <a:close/>
              </a:path>
            </a:pathLst>
          </a:custGeom>
          <a:solidFill>
            <a:srgbClr val="C3E0EF"/>
          </a:solidFill>
          <a:ln w="20320">
            <a:solidFill>
              <a:srgbClr val="D79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8313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88313" y="2398654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702430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588313" y="2481608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816547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88313" y="2564563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930664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588313" y="2647517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044781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588313" y="2730472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158898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588313" y="2813426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746025" y="2478460"/>
            <a:ext cx="255161" cy="255161"/>
          </a:xfrm>
          <a:custGeom>
            <a:avLst/>
            <a:gdLst/>
            <a:ahLst/>
            <a:cxnLst/>
            <a:rect l="l" t="t" r="r" b="b"/>
            <a:pathLst>
              <a:path w="255161" h="255161">
                <a:moveTo>
                  <a:pt x="73322" y="0"/>
                </a:moveTo>
                <a:lnTo>
                  <a:pt x="255161" y="181839"/>
                </a:lnTo>
                <a:lnTo>
                  <a:pt x="181839" y="255161"/>
                </a:lnTo>
                <a:lnTo>
                  <a:pt x="0" y="73322"/>
                </a:lnTo>
                <a:close/>
              </a:path>
            </a:pathLst>
          </a:custGeom>
          <a:solidFill>
            <a:srgbClr val="C3E0EF"/>
          </a:solidFill>
          <a:ln w="20320">
            <a:solidFill>
              <a:srgbClr val="D79B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31402" y="2575316"/>
            <a:ext cx="99852" cy="914"/>
          </a:xfrm>
          <a:prstGeom prst="line">
            <a:avLst/>
          </a:prstGeom>
          <a:noFill/>
          <a:ln w="17780">
            <a:solidFill>
              <a:srgbClr val="143B63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431402" y="2636764"/>
            <a:ext cx="99852" cy="914"/>
          </a:xfrm>
          <a:prstGeom prst="line">
            <a:avLst/>
          </a:prstGeom>
          <a:noFill/>
          <a:ln w="17780">
            <a:solidFill>
              <a:srgbClr val="143B63"/>
            </a:solidFill>
            <a:prstDash val="solid"/>
            <a:headEnd type="none"/>
            <a:tailEnd type="none"/>
          </a:ln>
        </p:spPr>
      </p:sp>
      <p:sp>
        <p:nvSpPr>
          <p:cNvPr id="42" name="同面积 · 异朝向"/>
          <p:cNvSpPr/>
          <p:nvPr/>
        </p:nvSpPr>
        <p:spPr>
          <a:xfrm>
            <a:off x="484632" y="2907792"/>
            <a:ext cx="1993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同面积 · 异朝向</a:t>
            </a:r>
            <a:endParaRPr lang="en-US" sz="1340" dirty="0"/>
          </a:p>
        </p:txBody>
      </p:sp>
      <p:sp>
        <p:nvSpPr>
          <p:cNvPr id="43" name="覆盖率 / 距离场存在信息损失"/>
          <p:cNvSpPr/>
          <p:nvPr/>
        </p:nvSpPr>
        <p:spPr>
          <a:xfrm>
            <a:off x="2816352" y="2029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覆盖率 / 距离场存在信息损失</a:t>
            </a:r>
            <a:endParaRPr lang="en-US" sz="1850" dirty="0"/>
          </a:p>
        </p:txBody>
      </p:sp>
      <p:sp>
        <p:nvSpPr>
          <p:cNvPr id="44" name="零厚边界、朝向和亚网格位置难保留 棱边与角点的交汇关系难完整描述"/>
          <p:cNvSpPr/>
          <p:nvPr/>
        </p:nvSpPr>
        <p:spPr>
          <a:xfrm>
            <a:off x="2816352" y="24505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零厚边界、朝向和亚网格位置难保留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棱边与角点的交汇关系难完整描述</a:t>
            </a:r>
            <a:endParaRPr lang="en-US" sz="1750" dirty="0"/>
          </a:p>
        </p:txBody>
      </p:sp>
      <p:sp>
        <p:nvSpPr>
          <p:cNvPr id="45" name="Shape 43"/>
          <p:cNvSpPr/>
          <p:nvPr/>
        </p:nvSpPr>
        <p:spPr>
          <a:xfrm>
            <a:off x="8348472" y="20665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46" name="有限网格保留 尺度、方向与位置"/>
          <p:cNvSpPr/>
          <p:nvPr/>
        </p:nvSpPr>
        <p:spPr>
          <a:xfrm>
            <a:off x="8494776" y="21945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有限网格保留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尺度、方向与位置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393192" y="3291840"/>
            <a:ext cx="11402568" cy="1225296"/>
          </a:xfrm>
          <a:prstGeom prst="rect">
            <a:avLst/>
          </a:prstGeom>
          <a:solidFill>
            <a:srgbClr val="F7FAFD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48" name="复杂三维场"/>
          <p:cNvSpPr/>
          <p:nvPr/>
        </p:nvSpPr>
        <p:spPr>
          <a:xfrm>
            <a:off x="484632" y="33649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复杂三维场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056681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2891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101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65311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01522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37732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8603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04813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41024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77234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13444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49654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80526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16736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52946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89156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25367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1577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92448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28659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64869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01079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37289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73500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504371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40581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76791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3002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49212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85422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16293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52504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88714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24924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61134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97345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76174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6174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76174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76174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76174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76174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288097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88097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288097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88097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288097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288097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400020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400020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00020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00020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400020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0020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511942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11942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11942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11942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11942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11942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23865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23865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23865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23865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623865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623865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735787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35787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35787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735787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35787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735787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432740" y="424449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432740" y="417408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32740" y="410367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432740" y="403326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32740" y="396285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432740" y="389244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468951" y="4224223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468951" y="415381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468951" y="408340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468951" y="401299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468951" y="394258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68951" y="387217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505161" y="420395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05161" y="413354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505161" y="406313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05161" y="399272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505161" y="392231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505161" y="385191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41371" y="418368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41371" y="411327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541371" y="404286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41371" y="397245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41371" y="390205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541371" y="3831641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77581" y="416341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77581" y="409300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577581" y="402259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77581" y="395218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577581" y="388178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577581" y="381137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613792" y="414314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613792" y="407273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613792" y="400232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613792" y="393192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613792" y="3861511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613792" y="379110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56681" y="4335170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 flipV="1">
            <a:off x="1728216" y="4213555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1273942" y="4213555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0" name="Shape 158"/>
          <p:cNvSpPr/>
          <p:nvPr/>
        </p:nvSpPr>
        <p:spPr>
          <a:xfrm flipV="1">
            <a:off x="1056681" y="4213555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1056681" y="3912718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2" name="Shape 160"/>
          <p:cNvSpPr/>
          <p:nvPr/>
        </p:nvSpPr>
        <p:spPr>
          <a:xfrm flipV="1">
            <a:off x="1728216" y="3791102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1273942" y="3791102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4" name="Shape 162"/>
          <p:cNvSpPr/>
          <p:nvPr/>
        </p:nvSpPr>
        <p:spPr>
          <a:xfrm flipV="1">
            <a:off x="1056681" y="3791102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1056681" y="3912718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1728216" y="3912718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1945477" y="3791102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1273942" y="3791102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1247692" y="4155308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388715" y="4087715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529737" y="4032797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2" name="几何特征与算子表达匹配不足"/>
          <p:cNvSpPr/>
          <p:nvPr/>
        </p:nvSpPr>
        <p:spPr>
          <a:xfrm>
            <a:off x="2816352" y="34015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几何特征与算子表达匹配不足</a:t>
            </a:r>
            <a:endParaRPr lang="en-US" sz="1850" dirty="0"/>
          </a:p>
        </p:txBody>
      </p:sp>
      <p:sp>
        <p:nvSpPr>
          <p:cNvPr id="173" name="边界局部场变化剧烈，预测精度受限 数据拟合与物理一致性仍需协同"/>
          <p:cNvSpPr/>
          <p:nvPr/>
        </p:nvSpPr>
        <p:spPr>
          <a:xfrm>
            <a:off x="2816352" y="38221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边界局部场变化剧烈，预测精度受限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数据拟合与物理一致性仍需协同</a:t>
            </a:r>
            <a:endParaRPr lang="en-US" sz="1750" dirty="0"/>
          </a:p>
        </p:txBody>
      </p:sp>
      <p:sp>
        <p:nvSpPr>
          <p:cNvPr id="174" name="Shape 172"/>
          <p:cNvSpPr/>
          <p:nvPr/>
        </p:nvSpPr>
        <p:spPr>
          <a:xfrm>
            <a:off x="8348472" y="34381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175" name="兼顾场预测精度 效率与物理一致性"/>
          <p:cNvSpPr/>
          <p:nvPr/>
        </p:nvSpPr>
        <p:spPr>
          <a:xfrm>
            <a:off x="8494776" y="35661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兼顾场预测精度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效率与物理一致性</a:t>
            </a:r>
            <a:endParaRPr lang="en-US" sz="1900" dirty="0"/>
          </a:p>
        </p:txBody>
      </p:sp>
      <p:sp>
        <p:nvSpPr>
          <p:cNvPr id="176" name="Shape 174"/>
          <p:cNvSpPr/>
          <p:nvPr/>
        </p:nvSpPr>
        <p:spPr>
          <a:xfrm>
            <a:off x="393192" y="4663440"/>
            <a:ext cx="11402568" cy="122529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77" name="跨任务泛化"/>
          <p:cNvSpPr/>
          <p:nvPr/>
        </p:nvSpPr>
        <p:spPr>
          <a:xfrm>
            <a:off x="484632" y="47365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跨任务泛化</a:t>
            </a:r>
            <a:endParaRPr lang="en-US" sz="2000" dirty="0"/>
          </a:p>
        </p:txBody>
      </p:sp>
      <p:sp>
        <p:nvSpPr>
          <p:cNvPr id="178" name="Shape 176"/>
          <p:cNvSpPr/>
          <p:nvPr/>
        </p:nvSpPr>
        <p:spPr>
          <a:xfrm>
            <a:off x="837590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837590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837590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1" name="Shape 179"/>
          <p:cNvSpPr/>
          <p:nvPr/>
        </p:nvSpPr>
        <p:spPr>
          <a:xfrm flipV="1">
            <a:off x="837590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2" name="Shape 180"/>
          <p:cNvSpPr/>
          <p:nvPr/>
        </p:nvSpPr>
        <p:spPr>
          <a:xfrm flipV="1">
            <a:off x="837590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837590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1024128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5" name="Shape 183"/>
          <p:cNvSpPr/>
          <p:nvPr/>
        </p:nvSpPr>
        <p:spPr>
          <a:xfrm>
            <a:off x="102412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6" name="Shape 184"/>
          <p:cNvSpPr/>
          <p:nvPr/>
        </p:nvSpPr>
        <p:spPr>
          <a:xfrm flipV="1">
            <a:off x="1024128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7" name="Shape 185"/>
          <p:cNvSpPr/>
          <p:nvPr/>
        </p:nvSpPr>
        <p:spPr>
          <a:xfrm>
            <a:off x="1024128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8" name="Shape 186"/>
          <p:cNvSpPr/>
          <p:nvPr/>
        </p:nvSpPr>
        <p:spPr>
          <a:xfrm flipV="1">
            <a:off x="102412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9" name="Shape 187"/>
          <p:cNvSpPr/>
          <p:nvPr/>
        </p:nvSpPr>
        <p:spPr>
          <a:xfrm>
            <a:off x="1024128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810670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10670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7208" y="5363651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7208" y="5466064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97208" y="5568477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83746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83746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770278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1770278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177027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0" name="Shape 198"/>
          <p:cNvSpPr/>
          <p:nvPr/>
        </p:nvSpPr>
        <p:spPr>
          <a:xfrm flipV="1">
            <a:off x="177027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1" name="Shape 199"/>
          <p:cNvSpPr/>
          <p:nvPr/>
        </p:nvSpPr>
        <p:spPr>
          <a:xfrm flipV="1">
            <a:off x="1770278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1770278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3" name="Shape 201"/>
          <p:cNvSpPr/>
          <p:nvPr/>
        </p:nvSpPr>
        <p:spPr>
          <a:xfrm>
            <a:off x="1956816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4" name="Shape 202"/>
          <p:cNvSpPr/>
          <p:nvPr/>
        </p:nvSpPr>
        <p:spPr>
          <a:xfrm>
            <a:off x="1956816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5" name="Shape 203"/>
          <p:cNvSpPr/>
          <p:nvPr/>
        </p:nvSpPr>
        <p:spPr>
          <a:xfrm flipV="1">
            <a:off x="1956816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1956816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7" name="Shape 205"/>
          <p:cNvSpPr/>
          <p:nvPr/>
        </p:nvSpPr>
        <p:spPr>
          <a:xfrm flipV="1">
            <a:off x="1956816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1956816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1743358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743358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929896" y="5363651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929896" y="5466064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929896" y="5568477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116434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116434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350569" y="5434462"/>
            <a:ext cx="279806" cy="99487"/>
          </a:xfrm>
          <a:custGeom>
            <a:avLst/>
            <a:gdLst/>
            <a:ahLst/>
            <a:cxnLst/>
            <a:rect l="l" t="t" r="r" b="b"/>
            <a:pathLst>
              <a:path w="279806" h="99487">
                <a:moveTo>
                  <a:pt x="0" y="65837"/>
                </a:moveTo>
                <a:lnTo>
                  <a:pt x="124358" y="65837"/>
                </a:lnTo>
                <a:lnTo>
                  <a:pt x="124358" y="99487"/>
                </a:lnTo>
                <a:lnTo>
                  <a:pt x="279806" y="49743"/>
                </a:lnTo>
                <a:lnTo>
                  <a:pt x="124358" y="0"/>
                </a:lnTo>
                <a:lnTo>
                  <a:pt x="124358" y="33650"/>
                </a:lnTo>
                <a:lnTo>
                  <a:pt x="0" y="33650"/>
                </a:lnTo>
                <a:close/>
              </a:path>
            </a:pathLst>
          </a:custGeom>
          <a:solidFill>
            <a:srgbClr val="2296BC"/>
          </a:solidFill>
          <a:ln w="12700">
            <a:solidFill>
              <a:srgbClr val="2296B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798728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 flipV="1">
            <a:off x="813755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 flipV="1">
            <a:off x="828782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 flipV="1">
            <a:off x="843808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1" name="Shape 219"/>
          <p:cNvSpPr/>
          <p:nvPr/>
        </p:nvSpPr>
        <p:spPr>
          <a:xfrm flipV="1">
            <a:off x="858835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873862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888888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03915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18942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933968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48995" y="5267676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964021" y="5280334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979048" y="529175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994075" y="5300817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1009101" y="5306636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 flipV="1">
            <a:off x="1024128" y="5306636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 flipV="1">
            <a:off x="1039155" y="5300817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 flipV="1">
            <a:off x="1054181" y="529175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 flipV="1">
            <a:off x="1069208" y="5280334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 flipV="1">
            <a:off x="1084235" y="5267676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 flipV="1">
            <a:off x="1099261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 flipV="1">
            <a:off x="1114288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 flipV="1">
            <a:off x="1129314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0" name="Shape 238"/>
          <p:cNvSpPr/>
          <p:nvPr/>
        </p:nvSpPr>
        <p:spPr>
          <a:xfrm flipV="1">
            <a:off x="1144341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1" name="Shape 239"/>
          <p:cNvSpPr/>
          <p:nvPr/>
        </p:nvSpPr>
        <p:spPr>
          <a:xfrm flipV="1">
            <a:off x="1159368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1174394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1189421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1204448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1219474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1234501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7" name="Shape 245"/>
          <p:cNvSpPr/>
          <p:nvPr/>
        </p:nvSpPr>
        <p:spPr>
          <a:xfrm flipV="1">
            <a:off x="173141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 flipV="1">
            <a:off x="174644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 flipV="1">
            <a:off x="1761470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177649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179152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1806550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1821576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183660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1851630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 flipV="1">
            <a:off x="1866656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 flipV="1">
            <a:off x="188168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 flipV="1">
            <a:off x="1896709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 flipV="1">
            <a:off x="191173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0" name="Shape 258"/>
          <p:cNvSpPr/>
          <p:nvPr/>
        </p:nvSpPr>
        <p:spPr>
          <a:xfrm flipV="1">
            <a:off x="192676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 flipV="1">
            <a:off x="1941789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2" name="Shape 260"/>
          <p:cNvSpPr/>
          <p:nvPr/>
        </p:nvSpPr>
        <p:spPr>
          <a:xfrm>
            <a:off x="195681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3" name="Shape 261"/>
          <p:cNvSpPr/>
          <p:nvPr/>
        </p:nvSpPr>
        <p:spPr>
          <a:xfrm>
            <a:off x="197184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4" name="Shape 262"/>
          <p:cNvSpPr/>
          <p:nvPr/>
        </p:nvSpPr>
        <p:spPr>
          <a:xfrm>
            <a:off x="1986869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5" name="Shape 263"/>
          <p:cNvSpPr/>
          <p:nvPr/>
        </p:nvSpPr>
        <p:spPr>
          <a:xfrm>
            <a:off x="2001896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6" name="Shape 264"/>
          <p:cNvSpPr/>
          <p:nvPr/>
        </p:nvSpPr>
        <p:spPr>
          <a:xfrm>
            <a:off x="201692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7" name="Shape 265"/>
          <p:cNvSpPr/>
          <p:nvPr/>
        </p:nvSpPr>
        <p:spPr>
          <a:xfrm>
            <a:off x="2031949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8" name="Shape 266"/>
          <p:cNvSpPr/>
          <p:nvPr/>
        </p:nvSpPr>
        <p:spPr>
          <a:xfrm flipV="1">
            <a:off x="2046976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9" name="Shape 267"/>
          <p:cNvSpPr/>
          <p:nvPr/>
        </p:nvSpPr>
        <p:spPr>
          <a:xfrm flipV="1">
            <a:off x="2062002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0" name="Shape 268"/>
          <p:cNvSpPr/>
          <p:nvPr/>
        </p:nvSpPr>
        <p:spPr>
          <a:xfrm flipV="1">
            <a:off x="2077029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 flipV="1">
            <a:off x="209205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 flipV="1">
            <a:off x="2107082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 flipV="1">
            <a:off x="2122109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213713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2152162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2167189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7" name="单器件 / 单频段训练难以复用"/>
          <p:cNvSpPr/>
          <p:nvPr/>
        </p:nvSpPr>
        <p:spPr>
          <a:xfrm>
            <a:off x="2816352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单器件 / 单频段训练难以复用</a:t>
            </a:r>
            <a:endParaRPr lang="en-US" sz="1850" dirty="0"/>
          </a:p>
        </p:txBody>
      </p:sp>
      <p:sp>
        <p:nvSpPr>
          <p:cNvPr id="278" name="新频率和新拓扑常需大量仿真与重训 根本拓扑变化下的迁移尚未系统解决"/>
          <p:cNvSpPr/>
          <p:nvPr/>
        </p:nvSpPr>
        <p:spPr>
          <a:xfrm>
            <a:off x="2816352" y="51937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新频率和新拓扑常需大量仿真与重训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根本拓扑变化下的迁移尚未系统解决</a:t>
            </a:r>
            <a:endParaRPr lang="en-US" sz="1750" dirty="0"/>
          </a:p>
        </p:txBody>
      </p:sp>
      <p:sp>
        <p:nvSpPr>
          <p:cNvPr id="279" name="Shape 277"/>
          <p:cNvSpPr/>
          <p:nvPr/>
        </p:nvSpPr>
        <p:spPr>
          <a:xfrm>
            <a:off x="8348472" y="48097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280" name="少量目标样本实现 跨频率、跨构型适配"/>
          <p:cNvSpPr/>
          <p:nvPr/>
        </p:nvSpPr>
        <p:spPr>
          <a:xfrm>
            <a:off x="8494776" y="49377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少量目标样本实现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跨频率、跨构型适配</a:t>
            </a:r>
            <a:endParaRPr lang="en-US" sz="1900" dirty="0"/>
          </a:p>
        </p:txBody>
      </p:sp>
      <p:sp>
        <p:nvSpPr>
          <p:cNvPr id="281" name="Shape 279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82" name="核心：精细边界信息如何有效传递，并支撑复杂三维场预测与新任务泛化？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核心：精细边界信息如何有效传递，并支撑复杂三维场预测与新任务泛化？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1 研究目标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 研究目标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二、研究目标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资料依据：二、研究目标</a:t>
            </a:r>
            <a:endParaRPr lang="en-US" sz="850" dirty="0"/>
          </a:p>
        </p:txBody>
      </p:sp>
      <p:sp>
        <p:nvSpPr>
          <p:cNvPr id="7" name="4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115568"/>
            <a:ext cx="11301984" cy="621792"/>
          </a:xfrm>
          <a:prstGeom prst="rect">
            <a:avLst/>
          </a:prstGeom>
          <a:solidFill>
            <a:srgbClr val="FAFCFE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32688"/>
            <a:ext cx="1527048" cy="365760"/>
          </a:xfrm>
          <a:custGeom>
            <a:avLst/>
            <a:gdLst/>
            <a:ahLst/>
            <a:cxnLst/>
            <a:rect l="l" t="t" r="r" b="b"/>
            <a:pathLst>
              <a:path w="1527048" h="365760">
                <a:moveTo>
                  <a:pt x="0" y="0"/>
                </a:moveTo>
                <a:lnTo>
                  <a:pt x="1527048" y="0"/>
                </a:lnTo>
                <a:lnTo>
                  <a:pt x="141732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11" name="总体目标"/>
          <p:cNvSpPr/>
          <p:nvPr/>
        </p:nvSpPr>
        <p:spPr>
          <a:xfrm>
            <a:off x="475488" y="94640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总体目标</a:t>
            </a:r>
            <a:endParaRPr lang="en-US" sz="2000" dirty="0"/>
          </a:p>
        </p:txBody>
      </p:sp>
      <p:sp>
        <p:nvSpPr>
          <p:cNvPr id="12" name="高保真几何输入 → 三维复电磁场预测 → 新频段 / 新构型适配"/>
          <p:cNvSpPr/>
          <p:nvPr/>
        </p:nvSpPr>
        <p:spPr>
          <a:xfrm>
            <a:off x="694944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高保真几何输入 → 三维复电磁场预测 → 新频段 / 新构型适配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5" name="目标一"/>
          <p:cNvSpPr/>
          <p:nvPr/>
        </p:nvSpPr>
        <p:spPr>
          <a:xfrm>
            <a:off x="548640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目标一</a:t>
            </a:r>
            <a:endParaRPr lang="en-US" sz="2100" dirty="0"/>
          </a:p>
        </p:txBody>
      </p:sp>
      <p:sp>
        <p:nvSpPr>
          <p:cNvPr id="16" name="精细边界高保真表征"/>
          <p:cNvSpPr/>
          <p:nvPr/>
        </p:nvSpPr>
        <p:spPr>
          <a:xfrm>
            <a:off x="566928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精细边界高保真表征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15395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1376241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146612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1015395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15395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1376241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46612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1015395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15395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376241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507457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94125" y="3279075"/>
            <a:ext cx="234549" cy="235367"/>
          </a:xfrm>
          <a:custGeom>
            <a:avLst/>
            <a:gdLst/>
            <a:ahLst/>
            <a:cxnLst/>
            <a:rect l="l" t="t" r="r" b="b"/>
            <a:pathLst>
              <a:path w="234549" h="235367">
                <a:moveTo>
                  <a:pt x="0" y="235367"/>
                </a:moveTo>
                <a:lnTo>
                  <a:pt x="234549" y="235367"/>
                </a:lnTo>
                <a:lnTo>
                  <a:pt x="234549" y="0"/>
                </a:lnTo>
                <a:lnTo>
                  <a:pt x="0" y="0"/>
                </a:lnTo>
                <a:close/>
              </a:path>
            </a:pathLst>
          </a:custGeom>
          <a:solidFill>
            <a:srgbClr val="C4DFF0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4125" y="3214884"/>
            <a:ext cx="319840" cy="64191"/>
          </a:xfrm>
          <a:custGeom>
            <a:avLst/>
            <a:gdLst/>
            <a:ahLst/>
            <a:cxnLst/>
            <a:rect l="l" t="t" r="r" b="b"/>
            <a:pathLst>
              <a:path w="319840" h="64191">
                <a:moveTo>
                  <a:pt x="0" y="64191"/>
                </a:moveTo>
                <a:lnTo>
                  <a:pt x="85291" y="0"/>
                </a:lnTo>
                <a:lnTo>
                  <a:pt x="319840" y="0"/>
                </a:lnTo>
                <a:lnTo>
                  <a:pt x="234549" y="64191"/>
                </a:lnTo>
                <a:close/>
              </a:path>
            </a:pathLst>
          </a:custGeom>
          <a:solidFill>
            <a:srgbClr val="E5F0F7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8675" y="3214884"/>
            <a:ext cx="85291" cy="299557"/>
          </a:xfrm>
          <a:custGeom>
            <a:avLst/>
            <a:gdLst/>
            <a:ahLst/>
            <a:cxnLst/>
            <a:rect l="l" t="t" r="r" b="b"/>
            <a:pathLst>
              <a:path w="85291" h="299557">
                <a:moveTo>
                  <a:pt x="0" y="299557"/>
                </a:moveTo>
                <a:lnTo>
                  <a:pt x="85291" y="235367"/>
                </a:lnTo>
                <a:lnTo>
                  <a:pt x="85291" y="0"/>
                </a:lnTo>
                <a:lnTo>
                  <a:pt x="0" y="64191"/>
                </a:lnTo>
                <a:close/>
              </a:path>
            </a:pathLst>
          </a:custGeom>
          <a:solidFill>
            <a:srgbClr val="9FCBE3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671477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2032323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802694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1671477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671477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2032323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802694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1671477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671477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032323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163539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737742" y="3238915"/>
            <a:ext cx="356909" cy="264993"/>
          </a:xfrm>
          <a:custGeom>
            <a:avLst/>
            <a:gdLst/>
            <a:ahLst/>
            <a:cxnLst/>
            <a:rect l="l" t="t" r="r" b="b"/>
            <a:pathLst>
              <a:path w="356909" h="264993">
                <a:moveTo>
                  <a:pt x="0" y="264993"/>
                </a:moveTo>
                <a:lnTo>
                  <a:pt x="259808" y="141878"/>
                </a:lnTo>
                <a:lnTo>
                  <a:pt x="356909" y="0"/>
                </a:lnTo>
                <a:lnTo>
                  <a:pt x="97100" y="119494"/>
                </a:lnTo>
                <a:close/>
              </a:path>
            </a:pathLst>
          </a:custGeom>
          <a:solidFill>
            <a:srgbClr val="BFDFEF"/>
          </a:solidFill>
          <a:ln w="13970">
            <a:solidFill>
              <a:srgbClr val="2296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9626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327559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flipV="1">
            <a:off x="2688405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2458776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2327559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327559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 flipV="1">
            <a:off x="2688405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458776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2327559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327559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88405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19621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 flipV="1">
            <a:off x="2409898" y="3210276"/>
            <a:ext cx="324761" cy="304166"/>
          </a:xfrm>
          <a:prstGeom prst="line">
            <a:avLst/>
          </a:prstGeom>
          <a:noFill/>
          <a:ln w="38100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2235708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2983641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 flipV="1">
            <a:off x="3344487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3114858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 flipV="1">
            <a:off x="2983641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983641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flipV="1">
            <a:off x="3344487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3114858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flipV="1">
            <a:off x="2983641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983641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344487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475703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193117" y="3318577"/>
            <a:ext cx="82296" cy="82296"/>
          </a:xfrm>
          <a:prstGeom prst="ellipse">
            <a:avLst/>
          </a:prstGeom>
          <a:solidFill>
            <a:srgbClr val="D79B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91790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</a:t>
            </a:r>
            <a:endParaRPr lang="en-US" sz="1400" dirty="0"/>
          </a:p>
        </p:txBody>
      </p:sp>
      <p:sp>
        <p:nvSpPr>
          <p:cNvPr id="71" name="提出分维几何测度表征方法 同时编码尺度、方向与位置"/>
          <p:cNvSpPr/>
          <p:nvPr/>
        </p:nvSpPr>
        <p:spPr>
          <a:xfrm>
            <a:off x="594360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提出分维几何测度表征方法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同时编码尺度、方向与位置</a:t>
            </a:r>
            <a:endParaRPr lang="en-US" sz="1750" dirty="0"/>
          </a:p>
        </p:txBody>
      </p:sp>
      <p:sp>
        <p:nvSpPr>
          <p:cNvPr id="72" name="Shape 70"/>
          <p:cNvSpPr/>
          <p:nvPr/>
        </p:nvSpPr>
        <p:spPr>
          <a:xfrm>
            <a:off x="612648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73" name="形成高保真几何输入"/>
          <p:cNvSpPr/>
          <p:nvPr/>
        </p:nvSpPr>
        <p:spPr>
          <a:xfrm>
            <a:off x="676656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形成高保真几何输入</a:t>
            </a:r>
            <a:endParaRPr lang="en-US" sz="1680" dirty="0"/>
          </a:p>
        </p:txBody>
      </p:sp>
      <p:sp>
        <p:nvSpPr>
          <p:cNvPr id="74" name="Shape 72"/>
          <p:cNvSpPr/>
          <p:nvPr/>
        </p:nvSpPr>
        <p:spPr>
          <a:xfrm>
            <a:off x="4315968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15968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76" name="目标二"/>
          <p:cNvSpPr/>
          <p:nvPr/>
        </p:nvSpPr>
        <p:spPr>
          <a:xfrm>
            <a:off x="4407408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目标二</a:t>
            </a:r>
            <a:endParaRPr lang="en-US" sz="2100" dirty="0"/>
          </a:p>
        </p:txBody>
      </p:sp>
      <p:sp>
        <p:nvSpPr>
          <p:cNvPr id="77" name="三维复电磁场快速预测"/>
          <p:cNvSpPr/>
          <p:nvPr/>
        </p:nvSpPr>
        <p:spPr>
          <a:xfrm>
            <a:off x="4425696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三维复电磁场快速预测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5547299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93568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39836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86105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32374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78642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90311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36580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82848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29117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75386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21654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33323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79592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25861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72129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18398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64667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76336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22604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68873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15141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61410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07679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19348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65616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11885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58154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04422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50691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62360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08628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54897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1166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47434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93703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699986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99986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99986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99986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99986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699986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842998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842998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42998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42998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42998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42998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86010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86010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86010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86010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86010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86010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29022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29022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29022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29022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129022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29022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72034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272034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272034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272034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72034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272034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415046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15046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415046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15046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15046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15046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27820" y="373450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27820" y="363190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27820" y="352931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27820" y="342671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27820" y="332411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27820" y="322152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74089" y="3704966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74089" y="360237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74089" y="349977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74089" y="339717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74089" y="329458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74089" y="319198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20357" y="367543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20357" y="357283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20357" y="347023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20357" y="336764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20357" y="326504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20357" y="3162452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66626" y="3645896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66626" y="354330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66626" y="344070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66626" y="333810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66626" y="323551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66626" y="3132917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212894" y="361636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212894" y="351376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12894" y="341116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12894" y="330857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212894" y="320597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12894" y="3103382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59163" y="358682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259163" y="348423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259163" y="338163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259163" y="327903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259163" y="317644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259163" y="3073847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547299" y="3866632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7" name="Shape 185"/>
          <p:cNvSpPr/>
          <p:nvPr/>
        </p:nvSpPr>
        <p:spPr>
          <a:xfrm flipV="1">
            <a:off x="6405372" y="3689421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8" name="Shape 186"/>
          <p:cNvSpPr/>
          <p:nvPr/>
        </p:nvSpPr>
        <p:spPr>
          <a:xfrm>
            <a:off x="5824911" y="3689421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9" name="Shape 187"/>
          <p:cNvSpPr/>
          <p:nvPr/>
        </p:nvSpPr>
        <p:spPr>
          <a:xfrm flipV="1">
            <a:off x="5547299" y="3689421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5547299" y="3251058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1" name="Shape 189"/>
          <p:cNvSpPr/>
          <p:nvPr/>
        </p:nvSpPr>
        <p:spPr>
          <a:xfrm flipV="1">
            <a:off x="6405372" y="3073847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2" name="Shape 190"/>
          <p:cNvSpPr/>
          <p:nvPr/>
        </p:nvSpPr>
        <p:spPr>
          <a:xfrm>
            <a:off x="5824911" y="3073847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3" name="Shape 191"/>
          <p:cNvSpPr/>
          <p:nvPr/>
        </p:nvSpPr>
        <p:spPr>
          <a:xfrm flipV="1">
            <a:off x="5547299" y="3073847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4" name="Shape 192"/>
          <p:cNvSpPr/>
          <p:nvPr/>
        </p:nvSpPr>
        <p:spPr>
          <a:xfrm>
            <a:off x="5547299" y="3251058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5" name="Shape 193"/>
          <p:cNvSpPr/>
          <p:nvPr/>
        </p:nvSpPr>
        <p:spPr>
          <a:xfrm>
            <a:off x="6405372" y="3251058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6" name="Shape 194"/>
          <p:cNvSpPr/>
          <p:nvPr/>
        </p:nvSpPr>
        <p:spPr>
          <a:xfrm>
            <a:off x="6682984" y="3073847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7" name="Shape 195"/>
          <p:cNvSpPr/>
          <p:nvPr/>
        </p:nvSpPr>
        <p:spPr>
          <a:xfrm>
            <a:off x="5824911" y="3073847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5790937" y="3604547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971132" y="3506055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151328" y="3426030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1" name="构建空间变系数傅里叶神经算子 融合麦克斯韦方程物理约束"/>
          <p:cNvSpPr/>
          <p:nvPr/>
        </p:nvSpPr>
        <p:spPr>
          <a:xfrm>
            <a:off x="4453128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构建空间变系数傅里叶神经算子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融合麦克斯韦方程物理约束</a:t>
            </a:r>
            <a:endParaRPr lang="en-US" sz="1750" dirty="0"/>
          </a:p>
        </p:txBody>
      </p:sp>
      <p:sp>
        <p:nvSpPr>
          <p:cNvPr id="202" name="Shape 200"/>
          <p:cNvSpPr/>
          <p:nvPr/>
        </p:nvSpPr>
        <p:spPr>
          <a:xfrm>
            <a:off x="4471416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203" name="建立几何 / 激励到 E/H 的映射"/>
          <p:cNvSpPr/>
          <p:nvPr/>
        </p:nvSpPr>
        <p:spPr>
          <a:xfrm>
            <a:off x="4535424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建立几何 / 激励到 E/H 的映射</a:t>
            </a:r>
            <a:endParaRPr lang="en-US" sz="1620" dirty="0"/>
          </a:p>
        </p:txBody>
      </p:sp>
      <p:sp>
        <p:nvSpPr>
          <p:cNvPr id="204" name="Shape 202"/>
          <p:cNvSpPr/>
          <p:nvPr/>
        </p:nvSpPr>
        <p:spPr>
          <a:xfrm>
            <a:off x="8174736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74736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06" name="目标三"/>
          <p:cNvSpPr/>
          <p:nvPr/>
        </p:nvSpPr>
        <p:spPr>
          <a:xfrm>
            <a:off x="8266176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目标三</a:t>
            </a:r>
            <a:endParaRPr lang="en-US" sz="2100" dirty="0"/>
          </a:p>
        </p:txBody>
      </p:sp>
      <p:sp>
        <p:nvSpPr>
          <p:cNvPr id="207" name="跨频率与跨构型适配"/>
          <p:cNvSpPr/>
          <p:nvPr/>
        </p:nvSpPr>
        <p:spPr>
          <a:xfrm>
            <a:off x="8284464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跨频率与跨构型适配</a:t>
            </a:r>
            <a:endParaRPr lang="en-US" sz="2000" dirty="0"/>
          </a:p>
        </p:txBody>
      </p:sp>
      <p:sp>
        <p:nvSpPr>
          <p:cNvPr id="208" name="Shape 206"/>
          <p:cNvSpPr/>
          <p:nvPr/>
        </p:nvSpPr>
        <p:spPr>
          <a:xfrm>
            <a:off x="8897112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8897112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889711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1" name="Shape 209"/>
          <p:cNvSpPr/>
          <p:nvPr/>
        </p:nvSpPr>
        <p:spPr>
          <a:xfrm flipV="1">
            <a:off x="889711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2" name="Shape 210"/>
          <p:cNvSpPr/>
          <p:nvPr/>
        </p:nvSpPr>
        <p:spPr>
          <a:xfrm flipV="1">
            <a:off x="8897112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8897112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9198864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919886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6" name="Shape 214"/>
          <p:cNvSpPr/>
          <p:nvPr/>
        </p:nvSpPr>
        <p:spPr>
          <a:xfrm flipV="1">
            <a:off x="9198864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9198864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 flipV="1">
            <a:off x="919886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198864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8863883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863883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165635" y="3386352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165635" y="3512768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165635" y="3639184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467387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467387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405872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10405872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1040587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 flipV="1">
            <a:off x="1040587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 flipV="1">
            <a:off x="10405872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10405872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10707624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1070762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 flipV="1">
            <a:off x="10707624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10707624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 flipV="1">
            <a:off x="1070762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10707624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10372643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372643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674395" y="3386352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674395" y="3512768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674395" y="3639184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976147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976147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726930" y="3473760"/>
            <a:ext cx="452628" cy="122804"/>
          </a:xfrm>
          <a:custGeom>
            <a:avLst/>
            <a:gdLst/>
            <a:ahLst/>
            <a:cxnLst/>
            <a:rect l="l" t="t" r="r" b="b"/>
            <a:pathLst>
              <a:path w="452628" h="122804">
                <a:moveTo>
                  <a:pt x="0" y="81267"/>
                </a:moveTo>
                <a:lnTo>
                  <a:pt x="201168" y="81267"/>
                </a:lnTo>
                <a:lnTo>
                  <a:pt x="201168" y="122804"/>
                </a:lnTo>
                <a:lnTo>
                  <a:pt x="452628" y="61402"/>
                </a:lnTo>
                <a:lnTo>
                  <a:pt x="201168" y="0"/>
                </a:lnTo>
                <a:lnTo>
                  <a:pt x="201168" y="41537"/>
                </a:lnTo>
                <a:lnTo>
                  <a:pt x="0" y="41537"/>
                </a:lnTo>
                <a:close/>
              </a:path>
            </a:pathLst>
          </a:custGeom>
          <a:solidFill>
            <a:srgbClr val="2296BC"/>
          </a:solidFill>
          <a:ln w="12700">
            <a:solidFill>
              <a:srgbClr val="2296BC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8834247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 flipV="1">
            <a:off x="8858555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 flipV="1">
            <a:off x="8882863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 flipV="1">
            <a:off x="8907170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 flipV="1">
            <a:off x="8931478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8955786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8980094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9004402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9028709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9053017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9077325" y="3267883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9101633" y="3283509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9125941" y="3297605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0" name="Shape 258"/>
          <p:cNvSpPr/>
          <p:nvPr/>
        </p:nvSpPr>
        <p:spPr>
          <a:xfrm>
            <a:off x="9150248" y="3308792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9174556" y="3315974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2" name="Shape 260"/>
          <p:cNvSpPr/>
          <p:nvPr/>
        </p:nvSpPr>
        <p:spPr>
          <a:xfrm flipV="1">
            <a:off x="9198864" y="3315974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3" name="Shape 261"/>
          <p:cNvSpPr/>
          <p:nvPr/>
        </p:nvSpPr>
        <p:spPr>
          <a:xfrm flipV="1">
            <a:off x="9223172" y="3308792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4" name="Shape 262"/>
          <p:cNvSpPr/>
          <p:nvPr/>
        </p:nvSpPr>
        <p:spPr>
          <a:xfrm flipV="1">
            <a:off x="9247480" y="3297605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5" name="Shape 263"/>
          <p:cNvSpPr/>
          <p:nvPr/>
        </p:nvSpPr>
        <p:spPr>
          <a:xfrm flipV="1">
            <a:off x="9271787" y="3283509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6" name="Shape 264"/>
          <p:cNvSpPr/>
          <p:nvPr/>
        </p:nvSpPr>
        <p:spPr>
          <a:xfrm flipV="1">
            <a:off x="9296095" y="3267883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7" name="Shape 265"/>
          <p:cNvSpPr/>
          <p:nvPr/>
        </p:nvSpPr>
        <p:spPr>
          <a:xfrm flipV="1">
            <a:off x="9320403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8" name="Shape 266"/>
          <p:cNvSpPr/>
          <p:nvPr/>
        </p:nvSpPr>
        <p:spPr>
          <a:xfrm flipV="1">
            <a:off x="9344711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9" name="Shape 267"/>
          <p:cNvSpPr/>
          <p:nvPr/>
        </p:nvSpPr>
        <p:spPr>
          <a:xfrm flipV="1">
            <a:off x="9369019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0" name="Shape 268"/>
          <p:cNvSpPr/>
          <p:nvPr/>
        </p:nvSpPr>
        <p:spPr>
          <a:xfrm flipV="1">
            <a:off x="9393326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 flipV="1">
            <a:off x="9417634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9441942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9466250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9490558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9514865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9539173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7" name="Shape 275"/>
          <p:cNvSpPr/>
          <p:nvPr/>
        </p:nvSpPr>
        <p:spPr>
          <a:xfrm flipV="1">
            <a:off x="10343007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8" name="Shape 276"/>
          <p:cNvSpPr/>
          <p:nvPr/>
        </p:nvSpPr>
        <p:spPr>
          <a:xfrm flipV="1">
            <a:off x="10367315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9" name="Shape 277"/>
          <p:cNvSpPr/>
          <p:nvPr/>
        </p:nvSpPr>
        <p:spPr>
          <a:xfrm flipV="1">
            <a:off x="10391623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0" name="Shape 278"/>
          <p:cNvSpPr/>
          <p:nvPr/>
        </p:nvSpPr>
        <p:spPr>
          <a:xfrm>
            <a:off x="10415930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1" name="Shape 279"/>
          <p:cNvSpPr/>
          <p:nvPr/>
        </p:nvSpPr>
        <p:spPr>
          <a:xfrm>
            <a:off x="10440238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2" name="Shape 280"/>
          <p:cNvSpPr/>
          <p:nvPr/>
        </p:nvSpPr>
        <p:spPr>
          <a:xfrm>
            <a:off x="10464546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>
            <a:off x="10488854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10513162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>
            <a:off x="10537469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 flipV="1">
            <a:off x="10561777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 flipV="1">
            <a:off x="10586085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 flipV="1">
            <a:off x="10610393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 flipV="1">
            <a:off x="10634701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 flipV="1">
            <a:off x="10659008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 flipV="1">
            <a:off x="10683316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10707624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10731932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10756240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5" name="Shape 293"/>
          <p:cNvSpPr/>
          <p:nvPr/>
        </p:nvSpPr>
        <p:spPr>
          <a:xfrm>
            <a:off x="10780547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6" name="Shape 294"/>
          <p:cNvSpPr/>
          <p:nvPr/>
        </p:nvSpPr>
        <p:spPr>
          <a:xfrm>
            <a:off x="10804855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7" name="Shape 295"/>
          <p:cNvSpPr/>
          <p:nvPr/>
        </p:nvSpPr>
        <p:spPr>
          <a:xfrm>
            <a:off x="10829163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8" name="Shape 296"/>
          <p:cNvSpPr/>
          <p:nvPr/>
        </p:nvSpPr>
        <p:spPr>
          <a:xfrm flipV="1">
            <a:off x="10853471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9" name="Shape 297"/>
          <p:cNvSpPr/>
          <p:nvPr/>
        </p:nvSpPr>
        <p:spPr>
          <a:xfrm flipV="1">
            <a:off x="10877779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0" name="Shape 298"/>
          <p:cNvSpPr/>
          <p:nvPr/>
        </p:nvSpPr>
        <p:spPr>
          <a:xfrm flipV="1">
            <a:off x="10902086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1" name="Shape 299"/>
          <p:cNvSpPr/>
          <p:nvPr/>
        </p:nvSpPr>
        <p:spPr>
          <a:xfrm flipV="1">
            <a:off x="10926394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2" name="Shape 300"/>
          <p:cNvSpPr/>
          <p:nvPr/>
        </p:nvSpPr>
        <p:spPr>
          <a:xfrm flipV="1">
            <a:off x="10950702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3" name="Shape 301"/>
          <p:cNvSpPr/>
          <p:nvPr/>
        </p:nvSpPr>
        <p:spPr>
          <a:xfrm flipV="1">
            <a:off x="10975010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4" name="Shape 302"/>
          <p:cNvSpPr/>
          <p:nvPr/>
        </p:nvSpPr>
        <p:spPr>
          <a:xfrm>
            <a:off x="10999318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5" name="Shape 303"/>
          <p:cNvSpPr/>
          <p:nvPr/>
        </p:nvSpPr>
        <p:spPr>
          <a:xfrm>
            <a:off x="11023625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6" name="Shape 304"/>
          <p:cNvSpPr/>
          <p:nvPr/>
        </p:nvSpPr>
        <p:spPr>
          <a:xfrm>
            <a:off x="11047933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7" name="提出迁移学习与数据增强方法 建立跨任务知识迁移机制"/>
          <p:cNvSpPr/>
          <p:nvPr/>
        </p:nvSpPr>
        <p:spPr>
          <a:xfrm>
            <a:off x="8311896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提出迁移学习与数据增强方法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建立跨任务知识迁移机制</a:t>
            </a:r>
            <a:endParaRPr lang="en-US" sz="1750" dirty="0"/>
          </a:p>
        </p:txBody>
      </p:sp>
      <p:sp>
        <p:nvSpPr>
          <p:cNvPr id="308" name="Shape 306"/>
          <p:cNvSpPr/>
          <p:nvPr/>
        </p:nvSpPr>
        <p:spPr>
          <a:xfrm>
            <a:off x="8330184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309" name="提升新器件、新频段复用能力"/>
          <p:cNvSpPr/>
          <p:nvPr/>
        </p:nvSpPr>
        <p:spPr>
          <a:xfrm>
            <a:off x="8394192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提升新器件、新频段复用能力</a:t>
            </a:r>
            <a:endParaRPr lang="en-US" sz="1680" dirty="0"/>
          </a:p>
        </p:txBody>
      </p:sp>
      <p:sp>
        <p:nvSpPr>
          <p:cNvPr id="310" name="Shape 308"/>
          <p:cNvSpPr/>
          <p:nvPr/>
        </p:nvSpPr>
        <p:spPr>
          <a:xfrm>
            <a:off x="2235708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1" name="Shape 309"/>
          <p:cNvSpPr/>
          <p:nvPr/>
        </p:nvSpPr>
        <p:spPr>
          <a:xfrm>
            <a:off x="6094476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2" name="Shape 310"/>
          <p:cNvSpPr/>
          <p:nvPr/>
        </p:nvSpPr>
        <p:spPr>
          <a:xfrm>
            <a:off x="9953244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3" name="Shape 311"/>
          <p:cNvSpPr/>
          <p:nvPr/>
        </p:nvSpPr>
        <p:spPr>
          <a:xfrm>
            <a:off x="2240280" y="5577840"/>
            <a:ext cx="7717536" cy="914"/>
          </a:xfrm>
          <a:prstGeom prst="line">
            <a:avLst/>
          </a:prstGeom>
          <a:noFill/>
          <a:ln w="13970">
            <a:solidFill>
              <a:srgbClr val="2296B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099048" y="5577840"/>
            <a:ext cx="914" cy="173736"/>
          </a:xfrm>
          <a:prstGeom prst="line">
            <a:avLst/>
          </a:prstGeom>
          <a:noFill/>
          <a:ln w="1905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5" name="Shape 313"/>
          <p:cNvSpPr/>
          <p:nvPr/>
        </p:nvSpPr>
        <p:spPr>
          <a:xfrm>
            <a:off x="1901952" y="5788152"/>
            <a:ext cx="8385048" cy="46634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316" name="支撑自主智能电磁建模与太赫兹器件高效设计"/>
          <p:cNvSpPr/>
          <p:nvPr/>
        </p:nvSpPr>
        <p:spPr>
          <a:xfrm>
            <a:off x="2084832" y="5870448"/>
            <a:ext cx="8019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支撑自主智能电磁建模与太赫兹器件高效设计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2 研究目标实现面临的困难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 研究目标实现面临的困难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二、研究目标；三、研究内容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资料依据：二、研究目标；三、研究内容</a:t>
            </a:r>
            <a:endParaRPr lang="en-US" sz="850" dirty="0"/>
          </a:p>
        </p:txBody>
      </p:sp>
      <p:sp>
        <p:nvSpPr>
          <p:cNvPr id="7" name="5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从目标到可用模型，需要打通三个关键接口"/>
          <p:cNvSpPr/>
          <p:nvPr/>
        </p:nvSpPr>
        <p:spPr>
          <a:xfrm>
            <a:off x="502920" y="96012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从目标到可用模型，需要打通三个关键接口</a:t>
            </a:r>
            <a:endParaRPr lang="en-US" sz="2200" dirty="0"/>
          </a:p>
        </p:txBody>
      </p:sp>
      <p:sp>
        <p:nvSpPr>
          <p:cNvPr id="9" name="研究目标"/>
          <p:cNvSpPr/>
          <p:nvPr/>
        </p:nvSpPr>
        <p:spPr>
          <a:xfrm>
            <a:off x="448056" y="149961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研究目标</a:t>
            </a:r>
            <a:endParaRPr lang="en-US" sz="1600" dirty="0"/>
          </a:p>
        </p:txBody>
      </p:sp>
      <p:sp>
        <p:nvSpPr>
          <p:cNvPr id="10" name="实现难点"/>
          <p:cNvSpPr/>
          <p:nvPr/>
        </p:nvSpPr>
        <p:spPr>
          <a:xfrm>
            <a:off x="2999232" y="149961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实现难点</a:t>
            </a:r>
            <a:endParaRPr lang="en-US" sz="1600" dirty="0"/>
          </a:p>
        </p:txBody>
      </p:sp>
      <p:sp>
        <p:nvSpPr>
          <p:cNvPr id="11" name="后续研究内容入口"/>
          <p:cNvSpPr/>
          <p:nvPr/>
        </p:nvSpPr>
        <p:spPr>
          <a:xfrm>
            <a:off x="9381744" y="149961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后续研究内容入口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2039112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4" name="高保真 几何输入"/>
          <p:cNvSpPr/>
          <p:nvPr/>
        </p:nvSpPr>
        <p:spPr>
          <a:xfrm>
            <a:off x="603504" y="220370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几何输入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578608" y="2523744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6" name="真实物理边界提取与统一编码"/>
          <p:cNvSpPr/>
          <p:nvPr/>
        </p:nvSpPr>
        <p:spPr>
          <a:xfrm>
            <a:off x="2980944" y="2029968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真实物理边界提取与统一编码</a:t>
            </a:r>
            <a:endParaRPr lang="en-US" sz="1950" dirty="0"/>
          </a:p>
        </p:txBody>
      </p:sp>
      <p:sp>
        <p:nvSpPr>
          <p:cNvPr id="17" name="区分真实棱边 / 角点与剖分辅助要素 统一多维测度、方向与亚网格位置信息"/>
          <p:cNvSpPr/>
          <p:nvPr/>
        </p:nvSpPr>
        <p:spPr>
          <a:xfrm>
            <a:off x="2980944" y="2478024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区分真实棱边 / 角点与剖分辅助要素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统一多维测度、方向与亚网格位置信息</a:t>
            </a:r>
            <a:endParaRPr lang="en-US" sz="1740" dirty="0"/>
          </a:p>
        </p:txBody>
      </p:sp>
      <p:sp>
        <p:nvSpPr>
          <p:cNvPr id="18" name="Shape 16"/>
          <p:cNvSpPr/>
          <p:nvPr/>
        </p:nvSpPr>
        <p:spPr>
          <a:xfrm>
            <a:off x="8933688" y="2523744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90304" y="2075688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20" name="研究内容一 精细边界表征"/>
          <p:cNvSpPr/>
          <p:nvPr/>
        </p:nvSpPr>
        <p:spPr>
          <a:xfrm>
            <a:off x="9409176" y="2194560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研究内容一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精细边界表征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393192" y="3273552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392424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3" name="快速准确 场预测"/>
          <p:cNvSpPr/>
          <p:nvPr/>
        </p:nvSpPr>
        <p:spPr>
          <a:xfrm>
            <a:off x="603504" y="35570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快速准确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场预测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578608" y="3877056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5" name="局部几何、求解效率与物理约束的协同"/>
          <p:cNvSpPr/>
          <p:nvPr/>
        </p:nvSpPr>
        <p:spPr>
          <a:xfrm>
            <a:off x="2980944" y="3383280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局部几何、求解效率与物理约束的协同</a:t>
            </a:r>
            <a:endParaRPr lang="en-US" sz="1950" dirty="0"/>
          </a:p>
        </p:txBody>
      </p:sp>
      <p:sp>
        <p:nvSpPr>
          <p:cNvPr id="26" name="边界朝向变化引起局部场突变 变系数计算、FFT效率与物理约束需兼顾"/>
          <p:cNvSpPr/>
          <p:nvPr/>
        </p:nvSpPr>
        <p:spPr>
          <a:xfrm>
            <a:off x="2980944" y="3831336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边界朝向变化引起局部场突变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变系数计算、FFT效率与物理约束需兼顾</a:t>
            </a:r>
            <a:endParaRPr lang="en-US" sz="1740" dirty="0"/>
          </a:p>
        </p:txBody>
      </p:sp>
      <p:sp>
        <p:nvSpPr>
          <p:cNvPr id="27" name="Shape 25"/>
          <p:cNvSpPr/>
          <p:nvPr/>
        </p:nvSpPr>
        <p:spPr>
          <a:xfrm>
            <a:off x="8933688" y="3877056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90304" y="3429000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29" name="研究内容二 空间变系数FNO"/>
          <p:cNvSpPr/>
          <p:nvPr/>
        </p:nvSpPr>
        <p:spPr>
          <a:xfrm>
            <a:off x="9409176" y="3547872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研究内容二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空间变系数FNO</a:t>
            </a:r>
            <a:endParaRPr lang="en-US" sz="1850" dirty="0"/>
          </a:p>
        </p:txBody>
      </p:sp>
      <p:sp>
        <p:nvSpPr>
          <p:cNvPr id="30" name="Shape 28"/>
          <p:cNvSpPr/>
          <p:nvPr/>
        </p:nvSpPr>
        <p:spPr>
          <a:xfrm>
            <a:off x="393192" y="4626864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" y="4745736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32" name="新任务 快速适配"/>
          <p:cNvSpPr/>
          <p:nvPr/>
        </p:nvSpPr>
        <p:spPr>
          <a:xfrm>
            <a:off x="603504" y="49103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新任务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快速适配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2578608" y="5230368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4" name="少样本下的任务对齐与物理一致迁移"/>
          <p:cNvSpPr/>
          <p:nvPr/>
        </p:nvSpPr>
        <p:spPr>
          <a:xfrm>
            <a:off x="2980944" y="4736592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少样本下的任务对齐与物理一致迁移</a:t>
            </a:r>
            <a:endParaRPr lang="en-US" sz="1950" dirty="0"/>
          </a:p>
        </p:txBody>
      </p:sp>
      <p:sp>
        <p:nvSpPr>
          <p:cNvPr id="35" name="频率伸缩受色散、电导率及耦合变化影响 跨拓扑难对齐，增强样本需保持物理一致"/>
          <p:cNvSpPr/>
          <p:nvPr/>
        </p:nvSpPr>
        <p:spPr>
          <a:xfrm>
            <a:off x="2980944" y="5184648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频率伸缩受色散、电导率及耦合变化影响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跨拓扑难对齐，增强样本需保持物理一致</a:t>
            </a:r>
            <a:endParaRPr lang="en-US" sz="1740" dirty="0"/>
          </a:p>
        </p:txBody>
      </p:sp>
      <p:sp>
        <p:nvSpPr>
          <p:cNvPr id="36" name="Shape 34"/>
          <p:cNvSpPr/>
          <p:nvPr/>
        </p:nvSpPr>
        <p:spPr>
          <a:xfrm>
            <a:off x="8933688" y="5230368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90304" y="4782312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38" name="研究内容三 迁移与数据增强"/>
          <p:cNvSpPr/>
          <p:nvPr/>
        </p:nvSpPr>
        <p:spPr>
          <a:xfrm>
            <a:off x="9409176" y="4901184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研究内容三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迁移与数据增强</a:t>
            </a:r>
            <a:endParaRPr lang="en-US" sz="1850" dirty="0"/>
          </a:p>
        </p:txBody>
      </p:sp>
      <p:sp>
        <p:nvSpPr>
          <p:cNvPr id="39" name="Shape 37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0" name="下文分别围绕三个关键接口，展开研究内容与解决思路。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下文分别围绕三个关键接口，展开研究内容与解决思路。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广州大学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太赫兹器件神经算子电磁建模：研究背景、现状与目标</dc:title>
  <dc:subject>按用户指定范围制作的五页开篇；不含后续研究内容页</dc:subject>
  <dc:creator>Research Presentation</dc:creator>
  <cp:lastModifiedBy>Research Presentation</cp:lastModifiedBy>
  <cp:revision>1</cp:revision>
  <dcterms:created xsi:type="dcterms:W3CDTF">2026-10-23T02:54:02Z</dcterms:created>
  <dcterms:modified xsi:type="dcterms:W3CDTF">2026-10-23T02:54:02Z</dcterms:modified>
</cp:coreProperties>
</file>